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6256000" cy="9144000"/>
  <p:notesSz cx="9144000" cy="16256000"/>
  <p:embeddedFontLst>
    <p:embeddedFont>
      <p:font typeface="Liter" panose="020B0604020202020204" charset="0"/>
      <p:regular r:id="rId13"/>
    </p:embeddedFont>
    <p:embeddedFont>
      <p:font typeface="Quattrocento Sans" panose="020B0502050000020003"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5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271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presenting our graduation project — an AI-powered system that revolutionizes how electronics engineers design circuits. Instead of spending hours on manual schematic design, our tool generates professional circuit blueprints from simple natural language descriptions.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Electronics design has a steep learning curve. Beginners spend weeks learning just to build a simple voltage regulator. Even experienced engineers waste hours cross-referencing datasheets. One wrong resistor value can destroy an entire prototype. The process is fundamentally broken — it's time-consuming, complex, and error-prone.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elegantly simple. The user describes what they need in plain English — for example, "I need a 12V to 5V voltage regulator using LM7805 with an LED indicator." The AI understands the request, selects the right components, explains how to connect them, and generates a professional schematic automatically. No manual drawing. No datasheet hunting. Just describe and receive.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system architecture. The user interacts through a Streamlit web interface. Their natural language input is processed by our prompt engineering layer, which structures the request for the Gemini API. The AI returns component data and Schemdraw code. Python processes this, the Schemdraw engine renders the diagram, and the final schematic appears seamlessly in the user's browser.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entirely modern and open-source friendly. Python and Streamlit handle the frontend and backend. Google's Gemini API provides the AI reasoning power. Schemdraw generates the actual circuit diagrams. We support multiple output formats — SVG, TikZ, even Netlist. Everything is version-controlled on GitHub and developed in VS Code.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actual workflow. The user types their circuit idea into the Streamlit interface. Our prompt engineering layer structures this for the Gemini API. The AI analyzes the request, determines all needed components — resistors, capacitors, the LM7805 regulator, LED — calculates values, explains connections, and generates Schemdraw code. Python runs this code, Schemdraw renders the diagram, and the user gets a complete explanation, component list, and professional schematic in seconds.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user sees. On the left, a clean Streamlit interface — just a text box and a generate button. The user types their circuit description. On the right, within seconds, they receive a professional schematic like this LM7805 regulator with LED indicator. Below, a complete component list with values and purposes. No manual drawing. No calculator needed. The AI handles everything.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the beginning. Our roadmap extends from schematic generation to full PCB auto-design. We'll add Proteus and Altium export for professional workflows. A simulation engine will let users test circuits virtually. Voice commands will make it even more accessible. Eventually, we envision AI-driven fault detection, automatic Arduino code generation, and IoT integration. The goal is end-to-end electronics design automation.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AI Electronics Blueprint Generator transforms how we approach circuit design. It makes electronics accessible to beginners while dramatically accelerating professional workflows. The AI handles the complexity — component selection, value calculation, wiring instructions, and schematic generation — so engineers can focus on innovation. Remember: Design Electronics with the Power of Artificial Intelligence. Thank you, and I'm happy to take any questions.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13433669" y="381000"/>
            <a:ext cx="2921000" cy="2921000"/>
          </a:xfrm>
          <a:prstGeom prst="ellipse">
            <a:avLst/>
          </a:prstGeom>
          <a:gradFill flip="none" rotWithShape="1">
            <a:gsLst>
              <a:gs pos="0">
                <a:srgbClr val="2563EB">
                  <a:alpha val="19000"/>
                </a:srgbClr>
              </a:gs>
              <a:gs pos="60000">
                <a:srgbClr val="7C3AED">
                  <a:alpha val="9000"/>
                </a:srgbClr>
              </a:gs>
              <a:gs pos="100000">
                <a:srgbClr val="7C3AED">
                  <a:alpha val="0"/>
                </a:srgbClr>
              </a:gs>
            </a:gsLst>
            <a:path path="circle"/>
          </a:gradFill>
          <a:ln/>
        </p:spPr>
        <p:txBody>
          <a:bodyPr/>
          <a:lstStyle/>
          <a:p>
            <a:endParaRPr lang="en-US"/>
          </a:p>
        </p:txBody>
      </p:sp>
      <p:sp>
        <p:nvSpPr>
          <p:cNvPr id="4" name="Shape 1"/>
          <p:cNvSpPr/>
          <p:nvPr/>
        </p:nvSpPr>
        <p:spPr>
          <a:xfrm>
            <a:off x="254000" y="6096000"/>
            <a:ext cx="2794000" cy="2794000"/>
          </a:xfrm>
          <a:prstGeom prst="ellipse">
            <a:avLst/>
          </a:prstGeom>
          <a:gradFill flip="none" rotWithShape="1">
            <a:gsLst>
              <a:gs pos="0">
                <a:srgbClr val="7C3AED">
                  <a:alpha val="8000"/>
                </a:srgbClr>
              </a:gs>
              <a:gs pos="70000">
                <a:srgbClr val="2563EB">
                  <a:alpha val="3000"/>
                </a:srgbClr>
              </a:gs>
              <a:gs pos="100000">
                <a:srgbClr val="2563EB">
                  <a:alpha val="0"/>
                </a:srgbClr>
              </a:gs>
            </a:gsLst>
            <a:path path="circle"/>
          </a:gradFill>
          <a:ln/>
        </p:spPr>
        <p:txBody>
          <a:bodyPr/>
          <a:lstStyle/>
          <a:p>
            <a:endParaRPr lang="en-US"/>
          </a:p>
        </p:txBody>
      </p:sp>
      <p:sp>
        <p:nvSpPr>
          <p:cNvPr id="5" name="Shape 2"/>
          <p:cNvSpPr/>
          <p:nvPr/>
        </p:nvSpPr>
        <p:spPr>
          <a:xfrm>
            <a:off x="7823200" y="3149600"/>
            <a:ext cx="609600" cy="508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6" name="Text 3"/>
          <p:cNvSpPr/>
          <p:nvPr/>
        </p:nvSpPr>
        <p:spPr>
          <a:xfrm>
            <a:off x="1143000" y="3429000"/>
            <a:ext cx="13970000" cy="762000"/>
          </a:xfrm>
          <a:prstGeom prst="rect">
            <a:avLst/>
          </a:prstGeom>
          <a:noFill/>
          <a:ln/>
        </p:spPr>
        <p:txBody>
          <a:bodyPr wrap="none" lIns="0" tIns="0" rIns="0" bIns="0" rtlCol="0" anchor="ctr"/>
          <a:lstStyle/>
          <a:p>
            <a:pPr algn="ctr">
              <a:lnSpc>
                <a:spcPct val="120000"/>
              </a:lnSpc>
            </a:pPr>
            <a:r>
              <a:rPr lang="en-US" sz="4400" kern="0" spc="300" dirty="0">
                <a:solidFill>
                  <a:srgbClr val="1E293B"/>
                </a:solidFill>
                <a:latin typeface="Liter" pitchFamily="34" charset="0"/>
                <a:ea typeface="Liter" pitchFamily="34" charset="-122"/>
                <a:cs typeface="Liter" pitchFamily="34" charset="-120"/>
              </a:rPr>
              <a:t>AI ELECTRONICS BLUEPRINT GENERATOR</a:t>
            </a:r>
            <a:endParaRPr lang="en-US" sz="4400" dirty="0"/>
          </a:p>
        </p:txBody>
      </p:sp>
      <p:sp>
        <p:nvSpPr>
          <p:cNvPr id="7" name="Shape 4"/>
          <p:cNvSpPr/>
          <p:nvPr/>
        </p:nvSpPr>
        <p:spPr>
          <a:xfrm>
            <a:off x="5588000" y="4381500"/>
            <a:ext cx="5080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8" name="Text 5"/>
          <p:cNvSpPr/>
          <p:nvPr/>
        </p:nvSpPr>
        <p:spPr>
          <a:xfrm>
            <a:off x="1778000" y="4699000"/>
            <a:ext cx="12700000" cy="444500"/>
          </a:xfrm>
          <a:prstGeom prst="rect">
            <a:avLst/>
          </a:prstGeom>
          <a:noFill/>
          <a:ln/>
        </p:spPr>
        <p:txBody>
          <a:bodyPr wrap="none" lIns="0" tIns="0" rIns="0" bIns="0" rtlCol="0" anchor="ctr"/>
          <a:lstStyle/>
          <a:p>
            <a:pPr algn="ctr">
              <a:lnSpc>
                <a:spcPct val="140000"/>
              </a:lnSpc>
            </a:pPr>
            <a:r>
              <a:rPr lang="en-US" sz="2000" dirty="0">
                <a:solidFill>
                  <a:srgbClr val="64748B"/>
                </a:solidFill>
                <a:latin typeface="Quattrocento Sans" pitchFamily="34" charset="0"/>
                <a:ea typeface="Quattrocento Sans" pitchFamily="34" charset="-122"/>
                <a:cs typeface="Quattrocento Sans" pitchFamily="34" charset="-120"/>
              </a:rPr>
              <a:t>Generate Electronic Circuit Designs, Component Analysis, and 2D Schematics using Generative AI</a:t>
            </a:r>
            <a:endParaRPr lang="en-US" sz="2000" dirty="0"/>
          </a:p>
        </p:txBody>
      </p:sp>
      <p:sp>
        <p:nvSpPr>
          <p:cNvPr id="9" name="Shape 6"/>
          <p:cNvSpPr/>
          <p:nvPr/>
        </p:nvSpPr>
        <p:spPr>
          <a:xfrm>
            <a:off x="762000" y="8128000"/>
            <a:ext cx="14732000" cy="12700"/>
          </a:xfrm>
          <a:prstGeom prst="rect">
            <a:avLst/>
          </a:prstGeom>
          <a:solidFill>
            <a:srgbClr val="E2E8F0"/>
          </a:solidFill>
          <a:ln/>
        </p:spPr>
        <p:txBody>
          <a:bodyPr/>
          <a:lstStyle/>
          <a:p>
            <a:endParaRPr lang="en-US"/>
          </a:p>
        </p:txBody>
      </p:sp>
      <p:sp>
        <p:nvSpPr>
          <p:cNvPr id="12" name="Shape 9"/>
          <p:cNvSpPr/>
          <p:nvPr/>
        </p:nvSpPr>
        <p:spPr>
          <a:xfrm>
            <a:off x="13868400" y="1003300"/>
            <a:ext cx="2051538" cy="1676400"/>
          </a:xfrm>
          <a:custGeom>
            <a:avLst/>
            <a:gdLst/>
            <a:ahLst/>
            <a:cxnLst/>
            <a:rect l="l" t="t" r="r" b="b"/>
            <a:pathLst>
              <a:path w="355600" h="355600">
                <a:moveTo>
                  <a:pt x="83344" y="38894"/>
                </a:moveTo>
                <a:cubicBezTo>
                  <a:pt x="83344" y="17433"/>
                  <a:pt x="100776" y="0"/>
                  <a:pt x="122238" y="0"/>
                </a:cubicBezTo>
                <a:lnTo>
                  <a:pt x="138906" y="0"/>
                </a:lnTo>
                <a:cubicBezTo>
                  <a:pt x="151199" y="0"/>
                  <a:pt x="161131" y="9932"/>
                  <a:pt x="161131" y="22225"/>
                </a:cubicBezTo>
                <a:lnTo>
                  <a:pt x="161131" y="333375"/>
                </a:lnTo>
                <a:cubicBezTo>
                  <a:pt x="161131" y="345668"/>
                  <a:pt x="151199" y="355600"/>
                  <a:pt x="138906" y="355600"/>
                </a:cubicBezTo>
                <a:lnTo>
                  <a:pt x="116681" y="355600"/>
                </a:lnTo>
                <a:cubicBezTo>
                  <a:pt x="95984" y="355600"/>
                  <a:pt x="78551" y="341432"/>
                  <a:pt x="73620" y="322263"/>
                </a:cubicBezTo>
                <a:cubicBezTo>
                  <a:pt x="73134" y="322263"/>
                  <a:pt x="72717" y="322263"/>
                  <a:pt x="72231" y="322263"/>
                </a:cubicBezTo>
                <a:cubicBezTo>
                  <a:pt x="41533" y="322263"/>
                  <a:pt x="16669" y="297398"/>
                  <a:pt x="16669" y="266700"/>
                </a:cubicBezTo>
                <a:cubicBezTo>
                  <a:pt x="16669" y="254198"/>
                  <a:pt x="20836" y="242669"/>
                  <a:pt x="27781" y="233363"/>
                </a:cubicBezTo>
                <a:cubicBezTo>
                  <a:pt x="14307" y="223222"/>
                  <a:pt x="5556" y="207109"/>
                  <a:pt x="5556" y="188913"/>
                </a:cubicBezTo>
                <a:cubicBezTo>
                  <a:pt x="5556" y="167451"/>
                  <a:pt x="17780" y="148769"/>
                  <a:pt x="35560" y="139531"/>
                </a:cubicBezTo>
                <a:cubicBezTo>
                  <a:pt x="30629" y="131197"/>
                  <a:pt x="27781" y="121474"/>
                  <a:pt x="27781" y="111125"/>
                </a:cubicBezTo>
                <a:cubicBezTo>
                  <a:pt x="27781" y="80427"/>
                  <a:pt x="52645" y="55563"/>
                  <a:pt x="83344" y="55563"/>
                </a:cubicBezTo>
                <a:lnTo>
                  <a:pt x="83344" y="38894"/>
                </a:lnTo>
                <a:close/>
                <a:moveTo>
                  <a:pt x="272256" y="38894"/>
                </a:moveTo>
                <a:lnTo>
                  <a:pt x="272256" y="55563"/>
                </a:lnTo>
                <a:cubicBezTo>
                  <a:pt x="302955" y="55563"/>
                  <a:pt x="327819" y="80427"/>
                  <a:pt x="327819" y="111125"/>
                </a:cubicBezTo>
                <a:cubicBezTo>
                  <a:pt x="327819" y="121543"/>
                  <a:pt x="324971" y="131266"/>
                  <a:pt x="320040" y="139531"/>
                </a:cubicBezTo>
                <a:cubicBezTo>
                  <a:pt x="337889" y="148769"/>
                  <a:pt x="350044" y="167382"/>
                  <a:pt x="350044" y="188913"/>
                </a:cubicBezTo>
                <a:cubicBezTo>
                  <a:pt x="350044" y="207109"/>
                  <a:pt x="341293" y="223222"/>
                  <a:pt x="327819" y="233363"/>
                </a:cubicBezTo>
                <a:cubicBezTo>
                  <a:pt x="334764" y="242669"/>
                  <a:pt x="338931" y="254198"/>
                  <a:pt x="338931" y="266700"/>
                </a:cubicBezTo>
                <a:cubicBezTo>
                  <a:pt x="338931" y="297398"/>
                  <a:pt x="314067" y="322263"/>
                  <a:pt x="283369" y="322263"/>
                </a:cubicBezTo>
                <a:cubicBezTo>
                  <a:pt x="282883" y="322263"/>
                  <a:pt x="282466" y="322263"/>
                  <a:pt x="281980" y="322263"/>
                </a:cubicBezTo>
                <a:cubicBezTo>
                  <a:pt x="277049" y="341432"/>
                  <a:pt x="259616" y="355600"/>
                  <a:pt x="238919" y="355600"/>
                </a:cubicBezTo>
                <a:lnTo>
                  <a:pt x="216694" y="355600"/>
                </a:lnTo>
                <a:cubicBezTo>
                  <a:pt x="204401" y="355600"/>
                  <a:pt x="194469" y="345668"/>
                  <a:pt x="194469" y="333375"/>
                </a:cubicBezTo>
                <a:lnTo>
                  <a:pt x="194469" y="22225"/>
                </a:lnTo>
                <a:cubicBezTo>
                  <a:pt x="194469" y="9932"/>
                  <a:pt x="204401" y="0"/>
                  <a:pt x="216694" y="0"/>
                </a:cubicBezTo>
                <a:lnTo>
                  <a:pt x="233363" y="0"/>
                </a:lnTo>
                <a:cubicBezTo>
                  <a:pt x="254824" y="0"/>
                  <a:pt x="272256" y="17433"/>
                  <a:pt x="272256" y="38894"/>
                </a:cubicBezTo>
                <a:close/>
              </a:path>
            </a:pathLst>
          </a:custGeom>
          <a:solidFill>
            <a:srgbClr val="7C3AED">
              <a:alpha val="25000"/>
            </a:srgbClr>
          </a:solidFill>
          <a:ln/>
        </p:spPr>
        <p:txBody>
          <a:bodyPr/>
          <a:lstStyle/>
          <a:p>
            <a:endParaRPr lang="en-US"/>
          </a:p>
        </p:txBody>
      </p:sp>
      <p:pic>
        <p:nvPicPr>
          <p:cNvPr id="13" name="Picture 12">
            <a:extLst>
              <a:ext uri="{FF2B5EF4-FFF2-40B4-BE49-F238E27FC236}">
                <a16:creationId xmlns:a16="http://schemas.microsoft.com/office/drawing/2014/main" id="{40140534-30B9-66FA-7271-0940F0904441}"/>
              </a:ext>
            </a:extLst>
          </p:cNvPr>
          <p:cNvPicPr>
            <a:picLocks noChangeAspect="1"/>
          </p:cNvPicPr>
          <p:nvPr/>
        </p:nvPicPr>
        <p:blipFill>
          <a:blip r:embed="rId3"/>
          <a:srcRect t="31658" b="32839"/>
          <a:stretch>
            <a:fillRect/>
          </a:stretch>
        </p:blipFill>
        <p:spPr>
          <a:xfrm>
            <a:off x="190500" y="376115"/>
            <a:ext cx="4127500" cy="1465385"/>
          </a:xfrm>
          <a:prstGeom prst="rect">
            <a:avLst/>
          </a:prstGeom>
        </p:spPr>
      </p:pic>
      <p:sp>
        <p:nvSpPr>
          <p:cNvPr id="14" name="TextBox 13">
            <a:extLst>
              <a:ext uri="{FF2B5EF4-FFF2-40B4-BE49-F238E27FC236}">
                <a16:creationId xmlns:a16="http://schemas.microsoft.com/office/drawing/2014/main" id="{D1181ABD-356D-9652-743D-4677851219F1}"/>
              </a:ext>
            </a:extLst>
          </p:cNvPr>
          <p:cNvSpPr txBox="1"/>
          <p:nvPr/>
        </p:nvSpPr>
        <p:spPr>
          <a:xfrm>
            <a:off x="762000" y="5851284"/>
            <a:ext cx="4334840" cy="1938992"/>
          </a:xfrm>
          <a:prstGeom prst="rect">
            <a:avLst/>
          </a:prstGeom>
          <a:noFill/>
        </p:spPr>
        <p:txBody>
          <a:bodyPr wrap="none" rtlCol="0">
            <a:spAutoFit/>
          </a:bodyPr>
          <a:lstStyle/>
          <a:p>
            <a:pPr algn="ctr"/>
            <a:r>
              <a:rPr lang="en-US" sz="4000" dirty="0"/>
              <a:t>Instructor By</a:t>
            </a:r>
            <a:br>
              <a:rPr lang="ar-EG" sz="4000" dirty="0"/>
            </a:br>
            <a:r>
              <a:rPr lang="en-US" sz="4000" dirty="0"/>
              <a:t>Eng</a:t>
            </a:r>
            <a:br>
              <a:rPr lang="en-US" sz="4000" dirty="0"/>
            </a:br>
            <a:r>
              <a:rPr lang="en-US" sz="4000" dirty="0"/>
              <a:t>Nourhan </a:t>
            </a:r>
            <a:r>
              <a:rPr lang="en-US" sz="4000" dirty="0" err="1"/>
              <a:t>Moumoud</a:t>
            </a:r>
            <a:endParaRPr lang="en-US" sz="4000" dirty="0"/>
          </a:p>
        </p:txBody>
      </p:sp>
      <p:sp>
        <p:nvSpPr>
          <p:cNvPr id="15" name="TextBox 14">
            <a:extLst>
              <a:ext uri="{FF2B5EF4-FFF2-40B4-BE49-F238E27FC236}">
                <a16:creationId xmlns:a16="http://schemas.microsoft.com/office/drawing/2014/main" id="{162F5766-D7AC-1C7C-003D-67E490B79EF9}"/>
              </a:ext>
            </a:extLst>
          </p:cNvPr>
          <p:cNvSpPr txBox="1"/>
          <p:nvPr/>
        </p:nvSpPr>
        <p:spPr>
          <a:xfrm>
            <a:off x="9974431" y="5566708"/>
            <a:ext cx="5481821" cy="1938992"/>
          </a:xfrm>
          <a:prstGeom prst="rect">
            <a:avLst/>
          </a:prstGeom>
          <a:noFill/>
        </p:spPr>
        <p:txBody>
          <a:bodyPr wrap="none" rtlCol="0">
            <a:spAutoFit/>
          </a:bodyPr>
          <a:lstStyle/>
          <a:p>
            <a:pPr algn="ctr"/>
            <a:r>
              <a:rPr lang="en-US" sz="4000" dirty="0"/>
              <a:t>Team By</a:t>
            </a:r>
            <a:br>
              <a:rPr lang="en-US" sz="4000" dirty="0"/>
            </a:br>
            <a:r>
              <a:rPr lang="en-US" sz="4000" dirty="0"/>
              <a:t>George Micheal Eskander</a:t>
            </a:r>
            <a:endParaRPr lang="ar-EG" sz="4000" dirty="0"/>
          </a:p>
          <a:p>
            <a:pPr algn="ctr"/>
            <a:r>
              <a:rPr lang="en-US" sz="4000" dirty="0"/>
              <a:t>Mark Medhat Michael</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The Problem</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889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Why Electronics Design Remains a Barrier</a:t>
            </a:r>
            <a:endParaRPr lang="en-US" sz="1800" dirty="0"/>
          </a:p>
        </p:txBody>
      </p:sp>
      <p:sp>
        <p:nvSpPr>
          <p:cNvPr id="6" name="Shape 3"/>
          <p:cNvSpPr/>
          <p:nvPr/>
        </p:nvSpPr>
        <p:spPr>
          <a:xfrm>
            <a:off x="762000" y="1968500"/>
            <a:ext cx="7175500" cy="2476500"/>
          </a:xfrm>
          <a:prstGeom prst="roundRect">
            <a:avLst>
              <a:gd name="adj" fmla="val 8000"/>
            </a:avLst>
          </a:prstGeom>
          <a:solidFill>
            <a:srgbClr val="F8FAFC"/>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7" name="Shape 4"/>
          <p:cNvSpPr/>
          <p:nvPr/>
        </p:nvSpPr>
        <p:spPr>
          <a:xfrm>
            <a:off x="1079500" y="2286000"/>
            <a:ext cx="457200" cy="457200"/>
          </a:xfrm>
          <a:custGeom>
            <a:avLst/>
            <a:gdLst/>
            <a:ahLst/>
            <a:cxnLst/>
            <a:rect l="l" t="t" r="r" b="b"/>
            <a:pathLst>
              <a:path w="457200" h="457200">
                <a:moveTo>
                  <a:pt x="38100" y="174843"/>
                </a:moveTo>
                <a:lnTo>
                  <a:pt x="204152" y="251728"/>
                </a:lnTo>
                <a:cubicBezTo>
                  <a:pt x="211931" y="255300"/>
                  <a:pt x="220186" y="257175"/>
                  <a:pt x="228600" y="257175"/>
                </a:cubicBezTo>
                <a:cubicBezTo>
                  <a:pt x="237014" y="257175"/>
                  <a:pt x="245269" y="255300"/>
                  <a:pt x="253048" y="251728"/>
                </a:cubicBezTo>
                <a:lnTo>
                  <a:pt x="445453" y="162610"/>
                </a:lnTo>
                <a:cubicBezTo>
                  <a:pt x="452596" y="159306"/>
                  <a:pt x="457200" y="151537"/>
                  <a:pt x="457200" y="142875"/>
                </a:cubicBezTo>
                <a:cubicBezTo>
                  <a:pt x="457200" y="134213"/>
                  <a:pt x="452596" y="126444"/>
                  <a:pt x="445453" y="123140"/>
                </a:cubicBezTo>
                <a:lnTo>
                  <a:pt x="253048" y="34022"/>
                </a:lnTo>
                <a:cubicBezTo>
                  <a:pt x="245269" y="30450"/>
                  <a:pt x="237014" y="28575"/>
                  <a:pt x="228600" y="28575"/>
                </a:cubicBezTo>
                <a:cubicBezTo>
                  <a:pt x="220186" y="28575"/>
                  <a:pt x="211931" y="30450"/>
                  <a:pt x="204152" y="34022"/>
                </a:cubicBezTo>
                <a:lnTo>
                  <a:pt x="11748" y="123140"/>
                </a:lnTo>
                <a:cubicBezTo>
                  <a:pt x="4604" y="126444"/>
                  <a:pt x="0" y="134213"/>
                  <a:pt x="0" y="142875"/>
                </a:cubicBezTo>
                <a:lnTo>
                  <a:pt x="0" y="407194"/>
                </a:lnTo>
                <a:cubicBezTo>
                  <a:pt x="0" y="419070"/>
                  <a:pt x="8493" y="428625"/>
                  <a:pt x="19050" y="428625"/>
                </a:cubicBezTo>
                <a:cubicBezTo>
                  <a:pt x="29607" y="428625"/>
                  <a:pt x="38100" y="419070"/>
                  <a:pt x="38100" y="407194"/>
                </a:cubicBezTo>
                <a:lnTo>
                  <a:pt x="38100" y="174843"/>
                </a:lnTo>
                <a:close/>
                <a:moveTo>
                  <a:pt x="76200" y="238869"/>
                </a:moveTo>
                <a:lnTo>
                  <a:pt x="76200" y="342900"/>
                </a:lnTo>
                <a:cubicBezTo>
                  <a:pt x="76200" y="390227"/>
                  <a:pt x="144463" y="428625"/>
                  <a:pt x="228600" y="428625"/>
                </a:cubicBezTo>
                <a:cubicBezTo>
                  <a:pt x="312738" y="428625"/>
                  <a:pt x="381000" y="390227"/>
                  <a:pt x="381000" y="342900"/>
                </a:cubicBezTo>
                <a:lnTo>
                  <a:pt x="381000" y="238780"/>
                </a:lnTo>
                <a:lnTo>
                  <a:pt x="267573" y="291376"/>
                </a:lnTo>
                <a:cubicBezTo>
                  <a:pt x="255191" y="297091"/>
                  <a:pt x="242014" y="300037"/>
                  <a:pt x="228600" y="300037"/>
                </a:cubicBezTo>
                <a:cubicBezTo>
                  <a:pt x="215186" y="300037"/>
                  <a:pt x="202009" y="297091"/>
                  <a:pt x="189627" y="291376"/>
                </a:cubicBezTo>
                <a:lnTo>
                  <a:pt x="76200" y="238780"/>
                </a:lnTo>
                <a:close/>
              </a:path>
            </a:pathLst>
          </a:custGeom>
          <a:solidFill>
            <a:srgbClr val="2563EB"/>
          </a:solidFill>
          <a:ln/>
        </p:spPr>
        <p:txBody>
          <a:bodyPr/>
          <a:lstStyle/>
          <a:p>
            <a:endParaRPr lang="en-US"/>
          </a:p>
        </p:txBody>
      </p:sp>
      <p:sp>
        <p:nvSpPr>
          <p:cNvPr id="8" name="Text 5"/>
          <p:cNvSpPr/>
          <p:nvPr/>
        </p:nvSpPr>
        <p:spPr>
          <a:xfrm>
            <a:off x="1714500" y="2260600"/>
            <a:ext cx="5905500" cy="3175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Steep Learning Curve</a:t>
            </a:r>
            <a:endParaRPr lang="en-US" sz="1600" dirty="0"/>
          </a:p>
        </p:txBody>
      </p:sp>
      <p:sp>
        <p:nvSpPr>
          <p:cNvPr id="9" name="Text 6"/>
          <p:cNvSpPr/>
          <p:nvPr/>
        </p:nvSpPr>
        <p:spPr>
          <a:xfrm>
            <a:off x="1714500" y="2641600"/>
            <a:ext cx="5905500" cy="1587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Beginners struggle with electronics fundamentals and lack guided learning paths for practical circuit design.</a:t>
            </a:r>
            <a:endParaRPr lang="en-US" sz="1400" dirty="0"/>
          </a:p>
        </p:txBody>
      </p:sp>
      <p:sp>
        <p:nvSpPr>
          <p:cNvPr id="10" name="Shape 7"/>
          <p:cNvSpPr/>
          <p:nvPr/>
        </p:nvSpPr>
        <p:spPr>
          <a:xfrm>
            <a:off x="8318500" y="1968500"/>
            <a:ext cx="7175500" cy="2476500"/>
          </a:xfrm>
          <a:prstGeom prst="roundRect">
            <a:avLst>
              <a:gd name="adj" fmla="val 8000"/>
            </a:avLst>
          </a:prstGeom>
          <a:solidFill>
            <a:srgbClr val="F8FAFC"/>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11" name="Shape 8"/>
          <p:cNvSpPr/>
          <p:nvPr/>
        </p:nvSpPr>
        <p:spPr>
          <a:xfrm>
            <a:off x="8636000" y="2286000"/>
            <a:ext cx="457200" cy="457200"/>
          </a:xfrm>
          <a:custGeom>
            <a:avLst/>
            <a:gdLst/>
            <a:ahLst/>
            <a:cxnLst/>
            <a:rect l="l" t="t" r="r" b="b"/>
            <a:pathLst>
              <a:path w="457200" h="457200">
                <a:moveTo>
                  <a:pt x="371475" y="185738"/>
                </a:moveTo>
                <a:cubicBezTo>
                  <a:pt x="371475" y="226725"/>
                  <a:pt x="358170" y="264587"/>
                  <a:pt x="335756" y="295305"/>
                </a:cubicBezTo>
                <a:lnTo>
                  <a:pt x="448806" y="408444"/>
                </a:lnTo>
                <a:cubicBezTo>
                  <a:pt x="459968" y="419606"/>
                  <a:pt x="459968" y="437733"/>
                  <a:pt x="448806" y="448895"/>
                </a:cubicBezTo>
                <a:cubicBezTo>
                  <a:pt x="437644"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7" y="314325"/>
                  <a:pt x="314325" y="256707"/>
                  <a:pt x="314325" y="185738"/>
                </a:cubicBezTo>
                <a:cubicBezTo>
                  <a:pt x="314325" y="114768"/>
                  <a:pt x="256707" y="57150"/>
                  <a:pt x="185738" y="57150"/>
                </a:cubicBezTo>
                <a:cubicBezTo>
                  <a:pt x="114768" y="57150"/>
                  <a:pt x="57150" y="114768"/>
                  <a:pt x="57150" y="185737"/>
                </a:cubicBezTo>
                <a:cubicBezTo>
                  <a:pt x="57150" y="256707"/>
                  <a:pt x="114768" y="314325"/>
                  <a:pt x="185737" y="314325"/>
                </a:cubicBezTo>
                <a:close/>
              </a:path>
            </a:pathLst>
          </a:custGeom>
          <a:solidFill>
            <a:srgbClr val="7C3AED"/>
          </a:solidFill>
          <a:ln/>
        </p:spPr>
        <p:txBody>
          <a:bodyPr/>
          <a:lstStyle/>
          <a:p>
            <a:endParaRPr lang="en-US"/>
          </a:p>
        </p:txBody>
      </p:sp>
      <p:sp>
        <p:nvSpPr>
          <p:cNvPr id="12" name="Text 9"/>
          <p:cNvSpPr/>
          <p:nvPr/>
        </p:nvSpPr>
        <p:spPr>
          <a:xfrm>
            <a:off x="9271000" y="2260600"/>
            <a:ext cx="5905500" cy="3175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Time-Consuming Research</a:t>
            </a:r>
            <a:endParaRPr lang="en-US" sz="1600" dirty="0"/>
          </a:p>
        </p:txBody>
      </p:sp>
      <p:sp>
        <p:nvSpPr>
          <p:cNvPr id="13" name="Text 10"/>
          <p:cNvSpPr/>
          <p:nvPr/>
        </p:nvSpPr>
        <p:spPr>
          <a:xfrm>
            <a:off x="9271000" y="2641600"/>
            <a:ext cx="5905500" cy="1587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Selecting components takes extensive research time across multiple datasheets and vendor catalogs.</a:t>
            </a:r>
            <a:endParaRPr lang="en-US" sz="1400" dirty="0"/>
          </a:p>
        </p:txBody>
      </p:sp>
      <p:sp>
        <p:nvSpPr>
          <p:cNvPr id="14" name="Shape 11"/>
          <p:cNvSpPr/>
          <p:nvPr/>
        </p:nvSpPr>
        <p:spPr>
          <a:xfrm>
            <a:off x="762000" y="4762500"/>
            <a:ext cx="7175500" cy="2476500"/>
          </a:xfrm>
          <a:prstGeom prst="roundRect">
            <a:avLst>
              <a:gd name="adj" fmla="val 8000"/>
            </a:avLst>
          </a:prstGeom>
          <a:solidFill>
            <a:srgbClr val="F8FAFC"/>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15" name="Shape 12"/>
          <p:cNvSpPr/>
          <p:nvPr/>
        </p:nvSpPr>
        <p:spPr>
          <a:xfrm>
            <a:off x="1079500" y="5080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142875" y="228600"/>
                </a:moveTo>
                <a:cubicBezTo>
                  <a:pt x="127040" y="228600"/>
                  <a:pt x="114300" y="238155"/>
                  <a:pt x="114300" y="250031"/>
                </a:cubicBezTo>
                <a:cubicBezTo>
                  <a:pt x="114300" y="261908"/>
                  <a:pt x="127040" y="271463"/>
                  <a:pt x="142875" y="271463"/>
                </a:cubicBezTo>
                <a:lnTo>
                  <a:pt x="314325" y="271463"/>
                </a:lnTo>
                <a:cubicBezTo>
                  <a:pt x="330160" y="271463"/>
                  <a:pt x="342900" y="261908"/>
                  <a:pt x="342900" y="250031"/>
                </a:cubicBezTo>
                <a:cubicBezTo>
                  <a:pt x="342900" y="238155"/>
                  <a:pt x="330160" y="228600"/>
                  <a:pt x="314325" y="228600"/>
                </a:cubicBezTo>
                <a:lnTo>
                  <a:pt x="142875" y="228600"/>
                </a:lnTo>
                <a:close/>
                <a:moveTo>
                  <a:pt x="142875" y="314325"/>
                </a:moveTo>
                <a:cubicBezTo>
                  <a:pt x="127040" y="314325"/>
                  <a:pt x="114300" y="323880"/>
                  <a:pt x="114300" y="335756"/>
                </a:cubicBezTo>
                <a:cubicBezTo>
                  <a:pt x="114300" y="347633"/>
                  <a:pt x="127040" y="357188"/>
                  <a:pt x="142875" y="357188"/>
                </a:cubicBezTo>
                <a:lnTo>
                  <a:pt x="314325" y="357188"/>
                </a:lnTo>
                <a:cubicBezTo>
                  <a:pt x="330160" y="357188"/>
                  <a:pt x="342900" y="347633"/>
                  <a:pt x="342900" y="335756"/>
                </a:cubicBezTo>
                <a:cubicBezTo>
                  <a:pt x="342900" y="323880"/>
                  <a:pt x="330160" y="314325"/>
                  <a:pt x="314325" y="314325"/>
                </a:cubicBezTo>
                <a:lnTo>
                  <a:pt x="142875" y="314325"/>
                </a:lnTo>
                <a:close/>
              </a:path>
            </a:pathLst>
          </a:custGeom>
          <a:solidFill>
            <a:srgbClr val="2563EB"/>
          </a:solidFill>
          <a:ln/>
        </p:spPr>
        <p:txBody>
          <a:bodyPr/>
          <a:lstStyle/>
          <a:p>
            <a:endParaRPr lang="en-US"/>
          </a:p>
        </p:txBody>
      </p:sp>
      <p:sp>
        <p:nvSpPr>
          <p:cNvPr id="16" name="Text 13"/>
          <p:cNvSpPr/>
          <p:nvPr/>
        </p:nvSpPr>
        <p:spPr>
          <a:xfrm>
            <a:off x="1714500" y="5054600"/>
            <a:ext cx="5905500" cy="3175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Complex Documentation</a:t>
            </a:r>
            <a:endParaRPr lang="en-US" sz="1600" dirty="0"/>
          </a:p>
        </p:txBody>
      </p:sp>
      <p:sp>
        <p:nvSpPr>
          <p:cNvPr id="17" name="Text 14"/>
          <p:cNvSpPr/>
          <p:nvPr/>
        </p:nvSpPr>
        <p:spPr>
          <a:xfrm>
            <a:off x="1714500" y="5435600"/>
            <a:ext cx="5905500" cy="1587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Reading datasheets is complex and requires deep technical expertise to interpret specifications correctly.</a:t>
            </a:r>
            <a:endParaRPr lang="en-US" sz="1400" dirty="0"/>
          </a:p>
        </p:txBody>
      </p:sp>
      <p:sp>
        <p:nvSpPr>
          <p:cNvPr id="18" name="Shape 15"/>
          <p:cNvSpPr/>
          <p:nvPr/>
        </p:nvSpPr>
        <p:spPr>
          <a:xfrm>
            <a:off x="8318500" y="4762500"/>
            <a:ext cx="7175500" cy="2476500"/>
          </a:xfrm>
          <a:prstGeom prst="roundRect">
            <a:avLst>
              <a:gd name="adj" fmla="val 8000"/>
            </a:avLst>
          </a:prstGeom>
          <a:solidFill>
            <a:srgbClr val="F8FAFC"/>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19" name="Shape 16"/>
          <p:cNvSpPr/>
          <p:nvPr/>
        </p:nvSpPr>
        <p:spPr>
          <a:xfrm>
            <a:off x="8636000" y="5080000"/>
            <a:ext cx="457200" cy="457200"/>
          </a:xfrm>
          <a:custGeom>
            <a:avLst/>
            <a:gdLst/>
            <a:ahLst/>
            <a:cxnLst/>
            <a:rect l="l" t="t" r="r" b="b"/>
            <a:pathLst>
              <a:path w="457200" h="457200">
                <a:moveTo>
                  <a:pt x="228600" y="0"/>
                </a:moveTo>
                <a:cubicBezTo>
                  <a:pt x="241727" y="0"/>
                  <a:pt x="253782" y="7233"/>
                  <a:pt x="260033" y="18752"/>
                </a:cubicBezTo>
                <a:lnTo>
                  <a:pt x="452914" y="375940"/>
                </a:lnTo>
                <a:cubicBezTo>
                  <a:pt x="458897" y="387013"/>
                  <a:pt x="458629" y="400407"/>
                  <a:pt x="452199" y="411212"/>
                </a:cubicBezTo>
                <a:cubicBezTo>
                  <a:pt x="445770" y="422017"/>
                  <a:pt x="434072" y="428625"/>
                  <a:pt x="421481" y="428625"/>
                </a:cubicBezTo>
                <a:lnTo>
                  <a:pt x="35719" y="428625"/>
                </a:lnTo>
                <a:cubicBezTo>
                  <a:pt x="23128" y="428625"/>
                  <a:pt x="11519" y="422017"/>
                  <a:pt x="5001" y="411212"/>
                </a:cubicBezTo>
                <a:cubicBezTo>
                  <a:pt x="-1518" y="400407"/>
                  <a:pt x="-1697" y="387013"/>
                  <a:pt x="4286" y="375940"/>
                </a:cubicBezTo>
                <a:lnTo>
                  <a:pt x="197168" y="18752"/>
                </a:lnTo>
                <a:cubicBezTo>
                  <a:pt x="203418" y="7233"/>
                  <a:pt x="215473" y="0"/>
                  <a:pt x="228600" y="0"/>
                </a:cubicBezTo>
                <a:close/>
                <a:moveTo>
                  <a:pt x="228600" y="150019"/>
                </a:moveTo>
                <a:cubicBezTo>
                  <a:pt x="216724" y="150019"/>
                  <a:pt x="207169" y="159574"/>
                  <a:pt x="207169" y="171450"/>
                </a:cubicBezTo>
                <a:lnTo>
                  <a:pt x="207169" y="271463"/>
                </a:lnTo>
                <a:cubicBezTo>
                  <a:pt x="207169" y="283339"/>
                  <a:pt x="216724" y="292894"/>
                  <a:pt x="228600" y="292894"/>
                </a:cubicBezTo>
                <a:cubicBezTo>
                  <a:pt x="240476" y="292894"/>
                  <a:pt x="250031" y="283339"/>
                  <a:pt x="250031" y="271463"/>
                </a:cubicBezTo>
                <a:lnTo>
                  <a:pt x="250031" y="171450"/>
                </a:lnTo>
                <a:cubicBezTo>
                  <a:pt x="250031" y="159574"/>
                  <a:pt x="240476" y="150019"/>
                  <a:pt x="228600" y="150019"/>
                </a:cubicBezTo>
                <a:close/>
                <a:moveTo>
                  <a:pt x="252442" y="342900"/>
                </a:moveTo>
                <a:cubicBezTo>
                  <a:pt x="252985" y="334050"/>
                  <a:pt x="248571" y="325630"/>
                  <a:pt x="240985" y="321041"/>
                </a:cubicBezTo>
                <a:cubicBezTo>
                  <a:pt x="233398" y="316452"/>
                  <a:pt x="223891" y="316452"/>
                  <a:pt x="216305" y="321041"/>
                </a:cubicBezTo>
                <a:cubicBezTo>
                  <a:pt x="208718" y="325630"/>
                  <a:pt x="204305" y="334050"/>
                  <a:pt x="204847" y="342900"/>
                </a:cubicBezTo>
                <a:cubicBezTo>
                  <a:pt x="204305" y="351750"/>
                  <a:pt x="208718" y="360170"/>
                  <a:pt x="216305" y="364759"/>
                </a:cubicBezTo>
                <a:cubicBezTo>
                  <a:pt x="223891" y="369348"/>
                  <a:pt x="233398" y="369348"/>
                  <a:pt x="240985" y="364759"/>
                </a:cubicBezTo>
                <a:cubicBezTo>
                  <a:pt x="248571" y="360170"/>
                  <a:pt x="252985" y="351750"/>
                  <a:pt x="252442" y="342900"/>
                </a:cubicBezTo>
                <a:close/>
              </a:path>
            </a:pathLst>
          </a:custGeom>
          <a:solidFill>
            <a:srgbClr val="7C3AED"/>
          </a:solidFill>
          <a:ln/>
        </p:spPr>
        <p:txBody>
          <a:bodyPr/>
          <a:lstStyle/>
          <a:p>
            <a:endParaRPr lang="en-US"/>
          </a:p>
        </p:txBody>
      </p:sp>
      <p:sp>
        <p:nvSpPr>
          <p:cNvPr id="20" name="Text 17"/>
          <p:cNvSpPr/>
          <p:nvPr/>
        </p:nvSpPr>
        <p:spPr>
          <a:xfrm>
            <a:off x="9271000" y="5054600"/>
            <a:ext cx="5905500" cy="3175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Error-Prone Process</a:t>
            </a:r>
            <a:endParaRPr lang="en-US" sz="1600" dirty="0"/>
          </a:p>
        </p:txBody>
      </p:sp>
      <p:sp>
        <p:nvSpPr>
          <p:cNvPr id="21" name="Text 18"/>
          <p:cNvSpPr/>
          <p:nvPr/>
        </p:nvSpPr>
        <p:spPr>
          <a:xfrm>
            <a:off x="9271000" y="5435600"/>
            <a:ext cx="5905500" cy="1587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Designing schematics manually is slow and tedious. Small mistakes lead to costly hardware failures.</a:t>
            </a:r>
            <a:endParaRPr lang="en-US" sz="1400" dirty="0"/>
          </a:p>
        </p:txBody>
      </p:sp>
      <p:sp>
        <p:nvSpPr>
          <p:cNvPr id="22" name="Text 19"/>
          <p:cNvSpPr/>
          <p:nvPr/>
        </p:nvSpPr>
        <p:spPr>
          <a:xfrm>
            <a:off x="762000" y="7594600"/>
            <a:ext cx="2540000" cy="279400"/>
          </a:xfrm>
          <a:prstGeom prst="rect">
            <a:avLst/>
          </a:prstGeom>
          <a:noFill/>
          <a:ln/>
        </p:spPr>
        <p:txBody>
          <a:bodyPr wrap="none" lIns="0" tIns="0" rIns="0" bIns="0" rtlCol="0" anchor="ctr"/>
          <a:lstStyle/>
          <a:p>
            <a:pPr algn="l">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KEY CHALLENGES</a:t>
            </a:r>
            <a:endParaRPr lang="en-US" sz="1400" dirty="0"/>
          </a:p>
        </p:txBody>
      </p:sp>
      <p:sp>
        <p:nvSpPr>
          <p:cNvPr id="23" name="Shape 20"/>
          <p:cNvSpPr/>
          <p:nvPr/>
        </p:nvSpPr>
        <p:spPr>
          <a:xfrm>
            <a:off x="762000" y="7975600"/>
            <a:ext cx="1968500" cy="381000"/>
          </a:xfrm>
          <a:prstGeom prst="roundRect">
            <a:avLst>
              <a:gd name="adj" fmla="val 50000"/>
            </a:avLst>
          </a:prstGeom>
          <a:gradFill flip="none" rotWithShape="1">
            <a:gsLst>
              <a:gs pos="0">
                <a:srgbClr val="2563EB"/>
              </a:gs>
              <a:gs pos="100000">
                <a:srgbClr val="7C3AED"/>
              </a:gs>
            </a:gsLst>
            <a:lin ang="0" scaled="1"/>
          </a:gradFill>
          <a:ln/>
        </p:spPr>
        <p:txBody>
          <a:bodyPr/>
          <a:lstStyle/>
          <a:p>
            <a:endParaRPr lang="en-US"/>
          </a:p>
        </p:txBody>
      </p:sp>
      <p:sp>
        <p:nvSpPr>
          <p:cNvPr id="24" name="Text 21"/>
          <p:cNvSpPr/>
          <p:nvPr/>
        </p:nvSpPr>
        <p:spPr>
          <a:xfrm>
            <a:off x="762000" y="7975600"/>
            <a:ext cx="1968500" cy="381000"/>
          </a:xfrm>
          <a:prstGeom prst="rect">
            <a:avLst/>
          </a:prstGeom>
          <a:noFill/>
          <a:ln/>
        </p:spPr>
        <p:txBody>
          <a:bodyPr wrap="none" lIns="0" tIns="0" rIns="0" bIns="0" rtlCol="0" anchor="ctr"/>
          <a:lstStyle/>
          <a:p>
            <a:pPr algn="ctr">
              <a:lnSpc>
                <a:spcPct val="120000"/>
              </a:lnSpc>
            </a:pPr>
            <a:r>
              <a:rPr lang="en-US" sz="1300" kern="0" spc="100" dirty="0">
                <a:solidFill>
                  <a:srgbClr val="FFFFFF"/>
                </a:solidFill>
                <a:latin typeface="Liter" pitchFamily="34" charset="0"/>
                <a:ea typeface="Liter" pitchFamily="34" charset="-122"/>
                <a:cs typeface="Liter" pitchFamily="34" charset="-120"/>
              </a:rPr>
              <a:t>TIME CONSUMING</a:t>
            </a:r>
            <a:endParaRPr lang="en-US" sz="1300" dirty="0"/>
          </a:p>
        </p:txBody>
      </p:sp>
      <p:sp>
        <p:nvSpPr>
          <p:cNvPr id="25" name="Shape 22"/>
          <p:cNvSpPr/>
          <p:nvPr/>
        </p:nvSpPr>
        <p:spPr>
          <a:xfrm>
            <a:off x="2921000" y="7975600"/>
            <a:ext cx="1333500" cy="381000"/>
          </a:xfrm>
          <a:prstGeom prst="roundRect">
            <a:avLst>
              <a:gd name="adj" fmla="val 50000"/>
            </a:avLst>
          </a:prstGeom>
          <a:gradFill flip="none" rotWithShape="1">
            <a:gsLst>
              <a:gs pos="0">
                <a:srgbClr val="2563EB"/>
              </a:gs>
              <a:gs pos="100000">
                <a:srgbClr val="7C3AED"/>
              </a:gs>
            </a:gsLst>
            <a:lin ang="0" scaled="1"/>
          </a:gradFill>
          <a:ln/>
        </p:spPr>
        <p:txBody>
          <a:bodyPr/>
          <a:lstStyle/>
          <a:p>
            <a:endParaRPr lang="en-US"/>
          </a:p>
        </p:txBody>
      </p:sp>
      <p:sp>
        <p:nvSpPr>
          <p:cNvPr id="26" name="Text 23"/>
          <p:cNvSpPr/>
          <p:nvPr/>
        </p:nvSpPr>
        <p:spPr>
          <a:xfrm>
            <a:off x="2921000" y="7975600"/>
            <a:ext cx="1333500" cy="381000"/>
          </a:xfrm>
          <a:prstGeom prst="rect">
            <a:avLst/>
          </a:prstGeom>
          <a:noFill/>
          <a:ln/>
        </p:spPr>
        <p:txBody>
          <a:bodyPr wrap="none" lIns="0" tIns="0" rIns="0" bIns="0" rtlCol="0" anchor="ctr"/>
          <a:lstStyle/>
          <a:p>
            <a:pPr algn="ctr">
              <a:lnSpc>
                <a:spcPct val="120000"/>
              </a:lnSpc>
            </a:pPr>
            <a:r>
              <a:rPr lang="en-US" sz="1300" kern="0" spc="100" dirty="0">
                <a:solidFill>
                  <a:srgbClr val="FFFFFF"/>
                </a:solidFill>
                <a:latin typeface="Liter" pitchFamily="34" charset="0"/>
                <a:ea typeface="Liter" pitchFamily="34" charset="-122"/>
                <a:cs typeface="Liter" pitchFamily="34" charset="-120"/>
              </a:rPr>
              <a:t>COMPLEX</a:t>
            </a:r>
            <a:endParaRPr lang="en-US" sz="1300" dirty="0"/>
          </a:p>
        </p:txBody>
      </p:sp>
      <p:sp>
        <p:nvSpPr>
          <p:cNvPr id="27" name="Shape 24"/>
          <p:cNvSpPr/>
          <p:nvPr/>
        </p:nvSpPr>
        <p:spPr>
          <a:xfrm>
            <a:off x="4445000" y="7975600"/>
            <a:ext cx="1587500" cy="381000"/>
          </a:xfrm>
          <a:prstGeom prst="roundRect">
            <a:avLst>
              <a:gd name="adj" fmla="val 50000"/>
            </a:avLst>
          </a:prstGeom>
          <a:gradFill flip="none" rotWithShape="1">
            <a:gsLst>
              <a:gs pos="0">
                <a:srgbClr val="2563EB"/>
              </a:gs>
              <a:gs pos="100000">
                <a:srgbClr val="7C3AED"/>
              </a:gs>
            </a:gsLst>
            <a:lin ang="0" scaled="1"/>
          </a:gradFill>
          <a:ln/>
        </p:spPr>
        <p:txBody>
          <a:bodyPr/>
          <a:lstStyle/>
          <a:p>
            <a:endParaRPr lang="en-US"/>
          </a:p>
        </p:txBody>
      </p:sp>
      <p:sp>
        <p:nvSpPr>
          <p:cNvPr id="28" name="Text 25"/>
          <p:cNvSpPr/>
          <p:nvPr/>
        </p:nvSpPr>
        <p:spPr>
          <a:xfrm>
            <a:off x="4445000" y="7975600"/>
            <a:ext cx="1587500" cy="381000"/>
          </a:xfrm>
          <a:prstGeom prst="rect">
            <a:avLst/>
          </a:prstGeom>
          <a:noFill/>
          <a:ln/>
        </p:spPr>
        <p:txBody>
          <a:bodyPr wrap="none" lIns="0" tIns="0" rIns="0" bIns="0" rtlCol="0" anchor="ctr"/>
          <a:lstStyle/>
          <a:p>
            <a:pPr algn="ctr">
              <a:lnSpc>
                <a:spcPct val="120000"/>
              </a:lnSpc>
            </a:pPr>
            <a:r>
              <a:rPr lang="en-US" sz="1300" kern="0" spc="100" dirty="0">
                <a:solidFill>
                  <a:srgbClr val="FFFFFF"/>
                </a:solidFill>
                <a:latin typeface="Liter" pitchFamily="34" charset="0"/>
                <a:ea typeface="Liter" pitchFamily="34" charset="-122"/>
                <a:cs typeface="Liter" pitchFamily="34" charset="-120"/>
              </a:rPr>
              <a:t>ERROR-PRONE</a:t>
            </a:r>
            <a:endParaRPr lang="en-US" sz="1300" dirty="0"/>
          </a:p>
        </p:txBody>
      </p:sp>
      <p:sp>
        <p:nvSpPr>
          <p:cNvPr id="29" name="Shape 26"/>
          <p:cNvSpPr/>
          <p:nvPr/>
        </p:nvSpPr>
        <p:spPr>
          <a:xfrm>
            <a:off x="6223000" y="7975600"/>
            <a:ext cx="2476500" cy="381000"/>
          </a:xfrm>
          <a:prstGeom prst="roundRect">
            <a:avLst>
              <a:gd name="adj" fmla="val 50000"/>
            </a:avLst>
          </a:prstGeom>
          <a:gradFill flip="none" rotWithShape="1">
            <a:gsLst>
              <a:gs pos="0">
                <a:srgbClr val="2563EB"/>
              </a:gs>
              <a:gs pos="100000">
                <a:srgbClr val="7C3AED"/>
              </a:gs>
            </a:gsLst>
            <a:lin ang="0" scaled="1"/>
          </a:gradFill>
          <a:ln/>
        </p:spPr>
        <p:txBody>
          <a:bodyPr/>
          <a:lstStyle/>
          <a:p>
            <a:endParaRPr lang="en-US"/>
          </a:p>
        </p:txBody>
      </p:sp>
      <p:sp>
        <p:nvSpPr>
          <p:cNvPr id="30" name="Text 27"/>
          <p:cNvSpPr/>
          <p:nvPr/>
        </p:nvSpPr>
        <p:spPr>
          <a:xfrm>
            <a:off x="6223000" y="7975600"/>
            <a:ext cx="2476500" cy="381000"/>
          </a:xfrm>
          <a:prstGeom prst="rect">
            <a:avLst/>
          </a:prstGeom>
          <a:noFill/>
          <a:ln/>
        </p:spPr>
        <p:txBody>
          <a:bodyPr wrap="none" lIns="0" tIns="0" rIns="0" bIns="0" rtlCol="0" anchor="ctr"/>
          <a:lstStyle/>
          <a:p>
            <a:pPr algn="ctr">
              <a:lnSpc>
                <a:spcPct val="120000"/>
              </a:lnSpc>
            </a:pPr>
            <a:r>
              <a:rPr lang="en-US" sz="1300" kern="0" spc="100" dirty="0">
                <a:solidFill>
                  <a:srgbClr val="FFFFFF"/>
                </a:solidFill>
                <a:latin typeface="Liter" pitchFamily="34" charset="0"/>
                <a:ea typeface="Liter" pitchFamily="34" charset="-122"/>
                <a:cs typeface="Liter" pitchFamily="34" charset="-120"/>
              </a:rPr>
              <a:t>REQUIRES EXPERIENCE</a:t>
            </a:r>
            <a:endParaRPr lang="en-US" sz="1300" dirty="0"/>
          </a:p>
        </p:txBody>
      </p:sp>
      <p:sp>
        <p:nvSpPr>
          <p:cNvPr id="31" name="Text 28"/>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02 / 09</a:t>
            </a:r>
            <a:endParaRPr lang="en-US" sz="14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Our Solution</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889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An Intelligent Electronics Assistant Powered by AI</a:t>
            </a:r>
            <a:endParaRPr lang="en-US" sz="1800" dirty="0"/>
          </a:p>
        </p:txBody>
      </p:sp>
      <p:sp>
        <p:nvSpPr>
          <p:cNvPr id="6" name="Shape 3"/>
          <p:cNvSpPr/>
          <p:nvPr/>
        </p:nvSpPr>
        <p:spPr>
          <a:xfrm>
            <a:off x="4318000" y="1968500"/>
            <a:ext cx="7620000" cy="660400"/>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7" name="Shape 4"/>
          <p:cNvSpPr/>
          <p:nvPr/>
        </p:nvSpPr>
        <p:spPr>
          <a:xfrm>
            <a:off x="4572000" y="2095500"/>
            <a:ext cx="406400" cy="406400"/>
          </a:xfrm>
          <a:custGeom>
            <a:avLst/>
            <a:gdLst/>
            <a:ahLst/>
            <a:cxnLst/>
            <a:rect l="l" t="t" r="r" b="b"/>
            <a:pathLst>
              <a:path w="406400" h="406400">
                <a:moveTo>
                  <a:pt x="309986" y="304800"/>
                </a:moveTo>
                <a:cubicBezTo>
                  <a:pt x="317712" y="287099"/>
                  <a:pt x="333163" y="271066"/>
                  <a:pt x="350626" y="257254"/>
                </a:cubicBezTo>
                <a:cubicBezTo>
                  <a:pt x="385233" y="229949"/>
                  <a:pt x="406400" y="193040"/>
                  <a:pt x="406400" y="152400"/>
                </a:cubicBezTo>
                <a:cubicBezTo>
                  <a:pt x="406400" y="68263"/>
                  <a:pt x="315383" y="0"/>
                  <a:pt x="203200" y="0"/>
                </a:cubicBezTo>
                <a:cubicBezTo>
                  <a:pt x="91017" y="0"/>
                  <a:pt x="0" y="68263"/>
                  <a:pt x="0" y="152400"/>
                </a:cubicBezTo>
                <a:cubicBezTo>
                  <a:pt x="0" y="193040"/>
                  <a:pt x="21167" y="229949"/>
                  <a:pt x="55774" y="257254"/>
                </a:cubicBezTo>
                <a:cubicBezTo>
                  <a:pt x="73237" y="271066"/>
                  <a:pt x="88794" y="287099"/>
                  <a:pt x="96414" y="304800"/>
                </a:cubicBezTo>
                <a:lnTo>
                  <a:pt x="309880" y="304800"/>
                </a:lnTo>
                <a:close/>
                <a:moveTo>
                  <a:pt x="304800" y="342900"/>
                </a:moveTo>
                <a:lnTo>
                  <a:pt x="101600" y="342900"/>
                </a:lnTo>
                <a:lnTo>
                  <a:pt x="101600" y="355600"/>
                </a:lnTo>
                <a:cubicBezTo>
                  <a:pt x="101600" y="390684"/>
                  <a:pt x="139488" y="419100"/>
                  <a:pt x="186267" y="419100"/>
                </a:cubicBezTo>
                <a:lnTo>
                  <a:pt x="220133" y="419100"/>
                </a:lnTo>
                <a:cubicBezTo>
                  <a:pt x="266912" y="419100"/>
                  <a:pt x="304800" y="390684"/>
                  <a:pt x="304800" y="355600"/>
                </a:cubicBezTo>
                <a:lnTo>
                  <a:pt x="304800" y="342900"/>
                </a:lnTo>
                <a:close/>
                <a:moveTo>
                  <a:pt x="194733" y="88900"/>
                </a:moveTo>
                <a:cubicBezTo>
                  <a:pt x="152612" y="88900"/>
                  <a:pt x="118533" y="114459"/>
                  <a:pt x="118533" y="146050"/>
                </a:cubicBezTo>
                <a:cubicBezTo>
                  <a:pt x="118533" y="156607"/>
                  <a:pt x="107209" y="165100"/>
                  <a:pt x="93133" y="165100"/>
                </a:cubicBezTo>
                <a:cubicBezTo>
                  <a:pt x="79058" y="165100"/>
                  <a:pt x="67733" y="156607"/>
                  <a:pt x="67733" y="146050"/>
                </a:cubicBezTo>
                <a:cubicBezTo>
                  <a:pt x="67733" y="93424"/>
                  <a:pt x="124566" y="50800"/>
                  <a:pt x="194733" y="50800"/>
                </a:cubicBezTo>
                <a:cubicBezTo>
                  <a:pt x="208809" y="50800"/>
                  <a:pt x="220133" y="59293"/>
                  <a:pt x="220133" y="69850"/>
                </a:cubicBezTo>
                <a:cubicBezTo>
                  <a:pt x="220133" y="80407"/>
                  <a:pt x="208809" y="88900"/>
                  <a:pt x="194733" y="88900"/>
                </a:cubicBezTo>
                <a:close/>
              </a:path>
            </a:pathLst>
          </a:custGeom>
          <a:solidFill>
            <a:srgbClr val="2563EB"/>
          </a:solidFill>
          <a:ln/>
        </p:spPr>
        <p:txBody>
          <a:bodyPr/>
          <a:lstStyle/>
          <a:p>
            <a:endParaRPr lang="en-US"/>
          </a:p>
        </p:txBody>
      </p:sp>
      <p:sp>
        <p:nvSpPr>
          <p:cNvPr id="8" name="Text 5"/>
          <p:cNvSpPr/>
          <p:nvPr/>
        </p:nvSpPr>
        <p:spPr>
          <a:xfrm>
            <a:off x="5143500" y="1968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User Idea</a:t>
            </a:r>
            <a:r>
              <a:rPr lang="en-US" sz="1600" dirty="0">
                <a:solidFill>
                  <a:srgbClr val="1E293B"/>
                </a:solidFill>
                <a:latin typeface="Quattrocento Sans" pitchFamily="34" charset="0"/>
                <a:ea typeface="Quattrocento Sans" pitchFamily="34" charset="-122"/>
                <a:cs typeface="Quattrocento Sans" pitchFamily="34" charset="-120"/>
              </a:rPr>
              <a:t> — Natural language description</a:t>
            </a:r>
            <a:endParaRPr lang="en-US" sz="1600" dirty="0"/>
          </a:p>
        </p:txBody>
      </p:sp>
      <p:sp>
        <p:nvSpPr>
          <p:cNvPr id="9" name="Shape 6"/>
          <p:cNvSpPr/>
          <p:nvPr/>
        </p:nvSpPr>
        <p:spPr>
          <a:xfrm>
            <a:off x="7975600" y="2628900"/>
            <a:ext cx="304800" cy="228600"/>
          </a:xfrm>
          <a:prstGeom prst="straightConnector1">
            <a:avLst/>
          </a:prstGeom>
          <a:noFill/>
          <a:ln w="25400">
            <a:solidFill>
              <a:srgbClr val="2563EB"/>
            </a:solidFill>
            <a:prstDash val="solid"/>
            <a:headEnd type="none"/>
            <a:tailEnd type="arrow"/>
          </a:ln>
        </p:spPr>
        <p:txBody>
          <a:bodyPr/>
          <a:lstStyle/>
          <a:p>
            <a:endParaRPr lang="en-US"/>
          </a:p>
        </p:txBody>
      </p:sp>
      <p:sp>
        <p:nvSpPr>
          <p:cNvPr id="10" name="Shape 7"/>
          <p:cNvSpPr/>
          <p:nvPr/>
        </p:nvSpPr>
        <p:spPr>
          <a:xfrm>
            <a:off x="4318000" y="2857500"/>
            <a:ext cx="7620000" cy="660400"/>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11" name="Shape 8"/>
          <p:cNvSpPr/>
          <p:nvPr/>
        </p:nvSpPr>
        <p:spPr>
          <a:xfrm>
            <a:off x="4572000" y="2984500"/>
            <a:ext cx="406400" cy="406400"/>
          </a:xfrm>
          <a:custGeom>
            <a:avLst/>
            <a:gdLst/>
            <a:ahLst/>
            <a:cxnLst/>
            <a:rect l="l" t="t" r="r" b="b"/>
            <a:pathLst>
              <a:path w="406400" h="406400">
                <a:moveTo>
                  <a:pt x="95250" y="44450"/>
                </a:moveTo>
                <a:cubicBezTo>
                  <a:pt x="95250" y="19923"/>
                  <a:pt x="115173" y="0"/>
                  <a:pt x="139700" y="0"/>
                </a:cubicBezTo>
                <a:lnTo>
                  <a:pt x="158750" y="0"/>
                </a:lnTo>
                <a:cubicBezTo>
                  <a:pt x="172799" y="0"/>
                  <a:pt x="184150" y="11351"/>
                  <a:pt x="184150" y="25400"/>
                </a:cubicBezTo>
                <a:lnTo>
                  <a:pt x="184150" y="381000"/>
                </a:lnTo>
                <a:cubicBezTo>
                  <a:pt x="184150" y="395049"/>
                  <a:pt x="172799" y="406400"/>
                  <a:pt x="158750" y="406400"/>
                </a:cubicBezTo>
                <a:lnTo>
                  <a:pt x="133350" y="406400"/>
                </a:lnTo>
                <a:cubicBezTo>
                  <a:pt x="109696" y="406400"/>
                  <a:pt x="89773" y="390208"/>
                  <a:pt x="84138" y="368300"/>
                </a:cubicBezTo>
                <a:cubicBezTo>
                  <a:pt x="83582" y="368300"/>
                  <a:pt x="83106" y="368300"/>
                  <a:pt x="82550" y="368300"/>
                </a:cubicBezTo>
                <a:cubicBezTo>
                  <a:pt x="47466" y="368300"/>
                  <a:pt x="19050" y="339884"/>
                  <a:pt x="19050" y="304800"/>
                </a:cubicBezTo>
                <a:cubicBezTo>
                  <a:pt x="19050" y="290513"/>
                  <a:pt x="23813" y="277336"/>
                  <a:pt x="31750" y="266700"/>
                </a:cubicBezTo>
                <a:cubicBezTo>
                  <a:pt x="16351" y="255111"/>
                  <a:pt x="6350" y="236696"/>
                  <a:pt x="6350" y="215900"/>
                </a:cubicBezTo>
                <a:cubicBezTo>
                  <a:pt x="6350" y="191373"/>
                  <a:pt x="20320" y="170021"/>
                  <a:pt x="40640" y="159464"/>
                </a:cubicBezTo>
                <a:cubicBezTo>
                  <a:pt x="35004" y="149939"/>
                  <a:pt x="31750" y="138827"/>
                  <a:pt x="31750" y="127000"/>
                </a:cubicBezTo>
                <a:cubicBezTo>
                  <a:pt x="31750" y="91916"/>
                  <a:pt x="60166" y="63500"/>
                  <a:pt x="95250" y="63500"/>
                </a:cubicBezTo>
                <a:lnTo>
                  <a:pt x="95250" y="44450"/>
                </a:lnTo>
                <a:close/>
                <a:moveTo>
                  <a:pt x="311150" y="44450"/>
                </a:moveTo>
                <a:lnTo>
                  <a:pt x="311150" y="63500"/>
                </a:lnTo>
                <a:cubicBezTo>
                  <a:pt x="346234" y="63500"/>
                  <a:pt x="374650" y="91916"/>
                  <a:pt x="374650" y="127000"/>
                </a:cubicBezTo>
                <a:cubicBezTo>
                  <a:pt x="374650" y="138906"/>
                  <a:pt x="371396" y="150019"/>
                  <a:pt x="365760" y="159464"/>
                </a:cubicBezTo>
                <a:cubicBezTo>
                  <a:pt x="386159" y="170021"/>
                  <a:pt x="400050" y="191294"/>
                  <a:pt x="400050" y="215900"/>
                </a:cubicBezTo>
                <a:cubicBezTo>
                  <a:pt x="400050" y="236696"/>
                  <a:pt x="390049" y="255111"/>
                  <a:pt x="374650" y="266700"/>
                </a:cubicBezTo>
                <a:cubicBezTo>
                  <a:pt x="382588" y="277336"/>
                  <a:pt x="387350" y="290513"/>
                  <a:pt x="387350" y="304800"/>
                </a:cubicBezTo>
                <a:cubicBezTo>
                  <a:pt x="387350" y="339884"/>
                  <a:pt x="358934" y="368300"/>
                  <a:pt x="323850" y="368300"/>
                </a:cubicBezTo>
                <a:cubicBezTo>
                  <a:pt x="323294" y="368300"/>
                  <a:pt x="322818" y="368300"/>
                  <a:pt x="322263" y="368300"/>
                </a:cubicBezTo>
                <a:cubicBezTo>
                  <a:pt x="316627" y="390208"/>
                  <a:pt x="296704" y="406400"/>
                  <a:pt x="273050" y="406400"/>
                </a:cubicBezTo>
                <a:lnTo>
                  <a:pt x="247650" y="406400"/>
                </a:lnTo>
                <a:cubicBezTo>
                  <a:pt x="233601" y="406400"/>
                  <a:pt x="222250" y="395049"/>
                  <a:pt x="222250" y="381000"/>
                </a:cubicBezTo>
                <a:lnTo>
                  <a:pt x="222250" y="25400"/>
                </a:lnTo>
                <a:cubicBezTo>
                  <a:pt x="222250" y="11351"/>
                  <a:pt x="233601" y="0"/>
                  <a:pt x="247650" y="0"/>
                </a:cubicBezTo>
                <a:lnTo>
                  <a:pt x="266700" y="0"/>
                </a:lnTo>
                <a:cubicBezTo>
                  <a:pt x="291227" y="0"/>
                  <a:pt x="311150" y="19923"/>
                  <a:pt x="311150" y="44450"/>
                </a:cubicBezTo>
                <a:close/>
              </a:path>
            </a:pathLst>
          </a:custGeom>
          <a:solidFill>
            <a:srgbClr val="7C3AED"/>
          </a:solidFill>
          <a:ln/>
        </p:spPr>
        <p:txBody>
          <a:bodyPr/>
          <a:lstStyle/>
          <a:p>
            <a:endParaRPr lang="en-US"/>
          </a:p>
        </p:txBody>
      </p:sp>
      <p:sp>
        <p:nvSpPr>
          <p:cNvPr id="12" name="Text 9"/>
          <p:cNvSpPr/>
          <p:nvPr/>
        </p:nvSpPr>
        <p:spPr>
          <a:xfrm>
            <a:off x="5143500" y="2857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AI Analysis</a:t>
            </a:r>
            <a:r>
              <a:rPr lang="en-US" sz="1600" dirty="0">
                <a:solidFill>
                  <a:srgbClr val="1E293B"/>
                </a:solidFill>
                <a:latin typeface="Quattrocento Sans" pitchFamily="34" charset="0"/>
                <a:ea typeface="Quattrocento Sans" pitchFamily="34" charset="-122"/>
                <a:cs typeface="Quattrocento Sans" pitchFamily="34" charset="-120"/>
              </a:rPr>
              <a:t> — NLP + Prompt Engineering</a:t>
            </a:r>
            <a:endParaRPr lang="en-US" sz="1600" dirty="0"/>
          </a:p>
        </p:txBody>
      </p:sp>
      <p:sp>
        <p:nvSpPr>
          <p:cNvPr id="13" name="Shape 10"/>
          <p:cNvSpPr/>
          <p:nvPr/>
        </p:nvSpPr>
        <p:spPr>
          <a:xfrm>
            <a:off x="7975600" y="3517900"/>
            <a:ext cx="304800" cy="228600"/>
          </a:xfrm>
          <a:prstGeom prst="straightConnector1">
            <a:avLst/>
          </a:prstGeom>
          <a:noFill/>
          <a:ln w="25400">
            <a:solidFill>
              <a:srgbClr val="7C3AED"/>
            </a:solidFill>
            <a:prstDash val="solid"/>
            <a:headEnd type="none"/>
            <a:tailEnd type="arrow"/>
          </a:ln>
        </p:spPr>
        <p:txBody>
          <a:bodyPr/>
          <a:lstStyle/>
          <a:p>
            <a:endParaRPr lang="en-US"/>
          </a:p>
        </p:txBody>
      </p:sp>
      <p:sp>
        <p:nvSpPr>
          <p:cNvPr id="14" name="Shape 11"/>
          <p:cNvSpPr/>
          <p:nvPr/>
        </p:nvSpPr>
        <p:spPr>
          <a:xfrm>
            <a:off x="4318000" y="3746500"/>
            <a:ext cx="7620000" cy="660400"/>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15" name="Shape 12"/>
          <p:cNvSpPr/>
          <p:nvPr/>
        </p:nvSpPr>
        <p:spPr>
          <a:xfrm>
            <a:off x="4572000" y="3873500"/>
            <a:ext cx="406400" cy="406400"/>
          </a:xfrm>
          <a:custGeom>
            <a:avLst/>
            <a:gdLst/>
            <a:ahLst/>
            <a:cxnLst/>
            <a:rect l="l" t="t" r="r" b="b"/>
            <a:pathLst>
              <a:path w="406400" h="406400">
                <a:moveTo>
                  <a:pt x="106204" y="28813"/>
                </a:moveTo>
                <a:cubicBezTo>
                  <a:pt x="114856" y="34846"/>
                  <a:pt x="116919" y="46752"/>
                  <a:pt x="110887" y="55324"/>
                </a:cubicBezTo>
                <a:lnTo>
                  <a:pt x="66437" y="118824"/>
                </a:lnTo>
                <a:cubicBezTo>
                  <a:pt x="63183" y="123428"/>
                  <a:pt x="58103" y="126365"/>
                  <a:pt x="52467" y="126841"/>
                </a:cubicBezTo>
                <a:cubicBezTo>
                  <a:pt x="46831" y="127317"/>
                  <a:pt x="41275" y="125413"/>
                  <a:pt x="37306" y="121444"/>
                </a:cubicBezTo>
                <a:lnTo>
                  <a:pt x="5556" y="89694"/>
                </a:lnTo>
                <a:cubicBezTo>
                  <a:pt x="-1826" y="82233"/>
                  <a:pt x="-1826" y="70168"/>
                  <a:pt x="5556" y="62706"/>
                </a:cubicBezTo>
                <a:cubicBezTo>
                  <a:pt x="12938" y="55245"/>
                  <a:pt x="25083" y="55324"/>
                  <a:pt x="32544" y="62706"/>
                </a:cubicBezTo>
                <a:lnTo>
                  <a:pt x="48260" y="78423"/>
                </a:lnTo>
                <a:lnTo>
                  <a:pt x="79693" y="33496"/>
                </a:lnTo>
                <a:cubicBezTo>
                  <a:pt x="85725" y="24844"/>
                  <a:pt x="97631" y="22781"/>
                  <a:pt x="106204" y="28813"/>
                </a:cubicBezTo>
                <a:close/>
                <a:moveTo>
                  <a:pt x="106204" y="155813"/>
                </a:moveTo>
                <a:cubicBezTo>
                  <a:pt x="114856" y="161846"/>
                  <a:pt x="116919" y="173752"/>
                  <a:pt x="110887" y="182324"/>
                </a:cubicBezTo>
                <a:lnTo>
                  <a:pt x="66437" y="245824"/>
                </a:lnTo>
                <a:cubicBezTo>
                  <a:pt x="63183" y="250428"/>
                  <a:pt x="58103" y="253365"/>
                  <a:pt x="52467" y="253841"/>
                </a:cubicBezTo>
                <a:cubicBezTo>
                  <a:pt x="46831" y="254318"/>
                  <a:pt x="41275" y="252413"/>
                  <a:pt x="37306" y="248444"/>
                </a:cubicBezTo>
                <a:lnTo>
                  <a:pt x="5556" y="216694"/>
                </a:lnTo>
                <a:cubicBezTo>
                  <a:pt x="-1905" y="209233"/>
                  <a:pt x="-1905" y="197168"/>
                  <a:pt x="5556" y="189786"/>
                </a:cubicBezTo>
                <a:cubicBezTo>
                  <a:pt x="13017" y="182404"/>
                  <a:pt x="25083" y="182324"/>
                  <a:pt x="32464" y="189786"/>
                </a:cubicBezTo>
                <a:lnTo>
                  <a:pt x="48181" y="205502"/>
                </a:lnTo>
                <a:lnTo>
                  <a:pt x="79613" y="160576"/>
                </a:lnTo>
                <a:cubicBezTo>
                  <a:pt x="85646" y="151924"/>
                  <a:pt x="97552" y="149860"/>
                  <a:pt x="106124" y="155892"/>
                </a:cubicBezTo>
                <a:close/>
                <a:moveTo>
                  <a:pt x="177800" y="76200"/>
                </a:moveTo>
                <a:cubicBezTo>
                  <a:pt x="177800" y="62151"/>
                  <a:pt x="189151" y="50800"/>
                  <a:pt x="203200" y="50800"/>
                </a:cubicBezTo>
                <a:lnTo>
                  <a:pt x="381000" y="50800"/>
                </a:lnTo>
                <a:cubicBezTo>
                  <a:pt x="395049" y="50800"/>
                  <a:pt x="406400" y="62151"/>
                  <a:pt x="406400" y="76200"/>
                </a:cubicBezTo>
                <a:cubicBezTo>
                  <a:pt x="406400" y="90249"/>
                  <a:pt x="395049" y="101600"/>
                  <a:pt x="381000" y="101600"/>
                </a:cubicBezTo>
                <a:lnTo>
                  <a:pt x="203200" y="101600"/>
                </a:lnTo>
                <a:cubicBezTo>
                  <a:pt x="189151" y="101600"/>
                  <a:pt x="177800" y="90249"/>
                  <a:pt x="177800" y="76200"/>
                </a:cubicBezTo>
                <a:close/>
                <a:moveTo>
                  <a:pt x="177800" y="203200"/>
                </a:moveTo>
                <a:cubicBezTo>
                  <a:pt x="177800" y="189151"/>
                  <a:pt x="189151" y="177800"/>
                  <a:pt x="203200" y="177800"/>
                </a:cubicBezTo>
                <a:lnTo>
                  <a:pt x="381000" y="177800"/>
                </a:lnTo>
                <a:cubicBezTo>
                  <a:pt x="395049" y="177800"/>
                  <a:pt x="406400" y="189151"/>
                  <a:pt x="406400" y="203200"/>
                </a:cubicBezTo>
                <a:cubicBezTo>
                  <a:pt x="406400" y="217249"/>
                  <a:pt x="395049" y="228600"/>
                  <a:pt x="381000" y="228600"/>
                </a:cubicBezTo>
                <a:lnTo>
                  <a:pt x="203200" y="228600"/>
                </a:lnTo>
                <a:cubicBezTo>
                  <a:pt x="189151" y="228600"/>
                  <a:pt x="177800" y="217249"/>
                  <a:pt x="177800" y="203200"/>
                </a:cubicBezTo>
                <a:close/>
                <a:moveTo>
                  <a:pt x="127000" y="330200"/>
                </a:moveTo>
                <a:cubicBezTo>
                  <a:pt x="127000" y="316151"/>
                  <a:pt x="138351" y="304800"/>
                  <a:pt x="152400" y="304800"/>
                </a:cubicBezTo>
                <a:lnTo>
                  <a:pt x="381000" y="304800"/>
                </a:lnTo>
                <a:cubicBezTo>
                  <a:pt x="395049" y="304800"/>
                  <a:pt x="406400" y="316151"/>
                  <a:pt x="406400" y="330200"/>
                </a:cubicBezTo>
                <a:cubicBezTo>
                  <a:pt x="406400" y="344249"/>
                  <a:pt x="395049" y="355600"/>
                  <a:pt x="381000" y="355600"/>
                </a:cubicBezTo>
                <a:lnTo>
                  <a:pt x="152400" y="355600"/>
                </a:lnTo>
                <a:cubicBezTo>
                  <a:pt x="138351" y="355600"/>
                  <a:pt x="127000" y="344249"/>
                  <a:pt x="127000" y="330200"/>
                </a:cubicBezTo>
                <a:close/>
                <a:moveTo>
                  <a:pt x="50800" y="298450"/>
                </a:moveTo>
                <a:cubicBezTo>
                  <a:pt x="68323" y="298450"/>
                  <a:pt x="82550" y="312677"/>
                  <a:pt x="82550" y="330200"/>
                </a:cubicBezTo>
                <a:cubicBezTo>
                  <a:pt x="82550" y="347723"/>
                  <a:pt x="68323" y="361950"/>
                  <a:pt x="50800" y="361950"/>
                </a:cubicBezTo>
                <a:cubicBezTo>
                  <a:pt x="33277" y="361950"/>
                  <a:pt x="19050" y="347723"/>
                  <a:pt x="19050" y="330200"/>
                </a:cubicBezTo>
                <a:cubicBezTo>
                  <a:pt x="19050" y="312677"/>
                  <a:pt x="33277" y="298450"/>
                  <a:pt x="50800" y="298450"/>
                </a:cubicBezTo>
                <a:close/>
              </a:path>
            </a:pathLst>
          </a:custGeom>
          <a:solidFill>
            <a:srgbClr val="2563EB"/>
          </a:solidFill>
          <a:ln/>
        </p:spPr>
        <p:txBody>
          <a:bodyPr/>
          <a:lstStyle/>
          <a:p>
            <a:endParaRPr lang="en-US"/>
          </a:p>
        </p:txBody>
      </p:sp>
      <p:sp>
        <p:nvSpPr>
          <p:cNvPr id="16" name="Text 13"/>
          <p:cNvSpPr/>
          <p:nvPr/>
        </p:nvSpPr>
        <p:spPr>
          <a:xfrm>
            <a:off x="5143500" y="3746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Component Selection</a:t>
            </a:r>
            <a:r>
              <a:rPr lang="en-US" sz="1600" dirty="0">
                <a:solidFill>
                  <a:srgbClr val="1E293B"/>
                </a:solidFill>
                <a:latin typeface="Quattrocento Sans" pitchFamily="34" charset="0"/>
                <a:ea typeface="Quattrocento Sans" pitchFamily="34" charset="-122"/>
                <a:cs typeface="Quattrocento Sans" pitchFamily="34" charset="-120"/>
              </a:rPr>
              <a:t> — Intelligent matching</a:t>
            </a:r>
            <a:endParaRPr lang="en-US" sz="1600" dirty="0"/>
          </a:p>
        </p:txBody>
      </p:sp>
      <p:sp>
        <p:nvSpPr>
          <p:cNvPr id="17" name="Shape 14"/>
          <p:cNvSpPr/>
          <p:nvPr/>
        </p:nvSpPr>
        <p:spPr>
          <a:xfrm>
            <a:off x="7975600" y="4406900"/>
            <a:ext cx="304800" cy="228600"/>
          </a:xfrm>
          <a:prstGeom prst="straightConnector1">
            <a:avLst/>
          </a:prstGeom>
          <a:noFill/>
          <a:ln w="25400">
            <a:solidFill>
              <a:srgbClr val="2563EB"/>
            </a:solidFill>
            <a:prstDash val="solid"/>
            <a:headEnd type="none"/>
            <a:tailEnd type="arrow"/>
          </a:ln>
        </p:spPr>
        <p:txBody>
          <a:bodyPr/>
          <a:lstStyle/>
          <a:p>
            <a:endParaRPr lang="en-US"/>
          </a:p>
        </p:txBody>
      </p:sp>
      <p:sp>
        <p:nvSpPr>
          <p:cNvPr id="18" name="Shape 15"/>
          <p:cNvSpPr/>
          <p:nvPr/>
        </p:nvSpPr>
        <p:spPr>
          <a:xfrm>
            <a:off x="4318000" y="4635500"/>
            <a:ext cx="7620000" cy="660400"/>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19" name="Shape 16"/>
          <p:cNvSpPr/>
          <p:nvPr/>
        </p:nvSpPr>
        <p:spPr>
          <a:xfrm>
            <a:off x="4572000" y="4762500"/>
            <a:ext cx="406400" cy="406400"/>
          </a:xfrm>
          <a:custGeom>
            <a:avLst/>
            <a:gdLst/>
            <a:ahLst/>
            <a:cxnLst/>
            <a:rect l="l" t="t" r="r" b="b"/>
            <a:pathLst>
              <a:path w="406400" h="406400">
                <a:moveTo>
                  <a:pt x="295981" y="76200"/>
                </a:moveTo>
                <a:cubicBezTo>
                  <a:pt x="284268" y="76200"/>
                  <a:pt x="272909" y="79772"/>
                  <a:pt x="262961" y="86281"/>
                </a:cubicBezTo>
                <a:cubicBezTo>
                  <a:pt x="251813" y="73581"/>
                  <a:pt x="238831" y="62944"/>
                  <a:pt x="224508" y="54928"/>
                </a:cubicBezTo>
                <a:cubicBezTo>
                  <a:pt x="244404" y="35878"/>
                  <a:pt x="269734" y="25400"/>
                  <a:pt x="295981" y="25400"/>
                </a:cubicBezTo>
                <a:cubicBezTo>
                  <a:pt x="356941" y="25400"/>
                  <a:pt x="406400" y="80963"/>
                  <a:pt x="406400" y="149622"/>
                </a:cubicBezTo>
                <a:cubicBezTo>
                  <a:pt x="406400" y="182563"/>
                  <a:pt x="394758" y="214154"/>
                  <a:pt x="374086" y="237411"/>
                </a:cubicBezTo>
                <a:lnTo>
                  <a:pt x="323921" y="293846"/>
                </a:lnTo>
                <a:cubicBezTo>
                  <a:pt x="303248" y="317103"/>
                  <a:pt x="275167" y="330200"/>
                  <a:pt x="245886" y="330200"/>
                </a:cubicBezTo>
                <a:cubicBezTo>
                  <a:pt x="184926" y="330200"/>
                  <a:pt x="135467" y="274638"/>
                  <a:pt x="135467" y="205978"/>
                </a:cubicBezTo>
                <a:cubicBezTo>
                  <a:pt x="135467" y="204788"/>
                  <a:pt x="135467" y="203597"/>
                  <a:pt x="135537" y="202406"/>
                </a:cubicBezTo>
                <a:cubicBezTo>
                  <a:pt x="135890" y="188357"/>
                  <a:pt x="146262" y="177324"/>
                  <a:pt x="158750" y="177721"/>
                </a:cubicBezTo>
                <a:cubicBezTo>
                  <a:pt x="171238" y="178118"/>
                  <a:pt x="181046" y="189786"/>
                  <a:pt x="180693" y="203835"/>
                </a:cubicBezTo>
                <a:cubicBezTo>
                  <a:pt x="180693" y="204549"/>
                  <a:pt x="180693" y="205264"/>
                  <a:pt x="180693" y="205899"/>
                </a:cubicBezTo>
                <a:cubicBezTo>
                  <a:pt x="180693" y="246459"/>
                  <a:pt x="209903" y="279321"/>
                  <a:pt x="245957" y="279321"/>
                </a:cubicBezTo>
                <a:cubicBezTo>
                  <a:pt x="263243" y="279321"/>
                  <a:pt x="279823" y="271621"/>
                  <a:pt x="292100" y="257810"/>
                </a:cubicBezTo>
                <a:lnTo>
                  <a:pt x="342265" y="201374"/>
                </a:lnTo>
                <a:cubicBezTo>
                  <a:pt x="354471" y="187643"/>
                  <a:pt x="361386" y="168910"/>
                  <a:pt x="361386" y="149463"/>
                </a:cubicBezTo>
                <a:cubicBezTo>
                  <a:pt x="361386" y="108903"/>
                  <a:pt x="332176" y="76041"/>
                  <a:pt x="296122" y="76041"/>
                </a:cubicBezTo>
                <a:close/>
                <a:moveTo>
                  <a:pt x="194169" y="137557"/>
                </a:moveTo>
                <a:cubicBezTo>
                  <a:pt x="192828" y="136922"/>
                  <a:pt x="191488" y="136049"/>
                  <a:pt x="190288" y="135096"/>
                </a:cubicBezTo>
                <a:cubicBezTo>
                  <a:pt x="181398" y="129937"/>
                  <a:pt x="171238" y="127000"/>
                  <a:pt x="160584" y="127000"/>
                </a:cubicBezTo>
                <a:cubicBezTo>
                  <a:pt x="143298" y="127000"/>
                  <a:pt x="126718" y="134699"/>
                  <a:pt x="114441" y="148511"/>
                </a:cubicBezTo>
                <a:lnTo>
                  <a:pt x="64276" y="204946"/>
                </a:lnTo>
                <a:cubicBezTo>
                  <a:pt x="52070" y="218678"/>
                  <a:pt x="45156" y="237411"/>
                  <a:pt x="45156" y="256858"/>
                </a:cubicBezTo>
                <a:cubicBezTo>
                  <a:pt x="45156" y="297418"/>
                  <a:pt x="74366" y="330279"/>
                  <a:pt x="110419" y="330279"/>
                </a:cubicBezTo>
                <a:cubicBezTo>
                  <a:pt x="122061" y="330279"/>
                  <a:pt x="133421" y="326787"/>
                  <a:pt x="143369" y="320278"/>
                </a:cubicBezTo>
                <a:cubicBezTo>
                  <a:pt x="154517" y="332978"/>
                  <a:pt x="167499" y="343614"/>
                  <a:pt x="181892" y="351631"/>
                </a:cubicBezTo>
                <a:cubicBezTo>
                  <a:pt x="161996" y="370602"/>
                  <a:pt x="136737" y="381159"/>
                  <a:pt x="110419" y="381159"/>
                </a:cubicBezTo>
                <a:cubicBezTo>
                  <a:pt x="49459" y="381159"/>
                  <a:pt x="0" y="325596"/>
                  <a:pt x="0" y="256937"/>
                </a:cubicBezTo>
                <a:cubicBezTo>
                  <a:pt x="0" y="223996"/>
                  <a:pt x="11642" y="192405"/>
                  <a:pt x="32314" y="169148"/>
                </a:cubicBezTo>
                <a:lnTo>
                  <a:pt x="82479" y="112713"/>
                </a:lnTo>
                <a:cubicBezTo>
                  <a:pt x="103152" y="89456"/>
                  <a:pt x="131233" y="76359"/>
                  <a:pt x="160514" y="76359"/>
                </a:cubicBezTo>
                <a:cubicBezTo>
                  <a:pt x="221615" y="76359"/>
                  <a:pt x="270933" y="132398"/>
                  <a:pt x="270933" y="200898"/>
                </a:cubicBezTo>
                <a:cubicBezTo>
                  <a:pt x="270933" y="201930"/>
                  <a:pt x="270933" y="202962"/>
                  <a:pt x="270933" y="203994"/>
                </a:cubicBezTo>
                <a:cubicBezTo>
                  <a:pt x="270651" y="218043"/>
                  <a:pt x="260279" y="229076"/>
                  <a:pt x="247791" y="228759"/>
                </a:cubicBezTo>
                <a:cubicBezTo>
                  <a:pt x="235303" y="228441"/>
                  <a:pt x="225496" y="216773"/>
                  <a:pt x="225778" y="202724"/>
                </a:cubicBezTo>
                <a:cubicBezTo>
                  <a:pt x="225778" y="202089"/>
                  <a:pt x="225778" y="201533"/>
                  <a:pt x="225778" y="200898"/>
                </a:cubicBezTo>
                <a:cubicBezTo>
                  <a:pt x="225778" y="174149"/>
                  <a:pt x="213078" y="150654"/>
                  <a:pt x="194169" y="137716"/>
                </a:cubicBezTo>
                <a:close/>
              </a:path>
            </a:pathLst>
          </a:custGeom>
          <a:solidFill>
            <a:srgbClr val="7C3AED"/>
          </a:solidFill>
          <a:ln/>
        </p:spPr>
        <p:txBody>
          <a:bodyPr/>
          <a:lstStyle/>
          <a:p>
            <a:endParaRPr lang="en-US"/>
          </a:p>
        </p:txBody>
      </p:sp>
      <p:sp>
        <p:nvSpPr>
          <p:cNvPr id="20" name="Text 17"/>
          <p:cNvSpPr/>
          <p:nvPr/>
        </p:nvSpPr>
        <p:spPr>
          <a:xfrm>
            <a:off x="5143500" y="4635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Connection Instructions</a:t>
            </a:r>
            <a:r>
              <a:rPr lang="en-US" sz="1600" dirty="0">
                <a:solidFill>
                  <a:srgbClr val="1E293B"/>
                </a:solidFill>
                <a:latin typeface="Quattrocento Sans" pitchFamily="34" charset="0"/>
                <a:ea typeface="Quattrocento Sans" pitchFamily="34" charset="-122"/>
                <a:cs typeface="Quattrocento Sans" pitchFamily="34" charset="-120"/>
              </a:rPr>
              <a:t> — Step-by-step wiring</a:t>
            </a:r>
            <a:endParaRPr lang="en-US" sz="1600" dirty="0"/>
          </a:p>
        </p:txBody>
      </p:sp>
      <p:sp>
        <p:nvSpPr>
          <p:cNvPr id="21" name="Shape 18"/>
          <p:cNvSpPr/>
          <p:nvPr/>
        </p:nvSpPr>
        <p:spPr>
          <a:xfrm>
            <a:off x="7975600" y="5295900"/>
            <a:ext cx="304800" cy="228600"/>
          </a:xfrm>
          <a:prstGeom prst="straightConnector1">
            <a:avLst/>
          </a:prstGeom>
          <a:noFill/>
          <a:ln w="25400">
            <a:solidFill>
              <a:srgbClr val="7C3AED"/>
            </a:solidFill>
            <a:prstDash val="solid"/>
            <a:headEnd type="none"/>
            <a:tailEnd type="arrow"/>
          </a:ln>
        </p:spPr>
        <p:txBody>
          <a:bodyPr/>
          <a:lstStyle/>
          <a:p>
            <a:endParaRPr lang="en-US"/>
          </a:p>
        </p:txBody>
      </p:sp>
      <p:sp>
        <p:nvSpPr>
          <p:cNvPr id="22" name="Shape 19"/>
          <p:cNvSpPr/>
          <p:nvPr/>
        </p:nvSpPr>
        <p:spPr>
          <a:xfrm>
            <a:off x="4318000" y="5524500"/>
            <a:ext cx="7620000" cy="660400"/>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23" name="Shape 20"/>
          <p:cNvSpPr/>
          <p:nvPr/>
        </p:nvSpPr>
        <p:spPr>
          <a:xfrm>
            <a:off x="4572000" y="5651500"/>
            <a:ext cx="406400" cy="406400"/>
          </a:xfrm>
          <a:custGeom>
            <a:avLst/>
            <a:gdLst/>
            <a:ahLst/>
            <a:cxnLst/>
            <a:rect l="l" t="t" r="r" b="b"/>
            <a:pathLst>
              <a:path w="406400" h="406400">
                <a:moveTo>
                  <a:pt x="78819" y="203279"/>
                </a:moveTo>
                <a:lnTo>
                  <a:pt x="133906" y="108109"/>
                </a:lnTo>
                <a:cubicBezTo>
                  <a:pt x="129461" y="98425"/>
                  <a:pt x="126921" y="87630"/>
                  <a:pt x="126921" y="76200"/>
                </a:cubicBezTo>
                <a:cubicBezTo>
                  <a:pt x="126921" y="34131"/>
                  <a:pt x="161052" y="0"/>
                  <a:pt x="203121" y="0"/>
                </a:cubicBezTo>
                <a:cubicBezTo>
                  <a:pt x="245189" y="0"/>
                  <a:pt x="279321" y="34131"/>
                  <a:pt x="279321" y="76200"/>
                </a:cubicBezTo>
                <a:cubicBezTo>
                  <a:pt x="279321" y="87551"/>
                  <a:pt x="276860" y="98346"/>
                  <a:pt x="272336" y="108109"/>
                </a:cubicBezTo>
                <a:lnTo>
                  <a:pt x="307578" y="168989"/>
                </a:lnTo>
                <a:cubicBezTo>
                  <a:pt x="289242" y="189627"/>
                  <a:pt x="264954" y="204788"/>
                  <a:pt x="237411" y="211693"/>
                </a:cubicBezTo>
                <a:lnTo>
                  <a:pt x="203200" y="152321"/>
                </a:lnTo>
                <a:lnTo>
                  <a:pt x="149146" y="245666"/>
                </a:lnTo>
                <a:cubicBezTo>
                  <a:pt x="166211" y="251063"/>
                  <a:pt x="184309" y="254000"/>
                  <a:pt x="203200" y="254000"/>
                </a:cubicBezTo>
                <a:cubicBezTo>
                  <a:pt x="259318" y="254000"/>
                  <a:pt x="309404" y="228044"/>
                  <a:pt x="342027" y="187325"/>
                </a:cubicBezTo>
                <a:cubicBezTo>
                  <a:pt x="350838" y="176371"/>
                  <a:pt x="366792" y="174625"/>
                  <a:pt x="377746" y="183356"/>
                </a:cubicBezTo>
                <a:cubicBezTo>
                  <a:pt x="388699" y="192088"/>
                  <a:pt x="390446" y="208121"/>
                  <a:pt x="381714" y="219075"/>
                </a:cubicBezTo>
                <a:cubicBezTo>
                  <a:pt x="339884" y="271304"/>
                  <a:pt x="275431" y="304800"/>
                  <a:pt x="203279" y="304800"/>
                </a:cubicBezTo>
                <a:cubicBezTo>
                  <a:pt x="175181" y="304800"/>
                  <a:pt x="148193" y="299720"/>
                  <a:pt x="123349" y="290433"/>
                </a:cubicBezTo>
                <a:lnTo>
                  <a:pt x="78343" y="368062"/>
                </a:lnTo>
                <a:cubicBezTo>
                  <a:pt x="74613" y="374491"/>
                  <a:pt x="69056" y="379730"/>
                  <a:pt x="62389" y="383064"/>
                </a:cubicBezTo>
                <a:lnTo>
                  <a:pt x="18415" y="405051"/>
                </a:lnTo>
                <a:cubicBezTo>
                  <a:pt x="14446" y="407035"/>
                  <a:pt x="9763" y="406797"/>
                  <a:pt x="6033" y="404495"/>
                </a:cubicBezTo>
                <a:cubicBezTo>
                  <a:pt x="2302" y="402193"/>
                  <a:pt x="0" y="398066"/>
                  <a:pt x="0" y="393700"/>
                </a:cubicBezTo>
                <a:lnTo>
                  <a:pt x="0" y="349726"/>
                </a:lnTo>
                <a:cubicBezTo>
                  <a:pt x="0" y="343059"/>
                  <a:pt x="1746" y="336471"/>
                  <a:pt x="5159" y="330597"/>
                </a:cubicBezTo>
                <a:lnTo>
                  <a:pt x="52784" y="248285"/>
                </a:lnTo>
                <a:cubicBezTo>
                  <a:pt x="42624" y="239395"/>
                  <a:pt x="33258" y="229632"/>
                  <a:pt x="24765" y="219075"/>
                </a:cubicBezTo>
                <a:cubicBezTo>
                  <a:pt x="15954" y="208121"/>
                  <a:pt x="17780" y="192167"/>
                  <a:pt x="28734" y="183356"/>
                </a:cubicBezTo>
                <a:cubicBezTo>
                  <a:pt x="39688" y="174546"/>
                  <a:pt x="55642" y="176371"/>
                  <a:pt x="64453" y="187325"/>
                </a:cubicBezTo>
                <a:cubicBezTo>
                  <a:pt x="68977" y="192961"/>
                  <a:pt x="73819" y="198279"/>
                  <a:pt x="78899" y="203279"/>
                </a:cubicBezTo>
                <a:close/>
                <a:moveTo>
                  <a:pt x="302498" y="323771"/>
                </a:moveTo>
                <a:cubicBezTo>
                  <a:pt x="328295" y="313452"/>
                  <a:pt x="352028" y="299164"/>
                  <a:pt x="373063" y="281781"/>
                </a:cubicBezTo>
                <a:lnTo>
                  <a:pt x="401320" y="330597"/>
                </a:lnTo>
                <a:cubicBezTo>
                  <a:pt x="404654" y="336391"/>
                  <a:pt x="406479" y="342979"/>
                  <a:pt x="406479" y="349726"/>
                </a:cubicBezTo>
                <a:lnTo>
                  <a:pt x="406479" y="393700"/>
                </a:lnTo>
                <a:cubicBezTo>
                  <a:pt x="406479" y="398066"/>
                  <a:pt x="404178" y="402193"/>
                  <a:pt x="400447" y="404495"/>
                </a:cubicBezTo>
                <a:cubicBezTo>
                  <a:pt x="396716" y="406797"/>
                  <a:pt x="392033" y="407035"/>
                  <a:pt x="388064" y="405051"/>
                </a:cubicBezTo>
                <a:lnTo>
                  <a:pt x="344091" y="383064"/>
                </a:lnTo>
                <a:cubicBezTo>
                  <a:pt x="337423" y="379730"/>
                  <a:pt x="331867" y="374491"/>
                  <a:pt x="328136" y="368062"/>
                </a:cubicBezTo>
                <a:lnTo>
                  <a:pt x="302498" y="323771"/>
                </a:lnTo>
                <a:close/>
                <a:moveTo>
                  <a:pt x="203200" y="101600"/>
                </a:moveTo>
                <a:cubicBezTo>
                  <a:pt x="217219" y="101600"/>
                  <a:pt x="228600" y="90219"/>
                  <a:pt x="228600" y="76200"/>
                </a:cubicBezTo>
                <a:cubicBezTo>
                  <a:pt x="228600" y="62181"/>
                  <a:pt x="217219" y="50800"/>
                  <a:pt x="203200" y="50800"/>
                </a:cubicBezTo>
                <a:cubicBezTo>
                  <a:pt x="189181" y="50800"/>
                  <a:pt x="177800" y="62181"/>
                  <a:pt x="177800" y="76200"/>
                </a:cubicBezTo>
                <a:cubicBezTo>
                  <a:pt x="177800" y="90219"/>
                  <a:pt x="189181" y="101600"/>
                  <a:pt x="203200" y="101600"/>
                </a:cubicBezTo>
                <a:close/>
              </a:path>
            </a:pathLst>
          </a:custGeom>
          <a:solidFill>
            <a:srgbClr val="2563EB"/>
          </a:solidFill>
          <a:ln/>
        </p:spPr>
        <p:txBody>
          <a:bodyPr/>
          <a:lstStyle/>
          <a:p>
            <a:endParaRPr lang="en-US"/>
          </a:p>
        </p:txBody>
      </p:sp>
      <p:sp>
        <p:nvSpPr>
          <p:cNvPr id="24" name="Text 21"/>
          <p:cNvSpPr/>
          <p:nvPr/>
        </p:nvSpPr>
        <p:spPr>
          <a:xfrm>
            <a:off x="5143500" y="5524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2D Circuit Generation</a:t>
            </a:r>
            <a:r>
              <a:rPr lang="en-US" sz="1600" dirty="0">
                <a:solidFill>
                  <a:srgbClr val="1E293B"/>
                </a:solidFill>
                <a:latin typeface="Quattrocento Sans" pitchFamily="34" charset="0"/>
                <a:ea typeface="Quattrocento Sans" pitchFamily="34" charset="-122"/>
                <a:cs typeface="Quattrocento Sans" pitchFamily="34" charset="-120"/>
              </a:rPr>
              <a:t> — Schemdraw engine</a:t>
            </a:r>
            <a:endParaRPr lang="en-US" sz="1600" dirty="0"/>
          </a:p>
        </p:txBody>
      </p:sp>
      <p:sp>
        <p:nvSpPr>
          <p:cNvPr id="25" name="Shape 22"/>
          <p:cNvSpPr/>
          <p:nvPr/>
        </p:nvSpPr>
        <p:spPr>
          <a:xfrm>
            <a:off x="7975600" y="6184900"/>
            <a:ext cx="304800" cy="228600"/>
          </a:xfrm>
          <a:prstGeom prst="straightConnector1">
            <a:avLst/>
          </a:prstGeom>
          <a:noFill/>
          <a:ln w="25400">
            <a:solidFill>
              <a:srgbClr val="2563EB"/>
            </a:solidFill>
            <a:prstDash val="solid"/>
            <a:headEnd type="none"/>
            <a:tailEnd type="arrow"/>
          </a:ln>
        </p:spPr>
        <p:txBody>
          <a:bodyPr/>
          <a:lstStyle/>
          <a:p>
            <a:endParaRPr lang="en-US"/>
          </a:p>
        </p:txBody>
      </p:sp>
      <p:sp>
        <p:nvSpPr>
          <p:cNvPr id="26" name="Shape 23"/>
          <p:cNvSpPr/>
          <p:nvPr/>
        </p:nvSpPr>
        <p:spPr>
          <a:xfrm>
            <a:off x="4318000" y="6413500"/>
            <a:ext cx="7620000" cy="660400"/>
          </a:xfrm>
          <a:prstGeom prst="roundRect">
            <a:avLst>
              <a:gd name="adj" fmla="val 12000"/>
            </a:avLst>
          </a:prstGeom>
          <a:gradFill flip="none" rotWithShape="1">
            <a:gsLst>
              <a:gs pos="0">
                <a:srgbClr val="2563EB">
                  <a:alpha val="8000"/>
                </a:srgbClr>
              </a:gs>
              <a:gs pos="100000">
                <a:srgbClr val="7C3AED">
                  <a:alpha val="8000"/>
                </a:srgbClr>
              </a:gs>
            </a:gsLst>
            <a:lin ang="0" scaled="1"/>
          </a:gradFill>
          <a:ln w="12700">
            <a:solidFill>
              <a:srgbClr val="2563EB"/>
            </a:solidFill>
            <a:prstDash val="solid"/>
          </a:ln>
        </p:spPr>
        <p:txBody>
          <a:bodyPr/>
          <a:lstStyle/>
          <a:p>
            <a:endParaRPr lang="en-US"/>
          </a:p>
        </p:txBody>
      </p:sp>
      <p:sp>
        <p:nvSpPr>
          <p:cNvPr id="27" name="Shape 24"/>
          <p:cNvSpPr/>
          <p:nvPr/>
        </p:nvSpPr>
        <p:spPr>
          <a:xfrm>
            <a:off x="4572000" y="65405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10B981"/>
          </a:solidFill>
          <a:ln/>
        </p:spPr>
        <p:txBody>
          <a:bodyPr/>
          <a:lstStyle/>
          <a:p>
            <a:endParaRPr lang="en-US"/>
          </a:p>
        </p:txBody>
      </p:sp>
      <p:sp>
        <p:nvSpPr>
          <p:cNvPr id="28" name="Text 25"/>
          <p:cNvSpPr/>
          <p:nvPr/>
        </p:nvSpPr>
        <p:spPr>
          <a:xfrm>
            <a:off x="5143500" y="6413500"/>
            <a:ext cx="6540500" cy="660400"/>
          </a:xfrm>
          <a:prstGeom prst="rect">
            <a:avLst/>
          </a:prstGeom>
          <a:noFill/>
          <a:ln/>
        </p:spPr>
        <p:txBody>
          <a:bodyPr wrap="non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Final Blueprint</a:t>
            </a:r>
            <a:r>
              <a:rPr lang="en-US" sz="1600" dirty="0">
                <a:solidFill>
                  <a:srgbClr val="1E293B"/>
                </a:solidFill>
                <a:latin typeface="Quattrocento Sans" pitchFamily="34" charset="0"/>
                <a:ea typeface="Quattrocento Sans" pitchFamily="34" charset="-122"/>
                <a:cs typeface="Quattrocento Sans" pitchFamily="34" charset="-120"/>
              </a:rPr>
              <a:t> — Professional schematic</a:t>
            </a:r>
            <a:endParaRPr lang="en-US" sz="1600" dirty="0"/>
          </a:p>
        </p:txBody>
      </p:sp>
      <p:sp>
        <p:nvSpPr>
          <p:cNvPr id="29" name="Text 26"/>
          <p:cNvSpPr/>
          <p:nvPr/>
        </p:nvSpPr>
        <p:spPr>
          <a:xfrm>
            <a:off x="762000" y="7493000"/>
            <a:ext cx="3175000" cy="279400"/>
          </a:xfrm>
          <a:prstGeom prst="rect">
            <a:avLst/>
          </a:prstGeom>
          <a:noFill/>
          <a:ln/>
        </p:spPr>
        <p:txBody>
          <a:bodyPr wrap="none" lIns="0" tIns="0" rIns="0" bIns="0" rtlCol="0" anchor="ctr"/>
          <a:lstStyle/>
          <a:p>
            <a:pPr algn="l">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KEY TECHNOLOGIES</a:t>
            </a:r>
            <a:endParaRPr lang="en-US" sz="1400" dirty="0"/>
          </a:p>
        </p:txBody>
      </p:sp>
      <p:sp>
        <p:nvSpPr>
          <p:cNvPr id="30" name="Shape 27"/>
          <p:cNvSpPr/>
          <p:nvPr/>
        </p:nvSpPr>
        <p:spPr>
          <a:xfrm>
            <a:off x="762000" y="7874000"/>
            <a:ext cx="2476500" cy="381000"/>
          </a:xfrm>
          <a:prstGeom prst="roundRect">
            <a:avLst>
              <a:gd name="adj" fmla="val 50000"/>
            </a:avLst>
          </a:prstGeom>
          <a:solidFill>
            <a:srgbClr val="F1F5F9"/>
          </a:solidFill>
          <a:ln w="12700">
            <a:solidFill>
              <a:srgbClr val="E2E8F0"/>
            </a:solidFill>
            <a:prstDash val="solid"/>
          </a:ln>
        </p:spPr>
        <p:txBody>
          <a:bodyPr/>
          <a:lstStyle/>
          <a:p>
            <a:endParaRPr lang="en-US"/>
          </a:p>
        </p:txBody>
      </p:sp>
      <p:sp>
        <p:nvSpPr>
          <p:cNvPr id="31" name="Text 28"/>
          <p:cNvSpPr/>
          <p:nvPr/>
        </p:nvSpPr>
        <p:spPr>
          <a:xfrm>
            <a:off x="762000" y="7874000"/>
            <a:ext cx="24765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Liter" pitchFamily="34" charset="0"/>
                <a:ea typeface="Liter" pitchFamily="34" charset="-122"/>
                <a:cs typeface="Liter" pitchFamily="34" charset="-120"/>
              </a:rPr>
              <a:t>NLP</a:t>
            </a:r>
            <a:endParaRPr lang="en-US" sz="1300" dirty="0"/>
          </a:p>
        </p:txBody>
      </p:sp>
      <p:sp>
        <p:nvSpPr>
          <p:cNvPr id="32" name="Shape 29"/>
          <p:cNvSpPr/>
          <p:nvPr/>
        </p:nvSpPr>
        <p:spPr>
          <a:xfrm>
            <a:off x="3403600" y="7874000"/>
            <a:ext cx="2222500" cy="381000"/>
          </a:xfrm>
          <a:prstGeom prst="roundRect">
            <a:avLst>
              <a:gd name="adj" fmla="val 50000"/>
            </a:avLst>
          </a:prstGeom>
          <a:solidFill>
            <a:srgbClr val="F1F5F9"/>
          </a:solidFill>
          <a:ln w="12700">
            <a:solidFill>
              <a:srgbClr val="E2E8F0"/>
            </a:solidFill>
            <a:prstDash val="solid"/>
          </a:ln>
        </p:spPr>
        <p:txBody>
          <a:bodyPr/>
          <a:lstStyle/>
          <a:p>
            <a:endParaRPr lang="en-US"/>
          </a:p>
        </p:txBody>
      </p:sp>
      <p:sp>
        <p:nvSpPr>
          <p:cNvPr id="33" name="Text 30"/>
          <p:cNvSpPr/>
          <p:nvPr/>
        </p:nvSpPr>
        <p:spPr>
          <a:xfrm>
            <a:off x="3403600" y="7874000"/>
            <a:ext cx="22225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Liter" pitchFamily="34" charset="0"/>
                <a:ea typeface="Liter" pitchFamily="34" charset="-122"/>
                <a:cs typeface="Liter" pitchFamily="34" charset="-120"/>
              </a:rPr>
              <a:t>PROMPT ENGINEERING</a:t>
            </a:r>
            <a:endParaRPr lang="en-US" sz="1300" dirty="0"/>
          </a:p>
        </p:txBody>
      </p:sp>
      <p:sp>
        <p:nvSpPr>
          <p:cNvPr id="34" name="Shape 31"/>
          <p:cNvSpPr/>
          <p:nvPr/>
        </p:nvSpPr>
        <p:spPr>
          <a:xfrm>
            <a:off x="5791200" y="7874000"/>
            <a:ext cx="1841500" cy="381000"/>
          </a:xfrm>
          <a:prstGeom prst="roundRect">
            <a:avLst>
              <a:gd name="adj" fmla="val 50000"/>
            </a:avLst>
          </a:prstGeom>
          <a:solidFill>
            <a:srgbClr val="F1F5F9"/>
          </a:solidFill>
          <a:ln w="12700">
            <a:solidFill>
              <a:srgbClr val="E2E8F0"/>
            </a:solidFill>
            <a:prstDash val="solid"/>
          </a:ln>
        </p:spPr>
        <p:txBody>
          <a:bodyPr/>
          <a:lstStyle/>
          <a:p>
            <a:endParaRPr lang="en-US"/>
          </a:p>
        </p:txBody>
      </p:sp>
      <p:sp>
        <p:nvSpPr>
          <p:cNvPr id="35" name="Text 32"/>
          <p:cNvSpPr/>
          <p:nvPr/>
        </p:nvSpPr>
        <p:spPr>
          <a:xfrm>
            <a:off x="5791200" y="7874000"/>
            <a:ext cx="18415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Liter" pitchFamily="34" charset="0"/>
                <a:ea typeface="Liter" pitchFamily="34" charset="-122"/>
                <a:cs typeface="Liter" pitchFamily="34" charset="-120"/>
              </a:rPr>
              <a:t>LLM REASONING</a:t>
            </a:r>
            <a:endParaRPr lang="en-US" sz="1300" dirty="0"/>
          </a:p>
        </p:txBody>
      </p:sp>
      <p:sp>
        <p:nvSpPr>
          <p:cNvPr id="36" name="Shape 33"/>
          <p:cNvSpPr/>
          <p:nvPr/>
        </p:nvSpPr>
        <p:spPr>
          <a:xfrm>
            <a:off x="7797800" y="7874000"/>
            <a:ext cx="3111500" cy="381000"/>
          </a:xfrm>
          <a:prstGeom prst="roundRect">
            <a:avLst>
              <a:gd name="adj" fmla="val 50000"/>
            </a:avLst>
          </a:prstGeom>
          <a:solidFill>
            <a:srgbClr val="F1F5F9"/>
          </a:solidFill>
          <a:ln w="12700">
            <a:solidFill>
              <a:srgbClr val="E2E8F0"/>
            </a:solidFill>
            <a:prstDash val="solid"/>
          </a:ln>
        </p:spPr>
        <p:txBody>
          <a:bodyPr/>
          <a:lstStyle/>
          <a:p>
            <a:endParaRPr lang="en-US"/>
          </a:p>
        </p:txBody>
      </p:sp>
      <p:sp>
        <p:nvSpPr>
          <p:cNvPr id="37" name="Text 34"/>
          <p:cNvSpPr/>
          <p:nvPr/>
        </p:nvSpPr>
        <p:spPr>
          <a:xfrm>
            <a:off x="7797800" y="7874000"/>
            <a:ext cx="31115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Liter" pitchFamily="34" charset="0"/>
                <a:ea typeface="Liter" pitchFamily="34" charset="-122"/>
                <a:cs typeface="Liter" pitchFamily="34" charset="-120"/>
              </a:rPr>
              <a:t>AUTO SCHEMATIC GENERATION</a:t>
            </a:r>
            <a:endParaRPr lang="en-US" sz="1300" dirty="0"/>
          </a:p>
        </p:txBody>
      </p:sp>
      <p:sp>
        <p:nvSpPr>
          <p:cNvPr id="38" name="Shape 35"/>
          <p:cNvSpPr/>
          <p:nvPr/>
        </p:nvSpPr>
        <p:spPr>
          <a:xfrm>
            <a:off x="762000" y="1968500"/>
            <a:ext cx="3175000" cy="1651000"/>
          </a:xfrm>
          <a:prstGeom prst="roundRect">
            <a:avLst>
              <a:gd name="adj" fmla="val 8000"/>
            </a:avLst>
          </a:prstGeom>
          <a:solidFill>
            <a:srgbClr val="F1F5F9"/>
          </a:solidFill>
          <a:ln w="12700">
            <a:solidFill>
              <a:srgbClr val="E2E8F0"/>
            </a:solidFill>
            <a:prstDash val="solid"/>
          </a:ln>
        </p:spPr>
        <p:txBody>
          <a:bodyPr/>
          <a:lstStyle/>
          <a:p>
            <a:endParaRPr lang="en-US"/>
          </a:p>
        </p:txBody>
      </p:sp>
      <p:sp>
        <p:nvSpPr>
          <p:cNvPr id="39" name="Text 36"/>
          <p:cNvSpPr/>
          <p:nvPr/>
        </p:nvSpPr>
        <p:spPr>
          <a:xfrm>
            <a:off x="952500" y="2070100"/>
            <a:ext cx="2794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EXAMPLE INPUT</a:t>
            </a:r>
            <a:endParaRPr lang="en-US" sz="1200" dirty="0"/>
          </a:p>
        </p:txBody>
      </p:sp>
      <p:sp>
        <p:nvSpPr>
          <p:cNvPr id="40" name="Text 37"/>
          <p:cNvSpPr/>
          <p:nvPr/>
        </p:nvSpPr>
        <p:spPr>
          <a:xfrm>
            <a:off x="952500" y="2387600"/>
            <a:ext cx="2794000" cy="1079500"/>
          </a:xfrm>
          <a:prstGeom prst="rect">
            <a:avLst/>
          </a:prstGeom>
          <a:noFill/>
          <a:ln/>
        </p:spPr>
        <p:txBody>
          <a:bodyPr wrap="square" lIns="0" tIns="0" rIns="0" bIns="0" rtlCol="0" anchor="t"/>
          <a:lstStyle/>
          <a:p>
            <a:pPr algn="l">
              <a:lnSpc>
                <a:spcPct val="150000"/>
              </a:lnSpc>
            </a:pPr>
            <a:r>
              <a:rPr lang="en-US" sz="1400" i="1" dirty="0">
                <a:solidFill>
                  <a:srgbClr val="1E293B"/>
                </a:solidFill>
                <a:latin typeface="Quattrocento Sans" pitchFamily="34" charset="0"/>
                <a:ea typeface="Quattrocento Sans" pitchFamily="34" charset="-122"/>
                <a:cs typeface="Quattrocento Sans" pitchFamily="34" charset="-120"/>
              </a:rPr>
              <a:t>"I need a 12V to 5V voltage regulator using LM7805 with an LED indicator."</a:t>
            </a:r>
            <a:endParaRPr lang="en-US" sz="1400" dirty="0"/>
          </a:p>
        </p:txBody>
      </p:sp>
      <p:sp>
        <p:nvSpPr>
          <p:cNvPr id="41" name="Text 38"/>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03 / 09</a:t>
            </a:r>
            <a:endParaRPr lang="en-US" sz="1400" dirty="0"/>
          </a:p>
        </p:txBody>
      </p:sp>
      <p:sp>
        <p:nvSpPr>
          <p:cNvPr id="42" name="TextBox 41">
            <a:extLst>
              <a:ext uri="{FF2B5EF4-FFF2-40B4-BE49-F238E27FC236}">
                <a16:creationId xmlns:a16="http://schemas.microsoft.com/office/drawing/2014/main" id="{5B0DE79E-2175-13CB-FA0D-8E8C52C01FB0}"/>
              </a:ext>
            </a:extLst>
          </p:cNvPr>
          <p:cNvSpPr txBox="1"/>
          <p:nvPr/>
        </p:nvSpPr>
        <p:spPr>
          <a:xfrm>
            <a:off x="4064977" y="4387334"/>
            <a:ext cx="8129954" cy="369332"/>
          </a:xfrm>
          <a:prstGeom prst="rect">
            <a:avLst/>
          </a:prstGeom>
          <a:noFill/>
        </p:spPr>
        <p:txBody>
          <a:bodyPr wrap="square">
            <a:spAutoFit/>
          </a:bodyPr>
          <a:lstStyle/>
          <a:p>
            <a:endParaRPr lang="en-US"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635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System Architecture</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889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How the Components Work Together</a:t>
            </a:r>
            <a:endParaRPr lang="en-US" sz="1800" dirty="0"/>
          </a:p>
        </p:txBody>
      </p:sp>
      <p:sp>
        <p:nvSpPr>
          <p:cNvPr id="6" name="Shape 3"/>
          <p:cNvSpPr/>
          <p:nvPr/>
        </p:nvSpPr>
        <p:spPr>
          <a:xfrm>
            <a:off x="762000" y="19685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7" name="Shape 4"/>
          <p:cNvSpPr/>
          <p:nvPr/>
        </p:nvSpPr>
        <p:spPr>
          <a:xfrm>
            <a:off x="990600" y="2070100"/>
            <a:ext cx="355600" cy="355600"/>
          </a:xfrm>
          <a:custGeom>
            <a:avLst/>
            <a:gdLst/>
            <a:ahLst/>
            <a:cxnLst/>
            <a:rect l="l" t="t" r="r" b="b"/>
            <a:pathLst>
              <a:path w="355600" h="355600">
                <a:moveTo>
                  <a:pt x="177800" y="172244"/>
                </a:moveTo>
                <a:cubicBezTo>
                  <a:pt x="230370" y="172244"/>
                  <a:pt x="273050" y="134899"/>
                  <a:pt x="273050" y="88900"/>
                </a:cubicBezTo>
                <a:cubicBezTo>
                  <a:pt x="273050" y="42901"/>
                  <a:pt x="230370" y="5556"/>
                  <a:pt x="177800" y="5556"/>
                </a:cubicBezTo>
                <a:cubicBezTo>
                  <a:pt x="125230" y="5556"/>
                  <a:pt x="82550" y="42901"/>
                  <a:pt x="82550" y="88900"/>
                </a:cubicBezTo>
                <a:cubicBezTo>
                  <a:pt x="82550" y="134899"/>
                  <a:pt x="125230" y="172244"/>
                  <a:pt x="177800" y="172244"/>
                </a:cubicBezTo>
                <a:close/>
                <a:moveTo>
                  <a:pt x="154226" y="211138"/>
                </a:moveTo>
                <a:cubicBezTo>
                  <a:pt x="76041" y="211138"/>
                  <a:pt x="12700" y="266561"/>
                  <a:pt x="12700" y="334972"/>
                </a:cubicBezTo>
                <a:cubicBezTo>
                  <a:pt x="12700" y="346363"/>
                  <a:pt x="23257" y="355600"/>
                  <a:pt x="36274" y="355600"/>
                </a:cubicBezTo>
                <a:lnTo>
                  <a:pt x="319326" y="355600"/>
                </a:lnTo>
                <a:cubicBezTo>
                  <a:pt x="332343" y="355600"/>
                  <a:pt x="342900" y="346363"/>
                  <a:pt x="342900" y="334972"/>
                </a:cubicBezTo>
                <a:cubicBezTo>
                  <a:pt x="342900" y="266561"/>
                  <a:pt x="279559" y="211138"/>
                  <a:pt x="201374" y="211138"/>
                </a:cubicBezTo>
                <a:lnTo>
                  <a:pt x="154226" y="211138"/>
                </a:lnTo>
                <a:close/>
              </a:path>
            </a:pathLst>
          </a:custGeom>
          <a:solidFill>
            <a:srgbClr val="2563EB"/>
          </a:solidFill>
          <a:ln/>
        </p:spPr>
        <p:txBody>
          <a:bodyPr/>
          <a:lstStyle/>
          <a:p>
            <a:endParaRPr lang="en-US"/>
          </a:p>
        </p:txBody>
      </p:sp>
      <p:sp>
        <p:nvSpPr>
          <p:cNvPr id="8" name="Text 5"/>
          <p:cNvSpPr/>
          <p:nvPr/>
        </p:nvSpPr>
        <p:spPr>
          <a:xfrm>
            <a:off x="1473200" y="19685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User</a:t>
            </a:r>
            <a:endParaRPr lang="en-US" sz="1500" dirty="0"/>
          </a:p>
        </p:txBody>
      </p:sp>
      <p:sp>
        <p:nvSpPr>
          <p:cNvPr id="9" name="Shape 6"/>
          <p:cNvSpPr/>
          <p:nvPr/>
        </p:nvSpPr>
        <p:spPr>
          <a:xfrm>
            <a:off x="2971800" y="2552700"/>
            <a:ext cx="0" cy="254000"/>
          </a:xfrm>
          <a:prstGeom prst="straightConnector1">
            <a:avLst/>
          </a:prstGeom>
          <a:noFill/>
          <a:ln w="25400">
            <a:solidFill>
              <a:srgbClr val="2563EB"/>
            </a:solidFill>
            <a:prstDash val="solid"/>
            <a:headEnd type="none"/>
            <a:tailEnd type="arrow"/>
          </a:ln>
        </p:spPr>
        <p:txBody>
          <a:bodyPr/>
          <a:lstStyle/>
          <a:p>
            <a:endParaRPr lang="en-US"/>
          </a:p>
        </p:txBody>
      </p:sp>
      <p:sp>
        <p:nvSpPr>
          <p:cNvPr id="10" name="Shape 7"/>
          <p:cNvSpPr/>
          <p:nvPr/>
        </p:nvSpPr>
        <p:spPr>
          <a:xfrm>
            <a:off x="762000" y="28067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11" name="Shape 8"/>
          <p:cNvSpPr/>
          <p:nvPr/>
        </p:nvSpPr>
        <p:spPr>
          <a:xfrm>
            <a:off x="990600" y="2908300"/>
            <a:ext cx="355600" cy="355600"/>
          </a:xfrm>
          <a:custGeom>
            <a:avLst/>
            <a:gdLst/>
            <a:ahLst/>
            <a:cxnLst/>
            <a:rect l="l" t="t" r="r" b="b"/>
            <a:pathLst>
              <a:path w="355600" h="355600">
                <a:moveTo>
                  <a:pt x="44450" y="22225"/>
                </a:moveTo>
                <a:cubicBezTo>
                  <a:pt x="19933" y="22225"/>
                  <a:pt x="0" y="42158"/>
                  <a:pt x="0" y="66675"/>
                </a:cubicBezTo>
                <a:lnTo>
                  <a:pt x="0" y="244475"/>
                </a:lnTo>
                <a:cubicBezTo>
                  <a:pt x="0" y="268992"/>
                  <a:pt x="19933" y="288925"/>
                  <a:pt x="44450" y="288925"/>
                </a:cubicBezTo>
                <a:lnTo>
                  <a:pt x="144463" y="288925"/>
                </a:lnTo>
                <a:lnTo>
                  <a:pt x="133350" y="322263"/>
                </a:lnTo>
                <a:lnTo>
                  <a:pt x="83344" y="322263"/>
                </a:lnTo>
                <a:cubicBezTo>
                  <a:pt x="74106" y="322263"/>
                  <a:pt x="66675" y="329694"/>
                  <a:pt x="66675" y="338931"/>
                </a:cubicBezTo>
                <a:cubicBezTo>
                  <a:pt x="66675" y="348169"/>
                  <a:pt x="74106" y="355600"/>
                  <a:pt x="83344" y="355600"/>
                </a:cubicBezTo>
                <a:lnTo>
                  <a:pt x="272256" y="355600"/>
                </a:lnTo>
                <a:cubicBezTo>
                  <a:pt x="281494" y="355600"/>
                  <a:pt x="288925" y="348169"/>
                  <a:pt x="288925" y="338931"/>
                </a:cubicBezTo>
                <a:cubicBezTo>
                  <a:pt x="288925" y="329694"/>
                  <a:pt x="281494" y="322263"/>
                  <a:pt x="272256" y="322263"/>
                </a:cubicBezTo>
                <a:lnTo>
                  <a:pt x="222250" y="322263"/>
                </a:lnTo>
                <a:lnTo>
                  <a:pt x="211138" y="288925"/>
                </a:lnTo>
                <a:lnTo>
                  <a:pt x="311150" y="288925"/>
                </a:lnTo>
                <a:cubicBezTo>
                  <a:pt x="335667" y="288925"/>
                  <a:pt x="355600" y="268992"/>
                  <a:pt x="355600" y="244475"/>
                </a:cubicBezTo>
                <a:lnTo>
                  <a:pt x="355600" y="66675"/>
                </a:lnTo>
                <a:cubicBezTo>
                  <a:pt x="355600" y="42158"/>
                  <a:pt x="335667" y="22225"/>
                  <a:pt x="311150" y="22225"/>
                </a:cubicBezTo>
                <a:lnTo>
                  <a:pt x="44450" y="22225"/>
                </a:lnTo>
                <a:close/>
                <a:moveTo>
                  <a:pt x="66675" y="66675"/>
                </a:moveTo>
                <a:lnTo>
                  <a:pt x="288925" y="66675"/>
                </a:lnTo>
                <a:cubicBezTo>
                  <a:pt x="301218" y="66675"/>
                  <a:pt x="311150" y="76607"/>
                  <a:pt x="311150" y="88900"/>
                </a:cubicBezTo>
                <a:lnTo>
                  <a:pt x="311150" y="200025"/>
                </a:lnTo>
                <a:cubicBezTo>
                  <a:pt x="311150" y="212318"/>
                  <a:pt x="301218" y="222250"/>
                  <a:pt x="288925" y="222250"/>
                </a:cubicBezTo>
                <a:lnTo>
                  <a:pt x="66675" y="222250"/>
                </a:lnTo>
                <a:cubicBezTo>
                  <a:pt x="54382" y="222250"/>
                  <a:pt x="44450" y="212318"/>
                  <a:pt x="44450" y="200025"/>
                </a:cubicBezTo>
                <a:lnTo>
                  <a:pt x="44450" y="88900"/>
                </a:lnTo>
                <a:cubicBezTo>
                  <a:pt x="44450" y="76607"/>
                  <a:pt x="54382" y="66675"/>
                  <a:pt x="66675" y="66675"/>
                </a:cubicBezTo>
                <a:close/>
              </a:path>
            </a:pathLst>
          </a:custGeom>
          <a:solidFill>
            <a:srgbClr val="7C3AED"/>
          </a:solidFill>
          <a:ln/>
        </p:spPr>
        <p:txBody>
          <a:bodyPr/>
          <a:lstStyle/>
          <a:p>
            <a:endParaRPr lang="en-US"/>
          </a:p>
        </p:txBody>
      </p:sp>
      <p:sp>
        <p:nvSpPr>
          <p:cNvPr id="12" name="Text 9"/>
          <p:cNvSpPr/>
          <p:nvPr/>
        </p:nvSpPr>
        <p:spPr>
          <a:xfrm>
            <a:off x="1473200" y="28067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Streamlit Interface</a:t>
            </a:r>
            <a:r>
              <a:rPr lang="en-US" sz="1500" dirty="0">
                <a:solidFill>
                  <a:srgbClr val="1E293B"/>
                </a:solidFill>
                <a:latin typeface="Quattrocento Sans" pitchFamily="34" charset="0"/>
                <a:ea typeface="Quattrocento Sans" pitchFamily="34" charset="-122"/>
                <a:cs typeface="Quattrocento Sans" pitchFamily="34" charset="-120"/>
              </a:rPr>
              <a:t> — Web UI</a:t>
            </a:r>
            <a:endParaRPr lang="en-US" sz="1500" dirty="0"/>
          </a:p>
        </p:txBody>
      </p:sp>
      <p:sp>
        <p:nvSpPr>
          <p:cNvPr id="13" name="Shape 10"/>
          <p:cNvSpPr/>
          <p:nvPr/>
        </p:nvSpPr>
        <p:spPr>
          <a:xfrm>
            <a:off x="2971800" y="3390900"/>
            <a:ext cx="0" cy="254000"/>
          </a:xfrm>
          <a:prstGeom prst="straightConnector1">
            <a:avLst/>
          </a:prstGeom>
          <a:noFill/>
          <a:ln w="25400">
            <a:solidFill>
              <a:srgbClr val="7C3AED"/>
            </a:solidFill>
            <a:prstDash val="solid"/>
            <a:headEnd type="none"/>
            <a:tailEnd type="arrow"/>
          </a:ln>
        </p:spPr>
        <p:txBody>
          <a:bodyPr/>
          <a:lstStyle/>
          <a:p>
            <a:endParaRPr lang="en-US"/>
          </a:p>
        </p:txBody>
      </p:sp>
      <p:sp>
        <p:nvSpPr>
          <p:cNvPr id="14" name="Shape 11"/>
          <p:cNvSpPr/>
          <p:nvPr/>
        </p:nvSpPr>
        <p:spPr>
          <a:xfrm>
            <a:off x="762000" y="36449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15" name="Shape 12"/>
          <p:cNvSpPr/>
          <p:nvPr/>
        </p:nvSpPr>
        <p:spPr>
          <a:xfrm>
            <a:off x="990600" y="3746500"/>
            <a:ext cx="355600" cy="355600"/>
          </a:xfrm>
          <a:custGeom>
            <a:avLst/>
            <a:gdLst/>
            <a:ahLst/>
            <a:cxnLst/>
            <a:rect l="l" t="t" r="r" b="b"/>
            <a:pathLst>
              <a:path w="355600" h="355600">
                <a:moveTo>
                  <a:pt x="280591" y="0"/>
                </a:moveTo>
                <a:cubicBezTo>
                  <a:pt x="293926" y="0"/>
                  <a:pt x="306705" y="5278"/>
                  <a:pt x="316081" y="14724"/>
                </a:cubicBezTo>
                <a:lnTo>
                  <a:pt x="340876" y="39519"/>
                </a:lnTo>
                <a:cubicBezTo>
                  <a:pt x="350322" y="48895"/>
                  <a:pt x="355600" y="61674"/>
                  <a:pt x="355600" y="75009"/>
                </a:cubicBezTo>
                <a:cubicBezTo>
                  <a:pt x="355600" y="88344"/>
                  <a:pt x="350322" y="101124"/>
                  <a:pt x="340876" y="110500"/>
                </a:cubicBezTo>
                <a:lnTo>
                  <a:pt x="309691" y="141684"/>
                </a:lnTo>
                <a:lnTo>
                  <a:pt x="213916" y="45909"/>
                </a:lnTo>
                <a:lnTo>
                  <a:pt x="245100" y="14724"/>
                </a:lnTo>
                <a:cubicBezTo>
                  <a:pt x="254476" y="5278"/>
                  <a:pt x="267256" y="0"/>
                  <a:pt x="280591" y="0"/>
                </a:cubicBezTo>
                <a:close/>
                <a:moveTo>
                  <a:pt x="40908" y="218847"/>
                </a:moveTo>
                <a:lnTo>
                  <a:pt x="190371" y="69453"/>
                </a:lnTo>
                <a:lnTo>
                  <a:pt x="286147" y="165229"/>
                </a:lnTo>
                <a:lnTo>
                  <a:pt x="136753" y="314692"/>
                </a:lnTo>
                <a:cubicBezTo>
                  <a:pt x="129322" y="322124"/>
                  <a:pt x="120015" y="327541"/>
                  <a:pt x="109875" y="330389"/>
                </a:cubicBezTo>
                <a:lnTo>
                  <a:pt x="21114" y="354975"/>
                </a:lnTo>
                <a:cubicBezTo>
                  <a:pt x="15349" y="356572"/>
                  <a:pt x="9098" y="354975"/>
                  <a:pt x="4862" y="350669"/>
                </a:cubicBezTo>
                <a:cubicBezTo>
                  <a:pt x="625" y="346363"/>
                  <a:pt x="-1042" y="340181"/>
                  <a:pt x="556" y="334417"/>
                </a:cubicBezTo>
                <a:lnTo>
                  <a:pt x="25281" y="245725"/>
                </a:lnTo>
                <a:cubicBezTo>
                  <a:pt x="28129" y="235585"/>
                  <a:pt x="33476" y="226348"/>
                  <a:pt x="40977" y="218847"/>
                </a:cubicBezTo>
                <a:close/>
                <a:moveTo>
                  <a:pt x="156547" y="56118"/>
                </a:moveTo>
                <a:lnTo>
                  <a:pt x="56118" y="156547"/>
                </a:lnTo>
                <a:lnTo>
                  <a:pt x="8126" y="108555"/>
                </a:lnTo>
                <a:cubicBezTo>
                  <a:pt x="-2709" y="97721"/>
                  <a:pt x="-2709" y="80149"/>
                  <a:pt x="8126" y="69245"/>
                </a:cubicBezTo>
                <a:lnTo>
                  <a:pt x="69245" y="8126"/>
                </a:lnTo>
                <a:cubicBezTo>
                  <a:pt x="80079" y="-2709"/>
                  <a:pt x="97651" y="-2709"/>
                  <a:pt x="108555" y="8126"/>
                </a:cubicBezTo>
                <a:lnTo>
                  <a:pt x="112653" y="12224"/>
                </a:lnTo>
                <a:lnTo>
                  <a:pt x="73551" y="51326"/>
                </a:lnTo>
                <a:cubicBezTo>
                  <a:pt x="68134" y="56743"/>
                  <a:pt x="68134" y="65564"/>
                  <a:pt x="73551" y="70981"/>
                </a:cubicBezTo>
                <a:cubicBezTo>
                  <a:pt x="78968" y="76398"/>
                  <a:pt x="87789" y="76398"/>
                  <a:pt x="93206" y="70981"/>
                </a:cubicBezTo>
                <a:lnTo>
                  <a:pt x="132308" y="31879"/>
                </a:lnTo>
                <a:lnTo>
                  <a:pt x="156547" y="56118"/>
                </a:lnTo>
                <a:close/>
                <a:moveTo>
                  <a:pt x="299482" y="199053"/>
                </a:moveTo>
                <a:lnTo>
                  <a:pt x="323721" y="223292"/>
                </a:lnTo>
                <a:lnTo>
                  <a:pt x="284619" y="262394"/>
                </a:lnTo>
                <a:cubicBezTo>
                  <a:pt x="279202" y="267811"/>
                  <a:pt x="279202" y="276632"/>
                  <a:pt x="284619" y="282049"/>
                </a:cubicBezTo>
                <a:cubicBezTo>
                  <a:pt x="290036" y="287466"/>
                  <a:pt x="298857" y="287466"/>
                  <a:pt x="304274" y="282049"/>
                </a:cubicBezTo>
                <a:lnTo>
                  <a:pt x="343376" y="242947"/>
                </a:lnTo>
                <a:lnTo>
                  <a:pt x="347474" y="247045"/>
                </a:lnTo>
                <a:cubicBezTo>
                  <a:pt x="358309" y="257879"/>
                  <a:pt x="358309" y="275451"/>
                  <a:pt x="347474" y="286355"/>
                </a:cubicBezTo>
                <a:lnTo>
                  <a:pt x="286355" y="347474"/>
                </a:lnTo>
                <a:cubicBezTo>
                  <a:pt x="275521" y="358309"/>
                  <a:pt x="257949" y="358309"/>
                  <a:pt x="247045" y="347474"/>
                </a:cubicBezTo>
                <a:lnTo>
                  <a:pt x="199053" y="299482"/>
                </a:lnTo>
                <a:lnTo>
                  <a:pt x="299482" y="199053"/>
                </a:lnTo>
                <a:close/>
              </a:path>
            </a:pathLst>
          </a:custGeom>
          <a:solidFill>
            <a:srgbClr val="2563EB"/>
          </a:solidFill>
          <a:ln/>
        </p:spPr>
        <p:txBody>
          <a:bodyPr/>
          <a:lstStyle/>
          <a:p>
            <a:endParaRPr lang="en-US"/>
          </a:p>
        </p:txBody>
      </p:sp>
      <p:sp>
        <p:nvSpPr>
          <p:cNvPr id="16" name="Text 13"/>
          <p:cNvSpPr/>
          <p:nvPr/>
        </p:nvSpPr>
        <p:spPr>
          <a:xfrm>
            <a:off x="1473200" y="36449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Prompt Engineering</a:t>
            </a:r>
            <a:r>
              <a:rPr lang="en-US" sz="1500" dirty="0">
                <a:solidFill>
                  <a:srgbClr val="1E293B"/>
                </a:solidFill>
                <a:latin typeface="Quattrocento Sans" pitchFamily="34" charset="0"/>
                <a:ea typeface="Quattrocento Sans" pitchFamily="34" charset="-122"/>
                <a:cs typeface="Quattrocento Sans" pitchFamily="34" charset="-120"/>
              </a:rPr>
              <a:t> — Structured request</a:t>
            </a:r>
            <a:endParaRPr lang="en-US" sz="1500" dirty="0"/>
          </a:p>
        </p:txBody>
      </p:sp>
      <p:sp>
        <p:nvSpPr>
          <p:cNvPr id="17" name="Shape 14"/>
          <p:cNvSpPr/>
          <p:nvPr/>
        </p:nvSpPr>
        <p:spPr>
          <a:xfrm>
            <a:off x="5334000" y="3937000"/>
            <a:ext cx="762000" cy="0"/>
          </a:xfrm>
          <a:prstGeom prst="straightConnector1">
            <a:avLst/>
          </a:prstGeom>
          <a:noFill/>
          <a:ln w="25400">
            <a:solidFill>
              <a:srgbClr val="2563EB"/>
            </a:solidFill>
            <a:prstDash val="solid"/>
            <a:headEnd type="none"/>
            <a:tailEnd type="arrow"/>
          </a:ln>
        </p:spPr>
        <p:txBody>
          <a:bodyPr/>
          <a:lstStyle/>
          <a:p>
            <a:endParaRPr lang="en-US"/>
          </a:p>
        </p:txBody>
      </p:sp>
      <p:sp>
        <p:nvSpPr>
          <p:cNvPr id="18" name="Shape 15"/>
          <p:cNvSpPr/>
          <p:nvPr/>
        </p:nvSpPr>
        <p:spPr>
          <a:xfrm>
            <a:off x="6096000" y="3644900"/>
            <a:ext cx="4572000" cy="584200"/>
          </a:xfrm>
          <a:prstGeom prst="roundRect">
            <a:avLst>
              <a:gd name="adj" fmla="val 10000"/>
            </a:avLst>
          </a:prstGeom>
          <a:gradFill flip="none" rotWithShape="1">
            <a:gsLst>
              <a:gs pos="0">
                <a:srgbClr val="2563EB">
                  <a:alpha val="9000"/>
                </a:srgbClr>
              </a:gs>
              <a:gs pos="100000">
                <a:srgbClr val="7C3AED">
                  <a:alpha val="9000"/>
                </a:srgbClr>
              </a:gs>
            </a:gsLst>
            <a:lin ang="0" scaled="1"/>
          </a:gradFill>
          <a:ln w="12700">
            <a:solidFill>
              <a:srgbClr val="2563EB"/>
            </a:solidFill>
            <a:prstDash val="solid"/>
          </a:ln>
        </p:spPr>
        <p:txBody>
          <a:bodyPr/>
          <a:lstStyle/>
          <a:p>
            <a:endParaRPr lang="en-US"/>
          </a:p>
        </p:txBody>
      </p:sp>
      <p:sp>
        <p:nvSpPr>
          <p:cNvPr id="19" name="Shape 16"/>
          <p:cNvSpPr/>
          <p:nvPr/>
        </p:nvSpPr>
        <p:spPr>
          <a:xfrm>
            <a:off x="6324600" y="3746500"/>
            <a:ext cx="355600" cy="355600"/>
          </a:xfrm>
          <a:custGeom>
            <a:avLst/>
            <a:gdLst/>
            <a:ahLst/>
            <a:cxnLst/>
            <a:rect l="l" t="t" r="r" b="b"/>
            <a:pathLst>
              <a:path w="355600" h="355600">
                <a:moveTo>
                  <a:pt x="195580" y="0"/>
                </a:moveTo>
                <a:cubicBezTo>
                  <a:pt x="195580" y="-12293"/>
                  <a:pt x="187635" y="-22225"/>
                  <a:pt x="177800" y="-22225"/>
                </a:cubicBezTo>
                <a:cubicBezTo>
                  <a:pt x="167965" y="-22225"/>
                  <a:pt x="160020" y="-12293"/>
                  <a:pt x="160020" y="0"/>
                </a:cubicBezTo>
                <a:lnTo>
                  <a:pt x="160020" y="44450"/>
                </a:lnTo>
                <a:lnTo>
                  <a:pt x="106680" y="44450"/>
                </a:lnTo>
                <a:cubicBezTo>
                  <a:pt x="77232" y="44450"/>
                  <a:pt x="53340" y="74315"/>
                  <a:pt x="53340" y="111125"/>
                </a:cubicBezTo>
                <a:lnTo>
                  <a:pt x="53340" y="266700"/>
                </a:lnTo>
                <a:cubicBezTo>
                  <a:pt x="53340" y="303510"/>
                  <a:pt x="77232" y="333375"/>
                  <a:pt x="106680" y="333375"/>
                </a:cubicBezTo>
                <a:lnTo>
                  <a:pt x="248920" y="333375"/>
                </a:lnTo>
                <a:cubicBezTo>
                  <a:pt x="278368" y="333375"/>
                  <a:pt x="302260" y="303510"/>
                  <a:pt x="302260" y="266700"/>
                </a:cubicBezTo>
                <a:lnTo>
                  <a:pt x="302260" y="111125"/>
                </a:lnTo>
                <a:cubicBezTo>
                  <a:pt x="302260" y="74315"/>
                  <a:pt x="278368" y="44450"/>
                  <a:pt x="248920" y="44450"/>
                </a:cubicBezTo>
                <a:lnTo>
                  <a:pt x="195580" y="44450"/>
                </a:lnTo>
                <a:lnTo>
                  <a:pt x="195580" y="0"/>
                </a:lnTo>
                <a:close/>
                <a:moveTo>
                  <a:pt x="88900" y="255587"/>
                </a:moveTo>
                <a:cubicBezTo>
                  <a:pt x="88900" y="246350"/>
                  <a:pt x="94845" y="238919"/>
                  <a:pt x="102235" y="238919"/>
                </a:cubicBezTo>
                <a:lnTo>
                  <a:pt x="120015" y="238919"/>
                </a:lnTo>
                <a:cubicBezTo>
                  <a:pt x="127405" y="238919"/>
                  <a:pt x="133350" y="246350"/>
                  <a:pt x="133350" y="255587"/>
                </a:cubicBezTo>
                <a:cubicBezTo>
                  <a:pt x="133350" y="264825"/>
                  <a:pt x="127405" y="272256"/>
                  <a:pt x="120015" y="272256"/>
                </a:cubicBezTo>
                <a:lnTo>
                  <a:pt x="102235" y="272256"/>
                </a:lnTo>
                <a:cubicBezTo>
                  <a:pt x="94845" y="272256"/>
                  <a:pt x="88900" y="264825"/>
                  <a:pt x="88900" y="255587"/>
                </a:cubicBezTo>
                <a:close/>
                <a:moveTo>
                  <a:pt x="155575" y="255587"/>
                </a:moveTo>
                <a:cubicBezTo>
                  <a:pt x="155575" y="246350"/>
                  <a:pt x="161520" y="238919"/>
                  <a:pt x="168910" y="238919"/>
                </a:cubicBezTo>
                <a:lnTo>
                  <a:pt x="186690" y="238919"/>
                </a:lnTo>
                <a:cubicBezTo>
                  <a:pt x="194080" y="238919"/>
                  <a:pt x="200025" y="246350"/>
                  <a:pt x="200025" y="255587"/>
                </a:cubicBezTo>
                <a:cubicBezTo>
                  <a:pt x="200025" y="264825"/>
                  <a:pt x="194080" y="272256"/>
                  <a:pt x="186690" y="272256"/>
                </a:cubicBezTo>
                <a:lnTo>
                  <a:pt x="168910" y="272256"/>
                </a:lnTo>
                <a:cubicBezTo>
                  <a:pt x="161520" y="272256"/>
                  <a:pt x="155575" y="264825"/>
                  <a:pt x="155575" y="255587"/>
                </a:cubicBezTo>
                <a:close/>
                <a:moveTo>
                  <a:pt x="222250" y="255587"/>
                </a:moveTo>
                <a:cubicBezTo>
                  <a:pt x="222250" y="246350"/>
                  <a:pt x="228195" y="238919"/>
                  <a:pt x="235585" y="238919"/>
                </a:cubicBezTo>
                <a:lnTo>
                  <a:pt x="253365" y="238919"/>
                </a:lnTo>
                <a:cubicBezTo>
                  <a:pt x="260755" y="238919"/>
                  <a:pt x="266700" y="246350"/>
                  <a:pt x="266700" y="255587"/>
                </a:cubicBezTo>
                <a:cubicBezTo>
                  <a:pt x="266700" y="264825"/>
                  <a:pt x="260755" y="272256"/>
                  <a:pt x="253365" y="272256"/>
                </a:cubicBezTo>
                <a:lnTo>
                  <a:pt x="235585" y="272256"/>
                </a:lnTo>
                <a:cubicBezTo>
                  <a:pt x="228195" y="272256"/>
                  <a:pt x="222250" y="264825"/>
                  <a:pt x="222250" y="255587"/>
                </a:cubicBezTo>
                <a:close/>
                <a:moveTo>
                  <a:pt x="124460" y="122238"/>
                </a:moveTo>
                <a:cubicBezTo>
                  <a:pt x="139180" y="122238"/>
                  <a:pt x="151130" y="137176"/>
                  <a:pt x="151130" y="155575"/>
                </a:cubicBezTo>
                <a:cubicBezTo>
                  <a:pt x="151130" y="173974"/>
                  <a:pt x="139180" y="188913"/>
                  <a:pt x="124460" y="188913"/>
                </a:cubicBezTo>
                <a:cubicBezTo>
                  <a:pt x="109740" y="188913"/>
                  <a:pt x="97790" y="173974"/>
                  <a:pt x="97790" y="155575"/>
                </a:cubicBezTo>
                <a:cubicBezTo>
                  <a:pt x="97790" y="137176"/>
                  <a:pt x="109740" y="122238"/>
                  <a:pt x="124460" y="122238"/>
                </a:cubicBezTo>
                <a:close/>
                <a:moveTo>
                  <a:pt x="204470" y="155575"/>
                </a:moveTo>
                <a:cubicBezTo>
                  <a:pt x="204470" y="137176"/>
                  <a:pt x="216420" y="122238"/>
                  <a:pt x="231140" y="122238"/>
                </a:cubicBezTo>
                <a:cubicBezTo>
                  <a:pt x="245860" y="122238"/>
                  <a:pt x="257810" y="137176"/>
                  <a:pt x="257810" y="155575"/>
                </a:cubicBezTo>
                <a:cubicBezTo>
                  <a:pt x="257810" y="173974"/>
                  <a:pt x="245860" y="188913"/>
                  <a:pt x="231140" y="188913"/>
                </a:cubicBezTo>
                <a:cubicBezTo>
                  <a:pt x="216420" y="188913"/>
                  <a:pt x="204470" y="173974"/>
                  <a:pt x="204470" y="155575"/>
                </a:cubicBezTo>
                <a:close/>
                <a:moveTo>
                  <a:pt x="35560" y="155575"/>
                </a:moveTo>
                <a:cubicBezTo>
                  <a:pt x="35560" y="143282"/>
                  <a:pt x="27615" y="133350"/>
                  <a:pt x="17780" y="133350"/>
                </a:cubicBezTo>
                <a:cubicBezTo>
                  <a:pt x="7945" y="133350"/>
                  <a:pt x="0" y="143282"/>
                  <a:pt x="0" y="155575"/>
                </a:cubicBezTo>
                <a:lnTo>
                  <a:pt x="0" y="222250"/>
                </a:lnTo>
                <a:cubicBezTo>
                  <a:pt x="0" y="234543"/>
                  <a:pt x="7945" y="244475"/>
                  <a:pt x="17780" y="244475"/>
                </a:cubicBezTo>
                <a:cubicBezTo>
                  <a:pt x="27615" y="244475"/>
                  <a:pt x="35560" y="234543"/>
                  <a:pt x="35560" y="222250"/>
                </a:cubicBezTo>
                <a:lnTo>
                  <a:pt x="35560" y="155575"/>
                </a:lnTo>
                <a:close/>
                <a:moveTo>
                  <a:pt x="337820" y="133350"/>
                </a:moveTo>
                <a:cubicBezTo>
                  <a:pt x="327985" y="133350"/>
                  <a:pt x="320040" y="143282"/>
                  <a:pt x="320040" y="155575"/>
                </a:cubicBezTo>
                <a:lnTo>
                  <a:pt x="320040" y="222250"/>
                </a:lnTo>
                <a:cubicBezTo>
                  <a:pt x="320040" y="234543"/>
                  <a:pt x="327985" y="244475"/>
                  <a:pt x="337820" y="244475"/>
                </a:cubicBezTo>
                <a:cubicBezTo>
                  <a:pt x="347655" y="244475"/>
                  <a:pt x="355600" y="234543"/>
                  <a:pt x="355600" y="222250"/>
                </a:cubicBezTo>
                <a:lnTo>
                  <a:pt x="355600" y="155575"/>
                </a:lnTo>
                <a:cubicBezTo>
                  <a:pt x="355600" y="143282"/>
                  <a:pt x="347655" y="133350"/>
                  <a:pt x="337820" y="133350"/>
                </a:cubicBezTo>
                <a:close/>
              </a:path>
            </a:pathLst>
          </a:custGeom>
          <a:solidFill>
            <a:srgbClr val="7C3AED"/>
          </a:solidFill>
          <a:ln/>
        </p:spPr>
        <p:txBody>
          <a:bodyPr/>
          <a:lstStyle/>
          <a:p>
            <a:endParaRPr lang="en-US"/>
          </a:p>
        </p:txBody>
      </p:sp>
      <p:sp>
        <p:nvSpPr>
          <p:cNvPr id="20" name="Text 17"/>
          <p:cNvSpPr/>
          <p:nvPr/>
        </p:nvSpPr>
        <p:spPr>
          <a:xfrm>
            <a:off x="6807200" y="36449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Gemini API</a:t>
            </a:r>
            <a:r>
              <a:rPr lang="en-US" sz="1500" dirty="0">
                <a:solidFill>
                  <a:srgbClr val="1E293B"/>
                </a:solidFill>
                <a:latin typeface="Quattrocento Sans" pitchFamily="34" charset="0"/>
                <a:ea typeface="Quattrocento Sans" pitchFamily="34" charset="-122"/>
                <a:cs typeface="Quattrocento Sans" pitchFamily="34" charset="-120"/>
              </a:rPr>
              <a:t> — Google Generative AI</a:t>
            </a:r>
            <a:endParaRPr lang="en-US" sz="1500" dirty="0"/>
          </a:p>
        </p:txBody>
      </p:sp>
      <p:sp>
        <p:nvSpPr>
          <p:cNvPr id="21" name="Shape 18"/>
          <p:cNvSpPr/>
          <p:nvPr/>
        </p:nvSpPr>
        <p:spPr>
          <a:xfrm>
            <a:off x="8305800" y="4229100"/>
            <a:ext cx="0" cy="254000"/>
          </a:xfrm>
          <a:prstGeom prst="straightConnector1">
            <a:avLst/>
          </a:prstGeom>
          <a:noFill/>
          <a:ln w="25400">
            <a:solidFill>
              <a:srgbClr val="7C3AED"/>
            </a:solidFill>
            <a:prstDash val="solid"/>
            <a:headEnd type="none"/>
            <a:tailEnd type="arrow"/>
          </a:ln>
        </p:spPr>
        <p:txBody>
          <a:bodyPr/>
          <a:lstStyle/>
          <a:p>
            <a:endParaRPr lang="en-US"/>
          </a:p>
        </p:txBody>
      </p:sp>
      <p:sp>
        <p:nvSpPr>
          <p:cNvPr id="22" name="Shape 19"/>
          <p:cNvSpPr/>
          <p:nvPr/>
        </p:nvSpPr>
        <p:spPr>
          <a:xfrm>
            <a:off x="6096000" y="44831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23" name="Shape 20"/>
          <p:cNvSpPr/>
          <p:nvPr/>
        </p:nvSpPr>
        <p:spPr>
          <a:xfrm>
            <a:off x="6324600" y="4584700"/>
            <a:ext cx="355600" cy="355600"/>
          </a:xfrm>
          <a:custGeom>
            <a:avLst/>
            <a:gdLst/>
            <a:ahLst/>
            <a:cxnLst/>
            <a:rect l="l" t="t" r="r" b="b"/>
            <a:pathLst>
              <a:path w="355600" h="355600">
                <a:moveTo>
                  <a:pt x="0" y="44450"/>
                </a:moveTo>
                <a:cubicBezTo>
                  <a:pt x="0" y="19933"/>
                  <a:pt x="26577" y="0"/>
                  <a:pt x="59267" y="0"/>
                </a:cubicBezTo>
                <a:lnTo>
                  <a:pt x="197710" y="0"/>
                </a:lnTo>
                <a:cubicBezTo>
                  <a:pt x="213453" y="0"/>
                  <a:pt x="228547" y="4653"/>
                  <a:pt x="239660" y="12988"/>
                </a:cubicBezTo>
                <a:lnTo>
                  <a:pt x="338283" y="87025"/>
                </a:lnTo>
                <a:cubicBezTo>
                  <a:pt x="349396" y="95359"/>
                  <a:pt x="355600" y="106680"/>
                  <a:pt x="355600" y="118487"/>
                </a:cubicBezTo>
                <a:lnTo>
                  <a:pt x="355600" y="311150"/>
                </a:lnTo>
                <a:cubicBezTo>
                  <a:pt x="355600" y="335667"/>
                  <a:pt x="329023" y="355600"/>
                  <a:pt x="296333" y="355600"/>
                </a:cubicBezTo>
                <a:lnTo>
                  <a:pt x="59267" y="355600"/>
                </a:lnTo>
                <a:cubicBezTo>
                  <a:pt x="26577" y="355600"/>
                  <a:pt x="0" y="335667"/>
                  <a:pt x="0" y="311150"/>
                </a:cubicBezTo>
                <a:lnTo>
                  <a:pt x="0" y="44450"/>
                </a:lnTo>
                <a:close/>
                <a:moveTo>
                  <a:pt x="192617" y="40630"/>
                </a:moveTo>
                <a:lnTo>
                  <a:pt x="192617" y="105569"/>
                </a:lnTo>
                <a:cubicBezTo>
                  <a:pt x="192617" y="114806"/>
                  <a:pt x="202525" y="122238"/>
                  <a:pt x="214842" y="122238"/>
                </a:cubicBezTo>
                <a:lnTo>
                  <a:pt x="301427" y="122238"/>
                </a:lnTo>
                <a:lnTo>
                  <a:pt x="192617" y="40630"/>
                </a:lnTo>
                <a:close/>
                <a:moveTo>
                  <a:pt x="142796" y="205303"/>
                </a:moveTo>
                <a:cubicBezTo>
                  <a:pt x="150760" y="198289"/>
                  <a:pt x="149741" y="187801"/>
                  <a:pt x="140388" y="181828"/>
                </a:cubicBezTo>
                <a:cubicBezTo>
                  <a:pt x="131035" y="175855"/>
                  <a:pt x="117052" y="176619"/>
                  <a:pt x="109088" y="183634"/>
                </a:cubicBezTo>
                <a:lnTo>
                  <a:pt x="64638" y="222528"/>
                </a:lnTo>
                <a:cubicBezTo>
                  <a:pt x="57507" y="228779"/>
                  <a:pt x="57507" y="237946"/>
                  <a:pt x="64638" y="244197"/>
                </a:cubicBezTo>
                <a:lnTo>
                  <a:pt x="109088" y="283091"/>
                </a:lnTo>
                <a:cubicBezTo>
                  <a:pt x="117052" y="290106"/>
                  <a:pt x="131128" y="290870"/>
                  <a:pt x="140388" y="284897"/>
                </a:cubicBezTo>
                <a:cubicBezTo>
                  <a:pt x="149648" y="278924"/>
                  <a:pt x="150760" y="268367"/>
                  <a:pt x="142796" y="261422"/>
                </a:cubicBezTo>
                <a:lnTo>
                  <a:pt x="110755" y="233363"/>
                </a:lnTo>
                <a:lnTo>
                  <a:pt x="142796" y="205303"/>
                </a:lnTo>
                <a:close/>
                <a:moveTo>
                  <a:pt x="246512" y="183634"/>
                </a:moveTo>
                <a:cubicBezTo>
                  <a:pt x="238548" y="176619"/>
                  <a:pt x="224473" y="175855"/>
                  <a:pt x="215212" y="181828"/>
                </a:cubicBezTo>
                <a:cubicBezTo>
                  <a:pt x="205952" y="187801"/>
                  <a:pt x="204840" y="198358"/>
                  <a:pt x="212804" y="205303"/>
                </a:cubicBezTo>
                <a:lnTo>
                  <a:pt x="244845" y="233363"/>
                </a:lnTo>
                <a:lnTo>
                  <a:pt x="212804" y="261422"/>
                </a:lnTo>
                <a:cubicBezTo>
                  <a:pt x="204840" y="268436"/>
                  <a:pt x="205859" y="278924"/>
                  <a:pt x="215212" y="284897"/>
                </a:cubicBezTo>
                <a:cubicBezTo>
                  <a:pt x="224565" y="290870"/>
                  <a:pt x="238548" y="290106"/>
                  <a:pt x="246512" y="283091"/>
                </a:cubicBezTo>
                <a:lnTo>
                  <a:pt x="290962" y="244197"/>
                </a:lnTo>
                <a:cubicBezTo>
                  <a:pt x="298093" y="237946"/>
                  <a:pt x="298093" y="228779"/>
                  <a:pt x="290962" y="222528"/>
                </a:cubicBezTo>
                <a:lnTo>
                  <a:pt x="246512" y="183634"/>
                </a:lnTo>
                <a:close/>
              </a:path>
            </a:pathLst>
          </a:custGeom>
          <a:solidFill>
            <a:srgbClr val="2563EB"/>
          </a:solidFill>
          <a:ln/>
        </p:spPr>
        <p:txBody>
          <a:bodyPr/>
          <a:lstStyle/>
          <a:p>
            <a:endParaRPr lang="en-US"/>
          </a:p>
        </p:txBody>
      </p:sp>
      <p:sp>
        <p:nvSpPr>
          <p:cNvPr id="24" name="Text 21"/>
          <p:cNvSpPr/>
          <p:nvPr/>
        </p:nvSpPr>
        <p:spPr>
          <a:xfrm>
            <a:off x="6807200" y="44831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AI Response</a:t>
            </a:r>
            <a:r>
              <a:rPr lang="en-US" sz="1500" dirty="0">
                <a:solidFill>
                  <a:srgbClr val="1E293B"/>
                </a:solidFill>
                <a:latin typeface="Quattrocento Sans" pitchFamily="34" charset="0"/>
                <a:ea typeface="Quattrocento Sans" pitchFamily="34" charset="-122"/>
                <a:cs typeface="Quattrocento Sans" pitchFamily="34" charset="-120"/>
              </a:rPr>
              <a:t> — JSON-structured output</a:t>
            </a:r>
            <a:endParaRPr lang="en-US" sz="1500" dirty="0"/>
          </a:p>
        </p:txBody>
      </p:sp>
      <p:sp>
        <p:nvSpPr>
          <p:cNvPr id="25" name="Shape 22"/>
          <p:cNvSpPr/>
          <p:nvPr/>
        </p:nvSpPr>
        <p:spPr>
          <a:xfrm flipH="1">
            <a:off x="5334000" y="4775200"/>
            <a:ext cx="762000" cy="0"/>
          </a:xfrm>
          <a:prstGeom prst="straightConnector1">
            <a:avLst/>
          </a:prstGeom>
          <a:noFill/>
          <a:ln w="25400">
            <a:solidFill>
              <a:srgbClr val="7C3AED"/>
            </a:solidFill>
            <a:prstDash val="solid"/>
            <a:headEnd type="arrow"/>
            <a:tailEnd type="none"/>
          </a:ln>
        </p:spPr>
        <p:txBody>
          <a:bodyPr/>
          <a:lstStyle/>
          <a:p>
            <a:endParaRPr lang="en-US"/>
          </a:p>
        </p:txBody>
      </p:sp>
      <p:sp>
        <p:nvSpPr>
          <p:cNvPr id="26" name="Shape 23"/>
          <p:cNvSpPr/>
          <p:nvPr/>
        </p:nvSpPr>
        <p:spPr>
          <a:xfrm>
            <a:off x="762000" y="44831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27" name="Shape 24"/>
          <p:cNvSpPr/>
          <p:nvPr/>
        </p:nvSpPr>
        <p:spPr>
          <a:xfrm>
            <a:off x="990600" y="4584700"/>
            <a:ext cx="355600" cy="355600"/>
          </a:xfrm>
          <a:custGeom>
            <a:avLst/>
            <a:gdLst/>
            <a:ahLst/>
            <a:cxnLst/>
            <a:rect l="l" t="t" r="r" b="b"/>
            <a:pathLst>
              <a:path w="355600" h="355600">
                <a:moveTo>
                  <a:pt x="349091" y="139254"/>
                </a:moveTo>
                <a:cubicBezTo>
                  <a:pt x="342979" y="117793"/>
                  <a:pt x="331391" y="101610"/>
                  <a:pt x="306705" y="101610"/>
                </a:cubicBezTo>
                <a:lnTo>
                  <a:pt x="274876" y="101610"/>
                </a:lnTo>
                <a:lnTo>
                  <a:pt x="274876" y="134531"/>
                </a:lnTo>
                <a:cubicBezTo>
                  <a:pt x="274876" y="160089"/>
                  <a:pt x="250111" y="181620"/>
                  <a:pt x="221853" y="181620"/>
                </a:cubicBezTo>
                <a:lnTo>
                  <a:pt x="137081" y="181620"/>
                </a:lnTo>
                <a:cubicBezTo>
                  <a:pt x="113903" y="181620"/>
                  <a:pt x="94694" y="198983"/>
                  <a:pt x="94694" y="219333"/>
                </a:cubicBezTo>
                <a:lnTo>
                  <a:pt x="94694" y="290036"/>
                </a:lnTo>
                <a:cubicBezTo>
                  <a:pt x="94694" y="310178"/>
                  <a:pt x="114697" y="321985"/>
                  <a:pt x="137081" y="327749"/>
                </a:cubicBezTo>
                <a:cubicBezTo>
                  <a:pt x="163909" y="334625"/>
                  <a:pt x="189706" y="335875"/>
                  <a:pt x="221853" y="327749"/>
                </a:cubicBezTo>
                <a:cubicBezTo>
                  <a:pt x="243205" y="322332"/>
                  <a:pt x="264239" y="311428"/>
                  <a:pt x="264239" y="290036"/>
                </a:cubicBezTo>
                <a:lnTo>
                  <a:pt x="264239" y="261769"/>
                </a:lnTo>
                <a:lnTo>
                  <a:pt x="179546" y="261769"/>
                </a:lnTo>
                <a:lnTo>
                  <a:pt x="179546" y="252323"/>
                </a:lnTo>
                <a:lnTo>
                  <a:pt x="306705" y="252323"/>
                </a:lnTo>
                <a:cubicBezTo>
                  <a:pt x="331391" y="252323"/>
                  <a:pt x="340519" y="237252"/>
                  <a:pt x="349091" y="214680"/>
                </a:cubicBezTo>
                <a:cubicBezTo>
                  <a:pt x="357981" y="191413"/>
                  <a:pt x="357584" y="169049"/>
                  <a:pt x="349091" y="139254"/>
                </a:cubicBezTo>
                <a:close/>
                <a:moveTo>
                  <a:pt x="227171" y="308858"/>
                </a:moveTo>
                <a:cubicBezTo>
                  <a:pt x="221130" y="309229"/>
                  <a:pt x="215357" y="306619"/>
                  <a:pt x="212208" y="302093"/>
                </a:cubicBezTo>
                <a:cubicBezTo>
                  <a:pt x="209058" y="297567"/>
                  <a:pt x="209058" y="291882"/>
                  <a:pt x="212208" y="287356"/>
                </a:cubicBezTo>
                <a:cubicBezTo>
                  <a:pt x="215357" y="282830"/>
                  <a:pt x="221130" y="280220"/>
                  <a:pt x="227171" y="280591"/>
                </a:cubicBezTo>
                <a:cubicBezTo>
                  <a:pt x="233212" y="280220"/>
                  <a:pt x="238985" y="282830"/>
                  <a:pt x="242135" y="287356"/>
                </a:cubicBezTo>
                <a:cubicBezTo>
                  <a:pt x="245284" y="291882"/>
                  <a:pt x="245284" y="297567"/>
                  <a:pt x="242135" y="302093"/>
                </a:cubicBezTo>
                <a:cubicBezTo>
                  <a:pt x="238985" y="306619"/>
                  <a:pt x="233212" y="309229"/>
                  <a:pt x="227171" y="308858"/>
                </a:cubicBezTo>
                <a:close/>
                <a:moveTo>
                  <a:pt x="133191" y="172313"/>
                </a:moveTo>
                <a:lnTo>
                  <a:pt x="217964" y="172313"/>
                </a:lnTo>
                <a:cubicBezTo>
                  <a:pt x="241538" y="172313"/>
                  <a:pt x="260350" y="155297"/>
                  <a:pt x="260350" y="134600"/>
                </a:cubicBezTo>
                <a:lnTo>
                  <a:pt x="260350" y="63827"/>
                </a:lnTo>
                <a:cubicBezTo>
                  <a:pt x="260350" y="43686"/>
                  <a:pt x="240983" y="28615"/>
                  <a:pt x="217964" y="25211"/>
                </a:cubicBezTo>
                <a:cubicBezTo>
                  <a:pt x="189548" y="21114"/>
                  <a:pt x="158671" y="21322"/>
                  <a:pt x="133191" y="25281"/>
                </a:cubicBezTo>
                <a:cubicBezTo>
                  <a:pt x="97314" y="30837"/>
                  <a:pt x="90805" y="42436"/>
                  <a:pt x="90805" y="63897"/>
                </a:cubicBezTo>
                <a:lnTo>
                  <a:pt x="90805" y="92164"/>
                </a:lnTo>
                <a:lnTo>
                  <a:pt x="175657" y="92164"/>
                </a:lnTo>
                <a:lnTo>
                  <a:pt x="175657" y="101610"/>
                </a:lnTo>
                <a:lnTo>
                  <a:pt x="58976" y="101610"/>
                </a:lnTo>
                <a:cubicBezTo>
                  <a:pt x="34290" y="101610"/>
                  <a:pt x="12700" y="114598"/>
                  <a:pt x="5953" y="139254"/>
                </a:cubicBezTo>
                <a:cubicBezTo>
                  <a:pt x="-1826" y="167521"/>
                  <a:pt x="-2143" y="185162"/>
                  <a:pt x="5953" y="214680"/>
                </a:cubicBezTo>
                <a:cubicBezTo>
                  <a:pt x="11986" y="236627"/>
                  <a:pt x="26353" y="252323"/>
                  <a:pt x="51038" y="252323"/>
                </a:cubicBezTo>
                <a:lnTo>
                  <a:pt x="80169" y="252323"/>
                </a:lnTo>
                <a:lnTo>
                  <a:pt x="80169" y="218430"/>
                </a:lnTo>
                <a:cubicBezTo>
                  <a:pt x="80169" y="193913"/>
                  <a:pt x="104378" y="172313"/>
                  <a:pt x="133191" y="172313"/>
                </a:cubicBezTo>
                <a:close/>
                <a:moveTo>
                  <a:pt x="127953" y="44936"/>
                </a:moveTo>
                <a:cubicBezTo>
                  <a:pt x="136889" y="44936"/>
                  <a:pt x="144145" y="51285"/>
                  <a:pt x="144145" y="59105"/>
                </a:cubicBezTo>
                <a:cubicBezTo>
                  <a:pt x="144145" y="66924"/>
                  <a:pt x="136889" y="73273"/>
                  <a:pt x="127953" y="73273"/>
                </a:cubicBezTo>
                <a:cubicBezTo>
                  <a:pt x="119016" y="73273"/>
                  <a:pt x="111760" y="66924"/>
                  <a:pt x="111760" y="59105"/>
                </a:cubicBezTo>
                <a:cubicBezTo>
                  <a:pt x="111760" y="51285"/>
                  <a:pt x="119016" y="44936"/>
                  <a:pt x="127953" y="44936"/>
                </a:cubicBezTo>
                <a:close/>
              </a:path>
            </a:pathLst>
          </a:custGeom>
          <a:solidFill>
            <a:srgbClr val="2563EB"/>
          </a:solidFill>
          <a:ln/>
        </p:spPr>
        <p:txBody>
          <a:bodyPr/>
          <a:lstStyle/>
          <a:p>
            <a:endParaRPr lang="en-US"/>
          </a:p>
        </p:txBody>
      </p:sp>
      <p:sp>
        <p:nvSpPr>
          <p:cNvPr id="28" name="Text 25"/>
          <p:cNvSpPr/>
          <p:nvPr/>
        </p:nvSpPr>
        <p:spPr>
          <a:xfrm>
            <a:off x="1473200" y="44831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Python Processing</a:t>
            </a:r>
            <a:r>
              <a:rPr lang="en-US" sz="1500" dirty="0">
                <a:solidFill>
                  <a:srgbClr val="1E293B"/>
                </a:solidFill>
                <a:latin typeface="Quattrocento Sans" pitchFamily="34" charset="0"/>
                <a:ea typeface="Quattrocento Sans" pitchFamily="34" charset="-122"/>
                <a:cs typeface="Quattrocento Sans" pitchFamily="34" charset="-120"/>
              </a:rPr>
              <a:t> — Code generation</a:t>
            </a:r>
            <a:endParaRPr lang="en-US" sz="1500" dirty="0"/>
          </a:p>
        </p:txBody>
      </p:sp>
      <p:sp>
        <p:nvSpPr>
          <p:cNvPr id="29" name="Shape 26"/>
          <p:cNvSpPr/>
          <p:nvPr/>
        </p:nvSpPr>
        <p:spPr>
          <a:xfrm>
            <a:off x="2971800" y="5067300"/>
            <a:ext cx="0" cy="254000"/>
          </a:xfrm>
          <a:prstGeom prst="straightConnector1">
            <a:avLst/>
          </a:prstGeom>
          <a:noFill/>
          <a:ln w="25400">
            <a:solidFill>
              <a:srgbClr val="2563EB"/>
            </a:solidFill>
            <a:prstDash val="solid"/>
            <a:headEnd type="none"/>
            <a:tailEnd type="arrow"/>
          </a:ln>
        </p:spPr>
        <p:txBody>
          <a:bodyPr/>
          <a:lstStyle/>
          <a:p>
            <a:endParaRPr lang="en-US"/>
          </a:p>
        </p:txBody>
      </p:sp>
      <p:sp>
        <p:nvSpPr>
          <p:cNvPr id="30" name="Shape 27"/>
          <p:cNvSpPr/>
          <p:nvPr/>
        </p:nvSpPr>
        <p:spPr>
          <a:xfrm>
            <a:off x="762000" y="5321300"/>
            <a:ext cx="4572000" cy="584200"/>
          </a:xfrm>
          <a:prstGeom prst="roundRect">
            <a:avLst>
              <a:gd name="adj" fmla="val 10000"/>
            </a:avLst>
          </a:prstGeom>
          <a:solidFill>
            <a:srgbClr val="F8FAFC"/>
          </a:solidFill>
          <a:ln w="12700">
            <a:solidFill>
              <a:srgbClr val="E2E8F0"/>
            </a:solidFill>
            <a:prstDash val="solid"/>
          </a:ln>
        </p:spPr>
        <p:txBody>
          <a:bodyPr/>
          <a:lstStyle/>
          <a:p>
            <a:endParaRPr lang="en-US"/>
          </a:p>
        </p:txBody>
      </p:sp>
      <p:sp>
        <p:nvSpPr>
          <p:cNvPr id="31" name="Shape 28"/>
          <p:cNvSpPr/>
          <p:nvPr/>
        </p:nvSpPr>
        <p:spPr>
          <a:xfrm>
            <a:off x="990600" y="5422900"/>
            <a:ext cx="355600" cy="355600"/>
          </a:xfrm>
          <a:prstGeom prst="ellipse">
            <a:avLst/>
          </a:prstGeom>
          <a:solidFill>
            <a:srgbClr val="7C3AED"/>
          </a:solidFill>
          <a:ln/>
        </p:spPr>
        <p:txBody>
          <a:bodyPr/>
          <a:lstStyle/>
          <a:p>
            <a:endParaRPr lang="en-US"/>
          </a:p>
        </p:txBody>
      </p:sp>
      <p:sp>
        <p:nvSpPr>
          <p:cNvPr id="32" name="Text 29"/>
          <p:cNvSpPr/>
          <p:nvPr/>
        </p:nvSpPr>
        <p:spPr>
          <a:xfrm>
            <a:off x="1473200" y="53213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Schemdraw Engine</a:t>
            </a:r>
            <a:r>
              <a:rPr lang="en-US" sz="1500" dirty="0">
                <a:solidFill>
                  <a:srgbClr val="1E293B"/>
                </a:solidFill>
                <a:latin typeface="Quattrocento Sans" pitchFamily="34" charset="0"/>
                <a:ea typeface="Quattrocento Sans" pitchFamily="34" charset="-122"/>
                <a:cs typeface="Quattrocento Sans" pitchFamily="34" charset="-120"/>
              </a:rPr>
              <a:t> — 2D rendering</a:t>
            </a:r>
            <a:endParaRPr lang="en-US" sz="1500" dirty="0"/>
          </a:p>
        </p:txBody>
      </p:sp>
      <p:sp>
        <p:nvSpPr>
          <p:cNvPr id="33" name="Shape 30"/>
          <p:cNvSpPr/>
          <p:nvPr/>
        </p:nvSpPr>
        <p:spPr>
          <a:xfrm>
            <a:off x="2971800" y="5905500"/>
            <a:ext cx="0" cy="254000"/>
          </a:xfrm>
          <a:prstGeom prst="straightConnector1">
            <a:avLst/>
          </a:prstGeom>
          <a:noFill/>
          <a:ln w="25400">
            <a:solidFill>
              <a:srgbClr val="7C3AED"/>
            </a:solidFill>
            <a:prstDash val="solid"/>
            <a:headEnd type="none"/>
            <a:tailEnd type="arrow"/>
          </a:ln>
        </p:spPr>
        <p:txBody>
          <a:bodyPr/>
          <a:lstStyle/>
          <a:p>
            <a:endParaRPr lang="en-US"/>
          </a:p>
        </p:txBody>
      </p:sp>
      <p:sp>
        <p:nvSpPr>
          <p:cNvPr id="34" name="Shape 31"/>
          <p:cNvSpPr/>
          <p:nvPr/>
        </p:nvSpPr>
        <p:spPr>
          <a:xfrm>
            <a:off x="762000" y="6159500"/>
            <a:ext cx="4572000" cy="584200"/>
          </a:xfrm>
          <a:prstGeom prst="roundRect">
            <a:avLst>
              <a:gd name="adj" fmla="val 10000"/>
            </a:avLst>
          </a:prstGeom>
          <a:gradFill flip="none" rotWithShape="1">
            <a:gsLst>
              <a:gs pos="0">
                <a:srgbClr val="2563EB">
                  <a:alpha val="9000"/>
                </a:srgbClr>
              </a:gs>
              <a:gs pos="100000">
                <a:srgbClr val="7C3AED">
                  <a:alpha val="9000"/>
                </a:srgbClr>
              </a:gs>
            </a:gsLst>
            <a:lin ang="0" scaled="1"/>
          </a:gradFill>
          <a:ln w="12700">
            <a:solidFill>
              <a:srgbClr val="2563EB"/>
            </a:solidFill>
            <a:prstDash val="solid"/>
          </a:ln>
        </p:spPr>
        <p:txBody>
          <a:bodyPr/>
          <a:lstStyle/>
          <a:p>
            <a:endParaRPr lang="en-US"/>
          </a:p>
        </p:txBody>
      </p:sp>
      <p:sp>
        <p:nvSpPr>
          <p:cNvPr id="35" name="Shape 32"/>
          <p:cNvSpPr/>
          <p:nvPr/>
        </p:nvSpPr>
        <p:spPr>
          <a:xfrm>
            <a:off x="990600" y="6261100"/>
            <a:ext cx="355600" cy="355600"/>
          </a:xfrm>
          <a:custGeom>
            <a:avLst/>
            <a:gdLst/>
            <a:ahLst/>
            <a:cxnLst/>
            <a:rect l="l" t="t" r="r" b="b"/>
            <a:pathLst>
              <a:path w="355600" h="355600">
                <a:moveTo>
                  <a:pt x="50800" y="22225"/>
                </a:moveTo>
                <a:cubicBezTo>
                  <a:pt x="22781" y="22225"/>
                  <a:pt x="0" y="42158"/>
                  <a:pt x="0" y="66675"/>
                </a:cubicBezTo>
                <a:lnTo>
                  <a:pt x="0" y="288925"/>
                </a:lnTo>
                <a:cubicBezTo>
                  <a:pt x="0" y="313442"/>
                  <a:pt x="22781" y="333375"/>
                  <a:pt x="50800" y="333375"/>
                </a:cubicBezTo>
                <a:lnTo>
                  <a:pt x="304800" y="333375"/>
                </a:lnTo>
                <a:cubicBezTo>
                  <a:pt x="332819" y="333375"/>
                  <a:pt x="355600" y="313442"/>
                  <a:pt x="355600" y="288925"/>
                </a:cubicBezTo>
                <a:lnTo>
                  <a:pt x="355600" y="66675"/>
                </a:lnTo>
                <a:cubicBezTo>
                  <a:pt x="355600" y="42158"/>
                  <a:pt x="332819" y="22225"/>
                  <a:pt x="304800" y="22225"/>
                </a:cubicBezTo>
                <a:lnTo>
                  <a:pt x="50800" y="22225"/>
                </a:lnTo>
                <a:close/>
                <a:moveTo>
                  <a:pt x="101600" y="77788"/>
                </a:moveTo>
                <a:cubicBezTo>
                  <a:pt x="122628" y="77788"/>
                  <a:pt x="139700" y="92726"/>
                  <a:pt x="139700" y="111125"/>
                </a:cubicBezTo>
                <a:cubicBezTo>
                  <a:pt x="139700" y="129524"/>
                  <a:pt x="122628" y="144463"/>
                  <a:pt x="101600" y="144463"/>
                </a:cubicBezTo>
                <a:cubicBezTo>
                  <a:pt x="80572" y="144463"/>
                  <a:pt x="63500" y="129524"/>
                  <a:pt x="63500" y="111125"/>
                </a:cubicBezTo>
                <a:cubicBezTo>
                  <a:pt x="63500" y="92726"/>
                  <a:pt x="80572" y="77788"/>
                  <a:pt x="101600" y="77788"/>
                </a:cubicBezTo>
                <a:close/>
                <a:moveTo>
                  <a:pt x="215900" y="155575"/>
                </a:moveTo>
                <a:cubicBezTo>
                  <a:pt x="222567" y="155575"/>
                  <a:pt x="228679" y="158631"/>
                  <a:pt x="232172" y="163562"/>
                </a:cubicBezTo>
                <a:lnTo>
                  <a:pt x="302022" y="263575"/>
                </a:lnTo>
                <a:cubicBezTo>
                  <a:pt x="305594" y="268714"/>
                  <a:pt x="305753" y="275173"/>
                  <a:pt x="302419" y="280452"/>
                </a:cubicBezTo>
                <a:cubicBezTo>
                  <a:pt x="299085" y="285730"/>
                  <a:pt x="292656" y="288925"/>
                  <a:pt x="285750" y="288925"/>
                </a:cubicBezTo>
                <a:lnTo>
                  <a:pt x="69850" y="288925"/>
                </a:lnTo>
                <a:cubicBezTo>
                  <a:pt x="62786" y="288925"/>
                  <a:pt x="56198" y="285452"/>
                  <a:pt x="52943" y="279966"/>
                </a:cubicBezTo>
                <a:cubicBezTo>
                  <a:pt x="49689" y="274479"/>
                  <a:pt x="50165" y="267811"/>
                  <a:pt x="54213" y="262741"/>
                </a:cubicBezTo>
                <a:lnTo>
                  <a:pt x="98663" y="207179"/>
                </a:lnTo>
                <a:cubicBezTo>
                  <a:pt x="102235" y="202734"/>
                  <a:pt x="108029" y="200094"/>
                  <a:pt x="114300" y="200094"/>
                </a:cubicBezTo>
                <a:cubicBezTo>
                  <a:pt x="120571" y="200094"/>
                  <a:pt x="126365" y="202734"/>
                  <a:pt x="129937" y="207179"/>
                </a:cubicBezTo>
                <a:lnTo>
                  <a:pt x="150892" y="233432"/>
                </a:lnTo>
                <a:lnTo>
                  <a:pt x="199628" y="163632"/>
                </a:lnTo>
                <a:cubicBezTo>
                  <a:pt x="203121" y="158700"/>
                  <a:pt x="209233" y="155644"/>
                  <a:pt x="215900" y="155644"/>
                </a:cubicBezTo>
                <a:close/>
              </a:path>
            </a:pathLst>
          </a:custGeom>
          <a:solidFill>
            <a:srgbClr val="10B981"/>
          </a:solidFill>
          <a:ln/>
        </p:spPr>
        <p:txBody>
          <a:bodyPr/>
          <a:lstStyle/>
          <a:p>
            <a:endParaRPr lang="en-US"/>
          </a:p>
        </p:txBody>
      </p:sp>
      <p:sp>
        <p:nvSpPr>
          <p:cNvPr id="36" name="Text 33"/>
          <p:cNvSpPr/>
          <p:nvPr/>
        </p:nvSpPr>
        <p:spPr>
          <a:xfrm>
            <a:off x="1473200" y="6159500"/>
            <a:ext cx="3683000" cy="584200"/>
          </a:xfrm>
          <a:prstGeom prst="rect">
            <a:avLst/>
          </a:prstGeom>
          <a:noFill/>
          <a:ln/>
        </p:spPr>
        <p:txBody>
          <a:bodyPr wrap="none" lIns="0" tIns="0" rIns="0" bIns="0" rtlCol="0" anchor="ctr"/>
          <a:lstStyle/>
          <a:p>
            <a:pPr algn="l">
              <a:lnSpc>
                <a:spcPct val="120000"/>
              </a:lnSpc>
            </a:pPr>
            <a:r>
              <a:rPr lang="en-US" sz="1500" b="1" dirty="0">
                <a:solidFill>
                  <a:srgbClr val="1E293B"/>
                </a:solidFill>
                <a:latin typeface="Quattrocento Sans" pitchFamily="34" charset="0"/>
                <a:ea typeface="Quattrocento Sans" pitchFamily="34" charset="-122"/>
                <a:cs typeface="Quattrocento Sans" pitchFamily="34" charset="-120"/>
              </a:rPr>
              <a:t>Generated Circuit</a:t>
            </a:r>
            <a:r>
              <a:rPr lang="en-US" sz="1500" dirty="0">
                <a:solidFill>
                  <a:srgbClr val="1E293B"/>
                </a:solidFill>
                <a:latin typeface="Quattrocento Sans" pitchFamily="34" charset="0"/>
                <a:ea typeface="Quattrocento Sans" pitchFamily="34" charset="-122"/>
                <a:cs typeface="Quattrocento Sans" pitchFamily="34" charset="-120"/>
              </a:rPr>
              <a:t> — SVG/PNG output</a:t>
            </a:r>
            <a:endParaRPr lang="en-US" sz="1500" dirty="0"/>
          </a:p>
        </p:txBody>
      </p:sp>
      <p:sp>
        <p:nvSpPr>
          <p:cNvPr id="37" name="Text 34"/>
          <p:cNvSpPr/>
          <p:nvPr/>
        </p:nvSpPr>
        <p:spPr>
          <a:xfrm>
            <a:off x="762000" y="7048500"/>
            <a:ext cx="2540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DATA FLOW</a:t>
            </a:r>
            <a:endParaRPr lang="en-US" sz="1200" dirty="0"/>
          </a:p>
        </p:txBody>
      </p:sp>
      <p:sp>
        <p:nvSpPr>
          <p:cNvPr id="38" name="Text 35"/>
          <p:cNvSpPr/>
          <p:nvPr/>
        </p:nvSpPr>
        <p:spPr>
          <a:xfrm>
            <a:off x="762000" y="7366000"/>
            <a:ext cx="11430000" cy="304800"/>
          </a:xfrm>
          <a:prstGeom prst="rect">
            <a:avLst/>
          </a:prstGeom>
          <a:noFill/>
          <a:ln/>
        </p:spPr>
        <p:txBody>
          <a:bodyPr wrap="none" lIns="0" tIns="0" rIns="0" bIns="0" rtlCol="0" anchor="ctr"/>
          <a:lstStyle/>
          <a:p>
            <a:pPr algn="l">
              <a:lnSpc>
                <a:spcPct val="120000"/>
              </a:lnSpc>
            </a:pPr>
            <a:r>
              <a:rPr lang="en-US" sz="1400" dirty="0">
                <a:solidFill>
                  <a:srgbClr val="64748B"/>
                </a:solidFill>
                <a:latin typeface="Quattrocento Sans" pitchFamily="34" charset="0"/>
                <a:ea typeface="Quattrocento Sans" pitchFamily="34" charset="-122"/>
                <a:cs typeface="Quattrocento Sans" pitchFamily="34" charset="-120"/>
              </a:rPr>
              <a:t>User Input → Structured Prompt → AI Analysis → Component Data → Schemdraw Code → Rendered Diagram → Display</a:t>
            </a:r>
            <a:endParaRPr lang="en-US" sz="1400" dirty="0"/>
          </a:p>
        </p:txBody>
      </p:sp>
      <p:sp>
        <p:nvSpPr>
          <p:cNvPr id="40" name="Text 36"/>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04 / 09</a:t>
            </a:r>
            <a:endParaRPr lang="en-US" sz="1400" dirty="0"/>
          </a:p>
        </p:txBody>
      </p:sp>
      <p:pic>
        <p:nvPicPr>
          <p:cNvPr id="41" name="Picture 40">
            <a:extLst>
              <a:ext uri="{FF2B5EF4-FFF2-40B4-BE49-F238E27FC236}">
                <a16:creationId xmlns:a16="http://schemas.microsoft.com/office/drawing/2014/main" id="{4805CB3A-7734-4A20-9277-54E56A493C74}"/>
              </a:ext>
            </a:extLst>
          </p:cNvPr>
          <p:cNvPicPr>
            <a:picLocks noChangeAspect="1"/>
          </p:cNvPicPr>
          <p:nvPr/>
        </p:nvPicPr>
        <p:blipFill>
          <a:blip r:embed="rId3"/>
          <a:stretch>
            <a:fillRect/>
          </a:stretch>
        </p:blipFill>
        <p:spPr>
          <a:xfrm>
            <a:off x="10795000" y="2908300"/>
            <a:ext cx="5371970" cy="2953139"/>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Technology Stack</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762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Built with Modern, Reliable Tools</a:t>
            </a:r>
            <a:endParaRPr lang="en-US" sz="1800" dirty="0"/>
          </a:p>
        </p:txBody>
      </p:sp>
      <p:sp>
        <p:nvSpPr>
          <p:cNvPr id="6" name="Shape 3"/>
          <p:cNvSpPr/>
          <p:nvPr/>
        </p:nvSpPr>
        <p:spPr>
          <a:xfrm>
            <a:off x="762000" y="1905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7" name="Shape 4"/>
          <p:cNvSpPr/>
          <p:nvPr/>
        </p:nvSpPr>
        <p:spPr>
          <a:xfrm>
            <a:off x="1016000" y="2159000"/>
            <a:ext cx="457200" cy="457200"/>
          </a:xfrm>
          <a:custGeom>
            <a:avLst/>
            <a:gdLst/>
            <a:ahLst/>
            <a:cxnLst/>
            <a:rect l="l" t="t" r="r" b="b"/>
            <a:pathLst>
              <a:path w="457200" h="457200">
                <a:moveTo>
                  <a:pt x="448832" y="179040"/>
                </a:moveTo>
                <a:cubicBezTo>
                  <a:pt x="440973" y="151448"/>
                  <a:pt x="426074" y="130641"/>
                  <a:pt x="394335" y="130641"/>
                </a:cubicBezTo>
                <a:lnTo>
                  <a:pt x="353412" y="130641"/>
                </a:lnTo>
                <a:lnTo>
                  <a:pt x="353412" y="172968"/>
                </a:lnTo>
                <a:cubicBezTo>
                  <a:pt x="353412" y="205829"/>
                  <a:pt x="321571" y="233511"/>
                  <a:pt x="285240" y="233511"/>
                </a:cubicBezTo>
                <a:lnTo>
                  <a:pt x="176247" y="233511"/>
                </a:lnTo>
                <a:cubicBezTo>
                  <a:pt x="146447" y="233511"/>
                  <a:pt x="121750" y="255836"/>
                  <a:pt x="121750" y="282000"/>
                </a:cubicBezTo>
                <a:lnTo>
                  <a:pt x="121750" y="372904"/>
                </a:lnTo>
                <a:cubicBezTo>
                  <a:pt x="121750" y="398800"/>
                  <a:pt x="147467" y="413980"/>
                  <a:pt x="176247" y="421392"/>
                </a:cubicBezTo>
                <a:cubicBezTo>
                  <a:pt x="210741" y="430232"/>
                  <a:pt x="243908" y="431840"/>
                  <a:pt x="285240" y="421392"/>
                </a:cubicBezTo>
                <a:cubicBezTo>
                  <a:pt x="312692" y="414427"/>
                  <a:pt x="339736" y="400407"/>
                  <a:pt x="339736" y="372904"/>
                </a:cubicBezTo>
                <a:lnTo>
                  <a:pt x="339736" y="336560"/>
                </a:lnTo>
                <a:lnTo>
                  <a:pt x="230845" y="336560"/>
                </a:lnTo>
                <a:lnTo>
                  <a:pt x="230845" y="324416"/>
                </a:lnTo>
                <a:lnTo>
                  <a:pt x="394335" y="324416"/>
                </a:lnTo>
                <a:cubicBezTo>
                  <a:pt x="426074" y="324416"/>
                  <a:pt x="437810" y="305038"/>
                  <a:pt x="448832" y="276017"/>
                </a:cubicBezTo>
                <a:cubicBezTo>
                  <a:pt x="460262" y="246102"/>
                  <a:pt x="459751" y="217349"/>
                  <a:pt x="448832" y="179040"/>
                </a:cubicBezTo>
                <a:close/>
                <a:moveTo>
                  <a:pt x="292077" y="397103"/>
                </a:moveTo>
                <a:cubicBezTo>
                  <a:pt x="284310" y="397580"/>
                  <a:pt x="276888" y="394224"/>
                  <a:pt x="272839" y="388405"/>
                </a:cubicBezTo>
                <a:cubicBezTo>
                  <a:pt x="268789" y="382586"/>
                  <a:pt x="268789" y="375276"/>
                  <a:pt x="272839" y="369457"/>
                </a:cubicBezTo>
                <a:cubicBezTo>
                  <a:pt x="276888" y="363638"/>
                  <a:pt x="284310" y="360283"/>
                  <a:pt x="292077" y="360759"/>
                </a:cubicBezTo>
                <a:cubicBezTo>
                  <a:pt x="299844" y="360283"/>
                  <a:pt x="307266" y="363638"/>
                  <a:pt x="311316" y="369457"/>
                </a:cubicBezTo>
                <a:cubicBezTo>
                  <a:pt x="315365" y="375276"/>
                  <a:pt x="315365" y="382586"/>
                  <a:pt x="311316" y="388405"/>
                </a:cubicBezTo>
                <a:cubicBezTo>
                  <a:pt x="307266" y="394224"/>
                  <a:pt x="299844" y="397580"/>
                  <a:pt x="292077" y="397103"/>
                </a:cubicBezTo>
                <a:close/>
                <a:moveTo>
                  <a:pt x="171246" y="221546"/>
                </a:moveTo>
                <a:lnTo>
                  <a:pt x="280239" y="221546"/>
                </a:lnTo>
                <a:cubicBezTo>
                  <a:pt x="310549" y="221546"/>
                  <a:pt x="334736" y="199668"/>
                  <a:pt x="334736" y="173057"/>
                </a:cubicBezTo>
                <a:lnTo>
                  <a:pt x="334736" y="82064"/>
                </a:lnTo>
                <a:cubicBezTo>
                  <a:pt x="334736" y="56168"/>
                  <a:pt x="309835" y="36790"/>
                  <a:pt x="280239" y="32415"/>
                </a:cubicBezTo>
                <a:cubicBezTo>
                  <a:pt x="243704" y="27146"/>
                  <a:pt x="204005" y="27414"/>
                  <a:pt x="171246" y="32504"/>
                </a:cubicBezTo>
                <a:cubicBezTo>
                  <a:pt x="125118" y="39648"/>
                  <a:pt x="116749" y="54560"/>
                  <a:pt x="116749" y="82153"/>
                </a:cubicBezTo>
                <a:lnTo>
                  <a:pt x="116749" y="118497"/>
                </a:lnTo>
                <a:lnTo>
                  <a:pt x="225845" y="118497"/>
                </a:lnTo>
                <a:lnTo>
                  <a:pt x="225845" y="130641"/>
                </a:lnTo>
                <a:lnTo>
                  <a:pt x="75826" y="130641"/>
                </a:lnTo>
                <a:cubicBezTo>
                  <a:pt x="44087" y="130641"/>
                  <a:pt x="16329" y="147340"/>
                  <a:pt x="7654" y="179040"/>
                </a:cubicBezTo>
                <a:cubicBezTo>
                  <a:pt x="-2347" y="215384"/>
                  <a:pt x="-2755" y="238065"/>
                  <a:pt x="7654" y="276017"/>
                </a:cubicBezTo>
                <a:cubicBezTo>
                  <a:pt x="15410" y="304234"/>
                  <a:pt x="33882" y="324416"/>
                  <a:pt x="65620" y="324416"/>
                </a:cubicBezTo>
                <a:lnTo>
                  <a:pt x="103074" y="324416"/>
                </a:lnTo>
                <a:lnTo>
                  <a:pt x="103074" y="280839"/>
                </a:lnTo>
                <a:cubicBezTo>
                  <a:pt x="103074" y="249317"/>
                  <a:pt x="134200" y="221546"/>
                  <a:pt x="171246" y="221546"/>
                </a:cubicBezTo>
                <a:close/>
                <a:moveTo>
                  <a:pt x="164510" y="57775"/>
                </a:moveTo>
                <a:cubicBezTo>
                  <a:pt x="176001" y="57775"/>
                  <a:pt x="185329" y="65938"/>
                  <a:pt x="185329" y="75992"/>
                </a:cubicBezTo>
                <a:cubicBezTo>
                  <a:pt x="185329" y="86046"/>
                  <a:pt x="176001" y="94208"/>
                  <a:pt x="164510" y="94208"/>
                </a:cubicBezTo>
                <a:cubicBezTo>
                  <a:pt x="153020" y="94208"/>
                  <a:pt x="143691" y="86046"/>
                  <a:pt x="143691" y="75992"/>
                </a:cubicBezTo>
                <a:cubicBezTo>
                  <a:pt x="143691" y="65938"/>
                  <a:pt x="153020" y="57775"/>
                  <a:pt x="164510" y="57775"/>
                </a:cubicBezTo>
                <a:close/>
              </a:path>
            </a:pathLst>
          </a:custGeom>
          <a:solidFill>
            <a:srgbClr val="2563EB"/>
          </a:solidFill>
          <a:ln/>
        </p:spPr>
        <p:txBody>
          <a:bodyPr/>
          <a:lstStyle/>
          <a:p>
            <a:endParaRPr lang="en-US"/>
          </a:p>
        </p:txBody>
      </p:sp>
      <p:sp>
        <p:nvSpPr>
          <p:cNvPr id="8" name="Text 5"/>
          <p:cNvSpPr/>
          <p:nvPr/>
        </p:nvSpPr>
        <p:spPr>
          <a:xfrm>
            <a:off x="1625600" y="2133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Python</a:t>
            </a:r>
            <a:endParaRPr lang="en-US" sz="1600" dirty="0"/>
          </a:p>
        </p:txBody>
      </p:sp>
      <p:sp>
        <p:nvSpPr>
          <p:cNvPr id="9" name="Text 6"/>
          <p:cNvSpPr/>
          <p:nvPr/>
        </p:nvSpPr>
        <p:spPr>
          <a:xfrm>
            <a:off x="1625600" y="2451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Core language and application logic</a:t>
            </a:r>
            <a:endParaRPr lang="en-US" sz="1400" dirty="0"/>
          </a:p>
        </p:txBody>
      </p:sp>
      <p:sp>
        <p:nvSpPr>
          <p:cNvPr id="10" name="Shape 7"/>
          <p:cNvSpPr/>
          <p:nvPr/>
        </p:nvSpPr>
        <p:spPr>
          <a:xfrm>
            <a:off x="5588000" y="1905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11" name="Shape 8"/>
          <p:cNvSpPr/>
          <p:nvPr/>
        </p:nvSpPr>
        <p:spPr>
          <a:xfrm>
            <a:off x="5842000" y="2159000"/>
            <a:ext cx="457200" cy="457200"/>
          </a:xfrm>
          <a:custGeom>
            <a:avLst/>
            <a:gdLst/>
            <a:ahLst/>
            <a:cxnLst/>
            <a:rect l="l" t="t" r="r" b="b"/>
            <a:pathLst>
              <a:path w="457200" h="457200">
                <a:moveTo>
                  <a:pt x="366653" y="110817"/>
                </a:moveTo>
                <a:cubicBezTo>
                  <a:pt x="385137" y="124748"/>
                  <a:pt x="407730" y="138232"/>
                  <a:pt x="432911" y="141625"/>
                </a:cubicBezTo>
                <a:cubicBezTo>
                  <a:pt x="444609" y="143232"/>
                  <a:pt x="455414" y="134928"/>
                  <a:pt x="457021" y="123230"/>
                </a:cubicBezTo>
                <a:cubicBezTo>
                  <a:pt x="458629" y="111532"/>
                  <a:pt x="450324" y="100727"/>
                  <a:pt x="438626" y="99120"/>
                </a:cubicBezTo>
                <a:cubicBezTo>
                  <a:pt x="424428" y="97244"/>
                  <a:pt x="408980" y="89029"/>
                  <a:pt x="392460" y="76617"/>
                </a:cubicBezTo>
                <a:cubicBezTo>
                  <a:pt x="358170" y="50721"/>
                  <a:pt x="311646" y="50721"/>
                  <a:pt x="277267" y="76617"/>
                </a:cubicBezTo>
                <a:cubicBezTo>
                  <a:pt x="255836" y="92779"/>
                  <a:pt x="240923" y="100102"/>
                  <a:pt x="228600" y="100102"/>
                </a:cubicBezTo>
                <a:cubicBezTo>
                  <a:pt x="216277" y="100102"/>
                  <a:pt x="201364" y="92779"/>
                  <a:pt x="179933" y="76617"/>
                </a:cubicBezTo>
                <a:cubicBezTo>
                  <a:pt x="145643" y="50721"/>
                  <a:pt x="99120" y="50721"/>
                  <a:pt x="64740" y="76617"/>
                </a:cubicBezTo>
                <a:cubicBezTo>
                  <a:pt x="48220" y="89029"/>
                  <a:pt x="32772" y="97244"/>
                  <a:pt x="18574" y="99120"/>
                </a:cubicBezTo>
                <a:cubicBezTo>
                  <a:pt x="6876" y="100727"/>
                  <a:pt x="-1429" y="111443"/>
                  <a:pt x="179" y="123230"/>
                </a:cubicBezTo>
                <a:cubicBezTo>
                  <a:pt x="1786" y="135017"/>
                  <a:pt x="12502" y="143232"/>
                  <a:pt x="24289" y="141625"/>
                </a:cubicBezTo>
                <a:cubicBezTo>
                  <a:pt x="49470" y="138232"/>
                  <a:pt x="72152" y="124748"/>
                  <a:pt x="90547" y="110817"/>
                </a:cubicBezTo>
                <a:cubicBezTo>
                  <a:pt x="109567" y="96441"/>
                  <a:pt x="135106" y="96441"/>
                  <a:pt x="154126" y="110817"/>
                </a:cubicBezTo>
                <a:cubicBezTo>
                  <a:pt x="175736" y="127159"/>
                  <a:pt x="200829" y="142875"/>
                  <a:pt x="228600" y="142875"/>
                </a:cubicBezTo>
                <a:cubicBezTo>
                  <a:pt x="256371" y="142875"/>
                  <a:pt x="281374" y="127069"/>
                  <a:pt x="303074" y="110817"/>
                </a:cubicBezTo>
                <a:cubicBezTo>
                  <a:pt x="322094" y="96441"/>
                  <a:pt x="347633" y="96441"/>
                  <a:pt x="366653" y="110817"/>
                </a:cubicBezTo>
                <a:close/>
                <a:moveTo>
                  <a:pt x="366653" y="239405"/>
                </a:moveTo>
                <a:cubicBezTo>
                  <a:pt x="385137" y="253335"/>
                  <a:pt x="407730" y="266819"/>
                  <a:pt x="432911" y="270212"/>
                </a:cubicBezTo>
                <a:cubicBezTo>
                  <a:pt x="444609" y="271820"/>
                  <a:pt x="455414" y="263515"/>
                  <a:pt x="457021" y="251817"/>
                </a:cubicBezTo>
                <a:cubicBezTo>
                  <a:pt x="458629" y="240119"/>
                  <a:pt x="450324" y="229314"/>
                  <a:pt x="438626" y="227707"/>
                </a:cubicBezTo>
                <a:cubicBezTo>
                  <a:pt x="424428" y="225832"/>
                  <a:pt x="408980" y="217616"/>
                  <a:pt x="392460" y="205204"/>
                </a:cubicBezTo>
                <a:cubicBezTo>
                  <a:pt x="358170" y="179308"/>
                  <a:pt x="311646" y="179308"/>
                  <a:pt x="277267" y="205204"/>
                </a:cubicBezTo>
                <a:cubicBezTo>
                  <a:pt x="255836" y="221367"/>
                  <a:pt x="240923" y="228689"/>
                  <a:pt x="228600" y="228689"/>
                </a:cubicBezTo>
                <a:cubicBezTo>
                  <a:pt x="216277" y="228689"/>
                  <a:pt x="201364" y="221367"/>
                  <a:pt x="179933" y="205204"/>
                </a:cubicBezTo>
                <a:cubicBezTo>
                  <a:pt x="145643" y="179308"/>
                  <a:pt x="99120" y="179308"/>
                  <a:pt x="64740" y="205204"/>
                </a:cubicBezTo>
                <a:cubicBezTo>
                  <a:pt x="48220" y="217616"/>
                  <a:pt x="32772" y="225832"/>
                  <a:pt x="18574" y="227707"/>
                </a:cubicBezTo>
                <a:cubicBezTo>
                  <a:pt x="6876" y="229225"/>
                  <a:pt x="-1429" y="240030"/>
                  <a:pt x="179" y="251817"/>
                </a:cubicBezTo>
                <a:cubicBezTo>
                  <a:pt x="1786" y="263604"/>
                  <a:pt x="12502" y="271820"/>
                  <a:pt x="24289" y="270212"/>
                </a:cubicBezTo>
                <a:cubicBezTo>
                  <a:pt x="49470" y="266819"/>
                  <a:pt x="72152" y="253335"/>
                  <a:pt x="90547" y="239405"/>
                </a:cubicBezTo>
                <a:cubicBezTo>
                  <a:pt x="109567" y="225028"/>
                  <a:pt x="135106" y="225028"/>
                  <a:pt x="154126" y="239405"/>
                </a:cubicBezTo>
                <a:cubicBezTo>
                  <a:pt x="175736" y="255746"/>
                  <a:pt x="200829" y="271463"/>
                  <a:pt x="228600" y="271463"/>
                </a:cubicBezTo>
                <a:cubicBezTo>
                  <a:pt x="256371" y="271463"/>
                  <a:pt x="281374" y="255657"/>
                  <a:pt x="303074" y="239405"/>
                </a:cubicBezTo>
                <a:cubicBezTo>
                  <a:pt x="322094" y="225028"/>
                  <a:pt x="347633" y="225028"/>
                  <a:pt x="366653" y="239405"/>
                </a:cubicBezTo>
                <a:close/>
                <a:moveTo>
                  <a:pt x="303074" y="367992"/>
                </a:moveTo>
                <a:cubicBezTo>
                  <a:pt x="322094" y="353616"/>
                  <a:pt x="347633" y="353616"/>
                  <a:pt x="366653" y="367992"/>
                </a:cubicBezTo>
                <a:cubicBezTo>
                  <a:pt x="385137" y="381923"/>
                  <a:pt x="407730" y="395407"/>
                  <a:pt x="432911" y="398800"/>
                </a:cubicBezTo>
                <a:cubicBezTo>
                  <a:pt x="444609" y="400407"/>
                  <a:pt x="455414" y="392103"/>
                  <a:pt x="457021" y="380405"/>
                </a:cubicBezTo>
                <a:cubicBezTo>
                  <a:pt x="458629" y="368707"/>
                  <a:pt x="450324" y="357902"/>
                  <a:pt x="438626" y="356295"/>
                </a:cubicBezTo>
                <a:cubicBezTo>
                  <a:pt x="424428" y="354419"/>
                  <a:pt x="408980" y="346204"/>
                  <a:pt x="392460" y="333792"/>
                </a:cubicBezTo>
                <a:cubicBezTo>
                  <a:pt x="358170" y="307896"/>
                  <a:pt x="311646" y="307896"/>
                  <a:pt x="277267" y="333792"/>
                </a:cubicBezTo>
                <a:cubicBezTo>
                  <a:pt x="255836" y="349954"/>
                  <a:pt x="240923" y="357277"/>
                  <a:pt x="228600" y="357277"/>
                </a:cubicBezTo>
                <a:cubicBezTo>
                  <a:pt x="216277" y="357277"/>
                  <a:pt x="201364" y="349954"/>
                  <a:pt x="179933" y="333792"/>
                </a:cubicBezTo>
                <a:cubicBezTo>
                  <a:pt x="145643" y="307896"/>
                  <a:pt x="99120" y="307896"/>
                  <a:pt x="64740" y="333792"/>
                </a:cubicBezTo>
                <a:cubicBezTo>
                  <a:pt x="48220" y="346204"/>
                  <a:pt x="32772" y="354419"/>
                  <a:pt x="18574" y="356295"/>
                </a:cubicBezTo>
                <a:cubicBezTo>
                  <a:pt x="6876" y="357902"/>
                  <a:pt x="-1429" y="368618"/>
                  <a:pt x="179" y="380405"/>
                </a:cubicBezTo>
                <a:cubicBezTo>
                  <a:pt x="1786" y="392192"/>
                  <a:pt x="12502" y="400407"/>
                  <a:pt x="24289" y="398800"/>
                </a:cubicBezTo>
                <a:cubicBezTo>
                  <a:pt x="49470" y="395407"/>
                  <a:pt x="72152" y="381923"/>
                  <a:pt x="90547" y="367992"/>
                </a:cubicBezTo>
                <a:cubicBezTo>
                  <a:pt x="109567" y="353616"/>
                  <a:pt x="135106" y="353616"/>
                  <a:pt x="154126" y="367992"/>
                </a:cubicBezTo>
                <a:cubicBezTo>
                  <a:pt x="175736" y="384334"/>
                  <a:pt x="200829" y="400050"/>
                  <a:pt x="228600" y="400050"/>
                </a:cubicBezTo>
                <a:cubicBezTo>
                  <a:pt x="256371" y="400050"/>
                  <a:pt x="281374" y="384244"/>
                  <a:pt x="303074" y="367992"/>
                </a:cubicBezTo>
                <a:close/>
              </a:path>
            </a:pathLst>
          </a:custGeom>
          <a:solidFill>
            <a:srgbClr val="7C3AED"/>
          </a:solidFill>
          <a:ln/>
        </p:spPr>
        <p:txBody>
          <a:bodyPr/>
          <a:lstStyle/>
          <a:p>
            <a:endParaRPr lang="en-US"/>
          </a:p>
        </p:txBody>
      </p:sp>
      <p:sp>
        <p:nvSpPr>
          <p:cNvPr id="12" name="Text 9"/>
          <p:cNvSpPr/>
          <p:nvPr/>
        </p:nvSpPr>
        <p:spPr>
          <a:xfrm>
            <a:off x="6451600" y="2133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Streamlit</a:t>
            </a:r>
            <a:endParaRPr lang="en-US" sz="1600" dirty="0"/>
          </a:p>
        </p:txBody>
      </p:sp>
      <p:sp>
        <p:nvSpPr>
          <p:cNvPr id="13" name="Text 10"/>
          <p:cNvSpPr/>
          <p:nvPr/>
        </p:nvSpPr>
        <p:spPr>
          <a:xfrm>
            <a:off x="6451600" y="2451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Interactive web interface framework</a:t>
            </a:r>
            <a:endParaRPr lang="en-US" sz="1400" dirty="0"/>
          </a:p>
        </p:txBody>
      </p:sp>
      <p:sp>
        <p:nvSpPr>
          <p:cNvPr id="14" name="Shape 11"/>
          <p:cNvSpPr/>
          <p:nvPr/>
        </p:nvSpPr>
        <p:spPr>
          <a:xfrm>
            <a:off x="10414000" y="1905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15" name="Shape 12"/>
          <p:cNvSpPr/>
          <p:nvPr/>
        </p:nvSpPr>
        <p:spPr>
          <a:xfrm>
            <a:off x="10668000" y="2159000"/>
            <a:ext cx="457200" cy="457200"/>
          </a:xfrm>
          <a:custGeom>
            <a:avLst/>
            <a:gdLst/>
            <a:ahLst/>
            <a:cxnLst/>
            <a:rect l="l" t="t" r="r" b="b"/>
            <a:pathLst>
              <a:path w="457200" h="457200">
                <a:moveTo>
                  <a:pt x="104209" y="30182"/>
                </a:moveTo>
                <a:cubicBezTo>
                  <a:pt x="108228" y="24735"/>
                  <a:pt x="114657" y="21431"/>
                  <a:pt x="121444" y="21431"/>
                </a:cubicBezTo>
                <a:lnTo>
                  <a:pt x="335756" y="21431"/>
                </a:lnTo>
                <a:cubicBezTo>
                  <a:pt x="342543" y="21431"/>
                  <a:pt x="348972" y="24646"/>
                  <a:pt x="352991" y="30182"/>
                </a:cubicBezTo>
                <a:lnTo>
                  <a:pt x="453003" y="165914"/>
                </a:lnTo>
                <a:cubicBezTo>
                  <a:pt x="459075" y="174129"/>
                  <a:pt x="458450" y="185470"/>
                  <a:pt x="451664" y="193060"/>
                </a:cubicBezTo>
                <a:lnTo>
                  <a:pt x="244495" y="421660"/>
                </a:lnTo>
                <a:cubicBezTo>
                  <a:pt x="240476" y="426125"/>
                  <a:pt x="234672" y="428714"/>
                  <a:pt x="228600" y="428714"/>
                </a:cubicBezTo>
                <a:cubicBezTo>
                  <a:pt x="222528" y="428714"/>
                  <a:pt x="216813" y="426125"/>
                  <a:pt x="212705" y="421660"/>
                </a:cubicBezTo>
                <a:lnTo>
                  <a:pt x="5536" y="193060"/>
                </a:lnTo>
                <a:cubicBezTo>
                  <a:pt x="-1339" y="185470"/>
                  <a:pt x="-1875" y="174129"/>
                  <a:pt x="4197" y="165914"/>
                </a:cubicBezTo>
                <a:lnTo>
                  <a:pt x="104209" y="30182"/>
                </a:lnTo>
                <a:close/>
                <a:moveTo>
                  <a:pt x="138589" y="65723"/>
                </a:moveTo>
                <a:cubicBezTo>
                  <a:pt x="135642" y="67955"/>
                  <a:pt x="134838" y="71973"/>
                  <a:pt x="136714" y="75099"/>
                </a:cubicBezTo>
                <a:lnTo>
                  <a:pt x="187970" y="160556"/>
                </a:lnTo>
                <a:lnTo>
                  <a:pt x="56525" y="171450"/>
                </a:lnTo>
                <a:cubicBezTo>
                  <a:pt x="52864" y="171718"/>
                  <a:pt x="50006" y="174843"/>
                  <a:pt x="50006" y="178594"/>
                </a:cubicBezTo>
                <a:cubicBezTo>
                  <a:pt x="50006" y="182344"/>
                  <a:pt x="52864" y="185380"/>
                  <a:pt x="56525" y="185738"/>
                </a:cubicBezTo>
                <a:lnTo>
                  <a:pt x="227975" y="200025"/>
                </a:lnTo>
                <a:cubicBezTo>
                  <a:pt x="228332" y="200025"/>
                  <a:pt x="228779" y="200025"/>
                  <a:pt x="229136" y="200025"/>
                </a:cubicBezTo>
                <a:lnTo>
                  <a:pt x="400586" y="185738"/>
                </a:lnTo>
                <a:cubicBezTo>
                  <a:pt x="404247" y="185470"/>
                  <a:pt x="407104" y="182344"/>
                  <a:pt x="407104" y="178594"/>
                </a:cubicBezTo>
                <a:cubicBezTo>
                  <a:pt x="407104" y="174843"/>
                  <a:pt x="404247" y="171807"/>
                  <a:pt x="400586" y="171450"/>
                </a:cubicBezTo>
                <a:lnTo>
                  <a:pt x="269141" y="160466"/>
                </a:lnTo>
                <a:lnTo>
                  <a:pt x="320397" y="75099"/>
                </a:lnTo>
                <a:cubicBezTo>
                  <a:pt x="322272" y="71973"/>
                  <a:pt x="321469" y="67866"/>
                  <a:pt x="318522" y="65723"/>
                </a:cubicBezTo>
                <a:cubicBezTo>
                  <a:pt x="315575" y="63579"/>
                  <a:pt x="311468" y="63937"/>
                  <a:pt x="308967" y="66615"/>
                </a:cubicBezTo>
                <a:lnTo>
                  <a:pt x="228600" y="153769"/>
                </a:lnTo>
                <a:lnTo>
                  <a:pt x="148144" y="66615"/>
                </a:lnTo>
                <a:cubicBezTo>
                  <a:pt x="145643" y="63937"/>
                  <a:pt x="141536" y="63579"/>
                  <a:pt x="138589" y="65723"/>
                </a:cubicBezTo>
                <a:close/>
              </a:path>
            </a:pathLst>
          </a:custGeom>
          <a:solidFill>
            <a:srgbClr val="2563EB"/>
          </a:solidFill>
          <a:ln/>
        </p:spPr>
        <p:txBody>
          <a:bodyPr/>
          <a:lstStyle/>
          <a:p>
            <a:endParaRPr lang="en-US"/>
          </a:p>
        </p:txBody>
      </p:sp>
      <p:sp>
        <p:nvSpPr>
          <p:cNvPr id="16" name="Text 13"/>
          <p:cNvSpPr/>
          <p:nvPr/>
        </p:nvSpPr>
        <p:spPr>
          <a:xfrm>
            <a:off x="11277600" y="2133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Gemini API</a:t>
            </a:r>
            <a:endParaRPr lang="en-US" sz="1600" dirty="0"/>
          </a:p>
        </p:txBody>
      </p:sp>
      <p:sp>
        <p:nvSpPr>
          <p:cNvPr id="17" name="Text 14"/>
          <p:cNvSpPr/>
          <p:nvPr/>
        </p:nvSpPr>
        <p:spPr>
          <a:xfrm>
            <a:off x="11277600" y="2451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Generative AI reasoning engine</a:t>
            </a:r>
            <a:endParaRPr lang="en-US" sz="1400" dirty="0"/>
          </a:p>
        </p:txBody>
      </p:sp>
      <p:sp>
        <p:nvSpPr>
          <p:cNvPr id="18" name="Shape 15"/>
          <p:cNvSpPr/>
          <p:nvPr/>
        </p:nvSpPr>
        <p:spPr>
          <a:xfrm>
            <a:off x="762000" y="3556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19" name="Shape 16"/>
          <p:cNvSpPr/>
          <p:nvPr/>
        </p:nvSpPr>
        <p:spPr>
          <a:xfrm>
            <a:off x="1016000" y="3810000"/>
            <a:ext cx="457200" cy="457200"/>
          </a:xfrm>
          <a:custGeom>
            <a:avLst/>
            <a:gdLst/>
            <a:ahLst/>
            <a:cxnLst/>
            <a:rect l="l" t="t" r="r" b="b"/>
            <a:pathLst>
              <a:path w="457200" h="457200">
                <a:moveTo>
                  <a:pt x="446484" y="233779"/>
                </a:moveTo>
                <a:cubicBezTo>
                  <a:pt x="446484" y="360134"/>
                  <a:pt x="359956" y="450056"/>
                  <a:pt x="232172" y="450056"/>
                </a:cubicBezTo>
                <a:cubicBezTo>
                  <a:pt x="109657" y="450056"/>
                  <a:pt x="10716" y="351115"/>
                  <a:pt x="10716" y="228600"/>
                </a:cubicBezTo>
                <a:cubicBezTo>
                  <a:pt x="10716" y="106085"/>
                  <a:pt x="109657" y="7144"/>
                  <a:pt x="232172" y="7144"/>
                </a:cubicBezTo>
                <a:cubicBezTo>
                  <a:pt x="291822" y="7144"/>
                  <a:pt x="342007" y="29021"/>
                  <a:pt x="380673" y="65097"/>
                </a:cubicBezTo>
                <a:lnTo>
                  <a:pt x="320397" y="123051"/>
                </a:lnTo>
                <a:cubicBezTo>
                  <a:pt x="241548" y="46970"/>
                  <a:pt x="94923" y="104120"/>
                  <a:pt x="94923" y="228600"/>
                </a:cubicBezTo>
                <a:cubicBezTo>
                  <a:pt x="94923" y="305842"/>
                  <a:pt x="156627" y="368439"/>
                  <a:pt x="232172" y="368439"/>
                </a:cubicBezTo>
                <a:cubicBezTo>
                  <a:pt x="319861" y="368439"/>
                  <a:pt x="352723" y="305574"/>
                  <a:pt x="357902" y="272981"/>
                </a:cubicBezTo>
                <a:lnTo>
                  <a:pt x="232172" y="272981"/>
                </a:lnTo>
                <a:lnTo>
                  <a:pt x="232172" y="196810"/>
                </a:lnTo>
                <a:lnTo>
                  <a:pt x="443002" y="196810"/>
                </a:lnTo>
                <a:cubicBezTo>
                  <a:pt x="445056" y="208151"/>
                  <a:pt x="446484" y="219045"/>
                  <a:pt x="446484" y="233779"/>
                </a:cubicBezTo>
                <a:close/>
              </a:path>
            </a:pathLst>
          </a:custGeom>
          <a:solidFill>
            <a:srgbClr val="7C3AED"/>
          </a:solidFill>
          <a:ln/>
        </p:spPr>
        <p:txBody>
          <a:bodyPr/>
          <a:lstStyle/>
          <a:p>
            <a:endParaRPr lang="en-US"/>
          </a:p>
        </p:txBody>
      </p:sp>
      <p:sp>
        <p:nvSpPr>
          <p:cNvPr id="20" name="Text 17"/>
          <p:cNvSpPr/>
          <p:nvPr/>
        </p:nvSpPr>
        <p:spPr>
          <a:xfrm>
            <a:off x="1625600" y="3784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Google Generative AI</a:t>
            </a:r>
            <a:endParaRPr lang="en-US" sz="1600" dirty="0"/>
          </a:p>
        </p:txBody>
      </p:sp>
      <p:sp>
        <p:nvSpPr>
          <p:cNvPr id="21" name="Text 18"/>
          <p:cNvSpPr/>
          <p:nvPr/>
        </p:nvSpPr>
        <p:spPr>
          <a:xfrm>
            <a:off x="1625600" y="4102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Advanced LLM reasoning capabilities</a:t>
            </a:r>
            <a:endParaRPr lang="en-US" sz="1400" dirty="0"/>
          </a:p>
        </p:txBody>
      </p:sp>
      <p:sp>
        <p:nvSpPr>
          <p:cNvPr id="22" name="Shape 19"/>
          <p:cNvSpPr/>
          <p:nvPr/>
        </p:nvSpPr>
        <p:spPr>
          <a:xfrm>
            <a:off x="5588000" y="3556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23" name="Shape 20"/>
          <p:cNvSpPr/>
          <p:nvPr/>
        </p:nvSpPr>
        <p:spPr>
          <a:xfrm>
            <a:off x="5842000" y="3810000"/>
            <a:ext cx="457200" cy="457200"/>
          </a:xfrm>
          <a:custGeom>
            <a:avLst/>
            <a:gdLst/>
            <a:ahLst/>
            <a:cxnLst/>
            <a:rect l="l" t="t" r="r" b="b"/>
            <a:pathLst>
              <a:path w="457200" h="457200">
                <a:moveTo>
                  <a:pt x="360759" y="0"/>
                </a:moveTo>
                <a:cubicBezTo>
                  <a:pt x="377904" y="0"/>
                  <a:pt x="394335" y="6787"/>
                  <a:pt x="406390" y="18931"/>
                </a:cubicBezTo>
                <a:lnTo>
                  <a:pt x="438269" y="50810"/>
                </a:lnTo>
                <a:cubicBezTo>
                  <a:pt x="450413" y="62865"/>
                  <a:pt x="457200" y="79296"/>
                  <a:pt x="457200" y="96441"/>
                </a:cubicBezTo>
                <a:cubicBezTo>
                  <a:pt x="457200" y="113586"/>
                  <a:pt x="450413" y="130016"/>
                  <a:pt x="438269" y="142071"/>
                </a:cubicBezTo>
                <a:lnTo>
                  <a:pt x="398175" y="182166"/>
                </a:lnTo>
                <a:lnTo>
                  <a:pt x="275034" y="59025"/>
                </a:lnTo>
                <a:lnTo>
                  <a:pt x="315129" y="18931"/>
                </a:lnTo>
                <a:cubicBezTo>
                  <a:pt x="327184" y="6787"/>
                  <a:pt x="343614" y="0"/>
                  <a:pt x="360759" y="0"/>
                </a:cubicBezTo>
                <a:close/>
                <a:moveTo>
                  <a:pt x="52596" y="281374"/>
                </a:moveTo>
                <a:lnTo>
                  <a:pt x="244763" y="89297"/>
                </a:lnTo>
                <a:lnTo>
                  <a:pt x="367903" y="212437"/>
                </a:lnTo>
                <a:lnTo>
                  <a:pt x="175826" y="404604"/>
                </a:lnTo>
                <a:cubicBezTo>
                  <a:pt x="166271" y="414159"/>
                  <a:pt x="154305" y="421124"/>
                  <a:pt x="141268" y="424785"/>
                </a:cubicBezTo>
                <a:lnTo>
                  <a:pt x="27146" y="456396"/>
                </a:lnTo>
                <a:cubicBezTo>
                  <a:pt x="19735" y="458450"/>
                  <a:pt x="11698" y="456396"/>
                  <a:pt x="6251" y="450860"/>
                </a:cubicBezTo>
                <a:cubicBezTo>
                  <a:pt x="804" y="445324"/>
                  <a:pt x="-1339" y="437376"/>
                  <a:pt x="714" y="429964"/>
                </a:cubicBezTo>
                <a:lnTo>
                  <a:pt x="32504" y="315932"/>
                </a:lnTo>
                <a:cubicBezTo>
                  <a:pt x="36165" y="302895"/>
                  <a:pt x="43041" y="291019"/>
                  <a:pt x="52685" y="281374"/>
                </a:cubicBezTo>
                <a:close/>
                <a:moveTo>
                  <a:pt x="201275" y="72152"/>
                </a:moveTo>
                <a:lnTo>
                  <a:pt x="72152" y="201275"/>
                </a:lnTo>
                <a:lnTo>
                  <a:pt x="10448" y="139571"/>
                </a:lnTo>
                <a:cubicBezTo>
                  <a:pt x="-3483" y="125641"/>
                  <a:pt x="-3483" y="103049"/>
                  <a:pt x="10448" y="89029"/>
                </a:cubicBezTo>
                <a:lnTo>
                  <a:pt x="89029" y="10448"/>
                </a:lnTo>
                <a:cubicBezTo>
                  <a:pt x="102959" y="-3483"/>
                  <a:pt x="125551" y="-3483"/>
                  <a:pt x="139571" y="10448"/>
                </a:cubicBezTo>
                <a:lnTo>
                  <a:pt x="144840" y="15716"/>
                </a:lnTo>
                <a:lnTo>
                  <a:pt x="94565" y="65990"/>
                </a:lnTo>
                <a:cubicBezTo>
                  <a:pt x="87600" y="72956"/>
                  <a:pt x="87600" y="84296"/>
                  <a:pt x="94565" y="91261"/>
                </a:cubicBezTo>
                <a:cubicBezTo>
                  <a:pt x="101531" y="98227"/>
                  <a:pt x="112871" y="98227"/>
                  <a:pt x="119836" y="91261"/>
                </a:cubicBezTo>
                <a:lnTo>
                  <a:pt x="170111" y="40987"/>
                </a:lnTo>
                <a:lnTo>
                  <a:pt x="201275" y="72152"/>
                </a:lnTo>
                <a:close/>
                <a:moveTo>
                  <a:pt x="385048" y="255925"/>
                </a:moveTo>
                <a:lnTo>
                  <a:pt x="416213" y="287089"/>
                </a:lnTo>
                <a:lnTo>
                  <a:pt x="365939" y="337364"/>
                </a:lnTo>
                <a:cubicBezTo>
                  <a:pt x="358973" y="344329"/>
                  <a:pt x="358973" y="355669"/>
                  <a:pt x="365939" y="362635"/>
                </a:cubicBezTo>
                <a:cubicBezTo>
                  <a:pt x="372904" y="369600"/>
                  <a:pt x="384244" y="369600"/>
                  <a:pt x="391210" y="362635"/>
                </a:cubicBezTo>
                <a:lnTo>
                  <a:pt x="441484" y="312360"/>
                </a:lnTo>
                <a:lnTo>
                  <a:pt x="446752" y="317629"/>
                </a:lnTo>
                <a:cubicBezTo>
                  <a:pt x="460683" y="331559"/>
                  <a:pt x="460683" y="354151"/>
                  <a:pt x="446752" y="368171"/>
                </a:cubicBezTo>
                <a:lnTo>
                  <a:pt x="368171" y="446752"/>
                </a:lnTo>
                <a:cubicBezTo>
                  <a:pt x="354241" y="460683"/>
                  <a:pt x="331649" y="460683"/>
                  <a:pt x="317629" y="446752"/>
                </a:cubicBezTo>
                <a:lnTo>
                  <a:pt x="255925" y="385048"/>
                </a:lnTo>
                <a:lnTo>
                  <a:pt x="385048" y="255925"/>
                </a:lnTo>
                <a:close/>
              </a:path>
            </a:pathLst>
          </a:custGeom>
          <a:solidFill>
            <a:srgbClr val="2563EB"/>
          </a:solidFill>
          <a:ln/>
        </p:spPr>
        <p:txBody>
          <a:bodyPr/>
          <a:lstStyle/>
          <a:p>
            <a:endParaRPr lang="en-US"/>
          </a:p>
        </p:txBody>
      </p:sp>
      <p:sp>
        <p:nvSpPr>
          <p:cNvPr id="24" name="Text 21"/>
          <p:cNvSpPr/>
          <p:nvPr/>
        </p:nvSpPr>
        <p:spPr>
          <a:xfrm>
            <a:off x="6451600" y="3784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Schemdraw</a:t>
            </a:r>
            <a:endParaRPr lang="en-US" sz="1600" dirty="0"/>
          </a:p>
        </p:txBody>
      </p:sp>
      <p:sp>
        <p:nvSpPr>
          <p:cNvPr id="25" name="Text 22"/>
          <p:cNvSpPr/>
          <p:nvPr/>
        </p:nvSpPr>
        <p:spPr>
          <a:xfrm>
            <a:off x="6451600" y="4102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Circuit diagram generation engine</a:t>
            </a:r>
            <a:endParaRPr lang="en-US" sz="1400" dirty="0"/>
          </a:p>
        </p:txBody>
      </p:sp>
      <p:sp>
        <p:nvSpPr>
          <p:cNvPr id="26" name="Shape 23"/>
          <p:cNvSpPr/>
          <p:nvPr/>
        </p:nvSpPr>
        <p:spPr>
          <a:xfrm>
            <a:off x="10414000" y="3556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27" name="Shape 24"/>
          <p:cNvSpPr/>
          <p:nvPr/>
        </p:nvSpPr>
        <p:spPr>
          <a:xfrm>
            <a:off x="10668000" y="3810000"/>
            <a:ext cx="457200" cy="457200"/>
          </a:xfrm>
          <a:custGeom>
            <a:avLst/>
            <a:gdLst/>
            <a:ahLst/>
            <a:cxnLst/>
            <a:rect l="l" t="t" r="r" b="b"/>
            <a:pathLst>
              <a:path w="457200" h="457200">
                <a:moveTo>
                  <a:pt x="211455" y="121444"/>
                </a:moveTo>
                <a:lnTo>
                  <a:pt x="211455" y="78581"/>
                </a:lnTo>
                <a:lnTo>
                  <a:pt x="245745" y="78581"/>
                </a:lnTo>
                <a:lnTo>
                  <a:pt x="245745" y="121444"/>
                </a:lnTo>
                <a:lnTo>
                  <a:pt x="211455" y="121444"/>
                </a:lnTo>
                <a:close/>
                <a:moveTo>
                  <a:pt x="205740" y="28575"/>
                </a:moveTo>
                <a:cubicBezTo>
                  <a:pt x="186809" y="28575"/>
                  <a:pt x="171450" y="47774"/>
                  <a:pt x="171450" y="71438"/>
                </a:cubicBezTo>
                <a:lnTo>
                  <a:pt x="171450" y="75009"/>
                </a:lnTo>
                <a:lnTo>
                  <a:pt x="86868" y="75009"/>
                </a:lnTo>
                <a:cubicBezTo>
                  <a:pt x="79439" y="55989"/>
                  <a:pt x="63794" y="42863"/>
                  <a:pt x="45720" y="42863"/>
                </a:cubicBezTo>
                <a:cubicBezTo>
                  <a:pt x="20503" y="42863"/>
                  <a:pt x="0" y="68491"/>
                  <a:pt x="0" y="100013"/>
                </a:cubicBezTo>
                <a:cubicBezTo>
                  <a:pt x="0" y="131534"/>
                  <a:pt x="20503" y="157163"/>
                  <a:pt x="45720" y="157163"/>
                </a:cubicBezTo>
                <a:cubicBezTo>
                  <a:pt x="63794" y="157163"/>
                  <a:pt x="79439" y="144036"/>
                  <a:pt x="86868" y="125016"/>
                </a:cubicBezTo>
                <a:lnTo>
                  <a:pt x="134660" y="125016"/>
                </a:lnTo>
                <a:cubicBezTo>
                  <a:pt x="92583" y="160377"/>
                  <a:pt x="64008" y="218777"/>
                  <a:pt x="60365" y="285750"/>
                </a:cubicBezTo>
                <a:lnTo>
                  <a:pt x="57150" y="285750"/>
                </a:lnTo>
                <a:cubicBezTo>
                  <a:pt x="38219" y="285750"/>
                  <a:pt x="22860" y="304949"/>
                  <a:pt x="22860" y="328613"/>
                </a:cubicBezTo>
                <a:lnTo>
                  <a:pt x="22860" y="385763"/>
                </a:lnTo>
                <a:cubicBezTo>
                  <a:pt x="22860" y="409426"/>
                  <a:pt x="38219" y="428625"/>
                  <a:pt x="57150" y="428625"/>
                </a:cubicBezTo>
                <a:lnTo>
                  <a:pt x="102870" y="428625"/>
                </a:lnTo>
                <a:cubicBezTo>
                  <a:pt x="121801" y="428625"/>
                  <a:pt x="137160" y="409426"/>
                  <a:pt x="137160" y="385763"/>
                </a:cubicBezTo>
                <a:lnTo>
                  <a:pt x="137160" y="328613"/>
                </a:lnTo>
                <a:cubicBezTo>
                  <a:pt x="137160" y="304949"/>
                  <a:pt x="121801" y="285750"/>
                  <a:pt x="102870" y="285750"/>
                </a:cubicBezTo>
                <a:lnTo>
                  <a:pt x="100513" y="285750"/>
                </a:lnTo>
                <a:cubicBezTo>
                  <a:pt x="104727" y="225921"/>
                  <a:pt x="135160" y="175558"/>
                  <a:pt x="177308" y="152608"/>
                </a:cubicBezTo>
                <a:cubicBezTo>
                  <a:pt x="183452" y="163949"/>
                  <a:pt x="193881" y="171450"/>
                  <a:pt x="205740" y="171450"/>
                </a:cubicBezTo>
                <a:lnTo>
                  <a:pt x="251460" y="171450"/>
                </a:lnTo>
                <a:cubicBezTo>
                  <a:pt x="263319" y="171450"/>
                  <a:pt x="273677" y="163949"/>
                  <a:pt x="279892" y="152608"/>
                </a:cubicBezTo>
                <a:cubicBezTo>
                  <a:pt x="322040" y="175558"/>
                  <a:pt x="352473" y="225921"/>
                  <a:pt x="356687" y="285750"/>
                </a:cubicBezTo>
                <a:lnTo>
                  <a:pt x="354330" y="285750"/>
                </a:lnTo>
                <a:cubicBezTo>
                  <a:pt x="335399" y="285750"/>
                  <a:pt x="320040" y="304949"/>
                  <a:pt x="320040" y="328613"/>
                </a:cubicBezTo>
                <a:lnTo>
                  <a:pt x="320040" y="385763"/>
                </a:lnTo>
                <a:cubicBezTo>
                  <a:pt x="320040" y="409426"/>
                  <a:pt x="335399" y="428625"/>
                  <a:pt x="354330" y="428625"/>
                </a:cubicBezTo>
                <a:lnTo>
                  <a:pt x="400050" y="428625"/>
                </a:lnTo>
                <a:cubicBezTo>
                  <a:pt x="418981" y="428625"/>
                  <a:pt x="434340" y="409426"/>
                  <a:pt x="434340" y="385763"/>
                </a:cubicBezTo>
                <a:lnTo>
                  <a:pt x="434340" y="328613"/>
                </a:lnTo>
                <a:cubicBezTo>
                  <a:pt x="434340" y="304949"/>
                  <a:pt x="418981" y="285750"/>
                  <a:pt x="400050" y="285750"/>
                </a:cubicBezTo>
                <a:lnTo>
                  <a:pt x="396835" y="285750"/>
                </a:lnTo>
                <a:cubicBezTo>
                  <a:pt x="393263" y="218777"/>
                  <a:pt x="364617" y="160377"/>
                  <a:pt x="322540" y="125016"/>
                </a:cubicBezTo>
                <a:lnTo>
                  <a:pt x="370332" y="125016"/>
                </a:lnTo>
                <a:cubicBezTo>
                  <a:pt x="377761" y="144036"/>
                  <a:pt x="393406" y="157163"/>
                  <a:pt x="411480" y="157163"/>
                </a:cubicBezTo>
                <a:cubicBezTo>
                  <a:pt x="436697" y="157163"/>
                  <a:pt x="457200" y="131534"/>
                  <a:pt x="457200" y="100013"/>
                </a:cubicBezTo>
                <a:cubicBezTo>
                  <a:pt x="457200" y="68491"/>
                  <a:pt x="436697" y="42863"/>
                  <a:pt x="411480" y="42863"/>
                </a:cubicBezTo>
                <a:cubicBezTo>
                  <a:pt x="393406" y="42863"/>
                  <a:pt x="377761" y="55989"/>
                  <a:pt x="370332" y="75009"/>
                </a:cubicBezTo>
                <a:lnTo>
                  <a:pt x="285750" y="75009"/>
                </a:lnTo>
                <a:lnTo>
                  <a:pt x="285750" y="71438"/>
                </a:lnTo>
                <a:cubicBezTo>
                  <a:pt x="285750" y="47774"/>
                  <a:pt x="270391" y="28575"/>
                  <a:pt x="251460" y="28575"/>
                </a:cubicBezTo>
                <a:lnTo>
                  <a:pt x="205740" y="28575"/>
                </a:lnTo>
                <a:close/>
                <a:moveTo>
                  <a:pt x="62865" y="335756"/>
                </a:moveTo>
                <a:lnTo>
                  <a:pt x="97155" y="335756"/>
                </a:lnTo>
                <a:lnTo>
                  <a:pt x="97155" y="378619"/>
                </a:lnTo>
                <a:lnTo>
                  <a:pt x="62865" y="378619"/>
                </a:lnTo>
                <a:lnTo>
                  <a:pt x="62865" y="335756"/>
                </a:lnTo>
                <a:close/>
                <a:moveTo>
                  <a:pt x="360045" y="378619"/>
                </a:moveTo>
                <a:lnTo>
                  <a:pt x="360045" y="335756"/>
                </a:lnTo>
                <a:lnTo>
                  <a:pt x="394335" y="335756"/>
                </a:lnTo>
                <a:lnTo>
                  <a:pt x="394335" y="378619"/>
                </a:lnTo>
                <a:lnTo>
                  <a:pt x="360045" y="378619"/>
                </a:lnTo>
                <a:close/>
              </a:path>
            </a:pathLst>
          </a:custGeom>
          <a:solidFill>
            <a:srgbClr val="7C3AED"/>
          </a:solidFill>
          <a:ln/>
        </p:spPr>
        <p:txBody>
          <a:bodyPr/>
          <a:lstStyle/>
          <a:p>
            <a:endParaRPr lang="en-US"/>
          </a:p>
        </p:txBody>
      </p:sp>
      <p:sp>
        <p:nvSpPr>
          <p:cNvPr id="28" name="Text 25"/>
          <p:cNvSpPr/>
          <p:nvPr/>
        </p:nvSpPr>
        <p:spPr>
          <a:xfrm>
            <a:off x="11277600" y="3784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SVG</a:t>
            </a:r>
            <a:endParaRPr lang="en-US" sz="1600" dirty="0"/>
          </a:p>
        </p:txBody>
      </p:sp>
      <p:sp>
        <p:nvSpPr>
          <p:cNvPr id="29" name="Text 26"/>
          <p:cNvSpPr/>
          <p:nvPr/>
        </p:nvSpPr>
        <p:spPr>
          <a:xfrm>
            <a:off x="11277600" y="4102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Scalable vector graphics output</a:t>
            </a:r>
            <a:endParaRPr lang="en-US" sz="1400" dirty="0"/>
          </a:p>
        </p:txBody>
      </p:sp>
      <p:sp>
        <p:nvSpPr>
          <p:cNvPr id="30" name="Shape 27"/>
          <p:cNvSpPr/>
          <p:nvPr/>
        </p:nvSpPr>
        <p:spPr>
          <a:xfrm>
            <a:off x="762000" y="5207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31" name="Shape 28"/>
          <p:cNvSpPr/>
          <p:nvPr/>
        </p:nvSpPr>
        <p:spPr>
          <a:xfrm>
            <a:off x="1016000" y="5461000"/>
            <a:ext cx="457200" cy="457200"/>
          </a:xfrm>
          <a:custGeom>
            <a:avLst/>
            <a:gdLst/>
            <a:ahLst/>
            <a:cxnLst/>
            <a:rect l="l" t="t" r="r" b="b"/>
            <a:pathLst>
              <a:path w="457200" h="457200">
                <a:moveTo>
                  <a:pt x="286385" y="1072"/>
                </a:moveTo>
                <a:cubicBezTo>
                  <a:pt x="272891" y="-3304"/>
                  <a:pt x="258842" y="5536"/>
                  <a:pt x="254953" y="20717"/>
                </a:cubicBezTo>
                <a:lnTo>
                  <a:pt x="153353" y="420767"/>
                </a:lnTo>
                <a:cubicBezTo>
                  <a:pt x="149463" y="435947"/>
                  <a:pt x="157321" y="451753"/>
                  <a:pt x="170815" y="456128"/>
                </a:cubicBezTo>
                <a:cubicBezTo>
                  <a:pt x="184309" y="460504"/>
                  <a:pt x="198358" y="451664"/>
                  <a:pt x="202248" y="436483"/>
                </a:cubicBezTo>
                <a:lnTo>
                  <a:pt x="303848" y="36433"/>
                </a:lnTo>
                <a:cubicBezTo>
                  <a:pt x="307737" y="21253"/>
                  <a:pt x="299879" y="5447"/>
                  <a:pt x="286385" y="1072"/>
                </a:cubicBezTo>
                <a:close/>
                <a:moveTo>
                  <a:pt x="337661" y="122605"/>
                </a:moveTo>
                <a:cubicBezTo>
                  <a:pt x="327739" y="133767"/>
                  <a:pt x="327739" y="151894"/>
                  <a:pt x="337661" y="163056"/>
                </a:cubicBezTo>
                <a:lnTo>
                  <a:pt x="395922" y="228600"/>
                </a:lnTo>
                <a:lnTo>
                  <a:pt x="337661" y="294144"/>
                </a:lnTo>
                <a:cubicBezTo>
                  <a:pt x="327739" y="305306"/>
                  <a:pt x="327739" y="323433"/>
                  <a:pt x="337661" y="334595"/>
                </a:cubicBezTo>
                <a:cubicBezTo>
                  <a:pt x="347583" y="345758"/>
                  <a:pt x="363696" y="345758"/>
                  <a:pt x="373618" y="334595"/>
                </a:cubicBezTo>
                <a:lnTo>
                  <a:pt x="449818" y="248870"/>
                </a:lnTo>
                <a:cubicBezTo>
                  <a:pt x="459740" y="237708"/>
                  <a:pt x="459740" y="219581"/>
                  <a:pt x="449818" y="208419"/>
                </a:cubicBezTo>
                <a:lnTo>
                  <a:pt x="373618" y="122694"/>
                </a:lnTo>
                <a:cubicBezTo>
                  <a:pt x="363696" y="111532"/>
                  <a:pt x="347583" y="111532"/>
                  <a:pt x="337661" y="122694"/>
                </a:cubicBezTo>
                <a:close/>
                <a:moveTo>
                  <a:pt x="119618" y="122605"/>
                </a:moveTo>
                <a:cubicBezTo>
                  <a:pt x="109696" y="111442"/>
                  <a:pt x="93583" y="111442"/>
                  <a:pt x="83661" y="122605"/>
                </a:cubicBezTo>
                <a:lnTo>
                  <a:pt x="7461" y="208330"/>
                </a:lnTo>
                <a:cubicBezTo>
                  <a:pt x="-2461" y="219492"/>
                  <a:pt x="-2461" y="237619"/>
                  <a:pt x="7461" y="248781"/>
                </a:cubicBezTo>
                <a:lnTo>
                  <a:pt x="83661" y="334506"/>
                </a:lnTo>
                <a:cubicBezTo>
                  <a:pt x="93583" y="345668"/>
                  <a:pt x="109696" y="345668"/>
                  <a:pt x="119618" y="334506"/>
                </a:cubicBezTo>
                <a:cubicBezTo>
                  <a:pt x="129540" y="323344"/>
                  <a:pt x="129540" y="305217"/>
                  <a:pt x="119618" y="294055"/>
                </a:cubicBezTo>
                <a:lnTo>
                  <a:pt x="61357" y="228600"/>
                </a:lnTo>
                <a:lnTo>
                  <a:pt x="119539" y="163056"/>
                </a:lnTo>
                <a:cubicBezTo>
                  <a:pt x="129461" y="151894"/>
                  <a:pt x="129461" y="133767"/>
                  <a:pt x="119539" y="122605"/>
                </a:cubicBezTo>
                <a:close/>
              </a:path>
            </a:pathLst>
          </a:custGeom>
          <a:solidFill>
            <a:srgbClr val="2563EB"/>
          </a:solidFill>
          <a:ln/>
        </p:spPr>
        <p:txBody>
          <a:bodyPr/>
          <a:lstStyle/>
          <a:p>
            <a:endParaRPr lang="en-US"/>
          </a:p>
        </p:txBody>
      </p:sp>
      <p:sp>
        <p:nvSpPr>
          <p:cNvPr id="32" name="Text 29"/>
          <p:cNvSpPr/>
          <p:nvPr/>
        </p:nvSpPr>
        <p:spPr>
          <a:xfrm>
            <a:off x="1625600" y="5435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TikZ / LaTeX</a:t>
            </a:r>
            <a:endParaRPr lang="en-US" sz="1600" dirty="0"/>
          </a:p>
        </p:txBody>
      </p:sp>
      <p:sp>
        <p:nvSpPr>
          <p:cNvPr id="33" name="Text 30"/>
          <p:cNvSpPr/>
          <p:nvPr/>
        </p:nvSpPr>
        <p:spPr>
          <a:xfrm>
            <a:off x="1625600" y="5753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LaTeX diagram export format</a:t>
            </a:r>
            <a:endParaRPr lang="en-US" sz="1400" dirty="0"/>
          </a:p>
        </p:txBody>
      </p:sp>
      <p:sp>
        <p:nvSpPr>
          <p:cNvPr id="34" name="Shape 31"/>
          <p:cNvSpPr/>
          <p:nvPr/>
        </p:nvSpPr>
        <p:spPr>
          <a:xfrm>
            <a:off x="5588000" y="5207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35" name="Shape 32"/>
          <p:cNvSpPr/>
          <p:nvPr/>
        </p:nvSpPr>
        <p:spPr>
          <a:xfrm>
            <a:off x="5842000" y="5461000"/>
            <a:ext cx="457200" cy="457200"/>
          </a:xfrm>
          <a:custGeom>
            <a:avLst/>
            <a:gdLst/>
            <a:ahLst/>
            <a:cxnLst/>
            <a:rect l="l" t="t" r="r" b="b"/>
            <a:pathLst>
              <a:path w="457200" h="457200">
                <a:moveTo>
                  <a:pt x="457200" y="183773"/>
                </a:moveTo>
                <a:cubicBezTo>
                  <a:pt x="442096" y="192524"/>
                  <a:pt x="424747" y="199579"/>
                  <a:pt x="406683" y="205204"/>
                </a:cubicBezTo>
                <a:cubicBezTo>
                  <a:pt x="358718" y="220206"/>
                  <a:pt x="295751" y="228600"/>
                  <a:pt x="228600" y="228600"/>
                </a:cubicBezTo>
                <a:cubicBezTo>
                  <a:pt x="161449" y="228600"/>
                  <a:pt x="98380" y="220117"/>
                  <a:pt x="50517" y="205204"/>
                </a:cubicBezTo>
                <a:cubicBezTo>
                  <a:pt x="32555" y="199579"/>
                  <a:pt x="15104" y="192524"/>
                  <a:pt x="0" y="183773"/>
                </a:cubicBezTo>
                <a:lnTo>
                  <a:pt x="0" y="257175"/>
                </a:lnTo>
                <a:cubicBezTo>
                  <a:pt x="0" y="296644"/>
                  <a:pt x="102360" y="328613"/>
                  <a:pt x="228600" y="328613"/>
                </a:cubicBezTo>
                <a:cubicBezTo>
                  <a:pt x="354840" y="328613"/>
                  <a:pt x="457200" y="296644"/>
                  <a:pt x="457200" y="257175"/>
                </a:cubicBezTo>
                <a:lnTo>
                  <a:pt x="457200" y="183773"/>
                </a:lnTo>
                <a:close/>
                <a:moveTo>
                  <a:pt x="457200" y="114300"/>
                </a:moveTo>
                <a:lnTo>
                  <a:pt x="457200" y="71438"/>
                </a:lnTo>
                <a:cubicBezTo>
                  <a:pt x="457200" y="31968"/>
                  <a:pt x="354840" y="0"/>
                  <a:pt x="228600" y="0"/>
                </a:cubicBezTo>
                <a:cubicBezTo>
                  <a:pt x="102360" y="0"/>
                  <a:pt x="0" y="31968"/>
                  <a:pt x="0" y="71438"/>
                </a:cubicBezTo>
                <a:lnTo>
                  <a:pt x="0" y="114300"/>
                </a:lnTo>
                <a:cubicBezTo>
                  <a:pt x="0" y="153769"/>
                  <a:pt x="102360" y="185738"/>
                  <a:pt x="228600" y="185738"/>
                </a:cubicBezTo>
                <a:cubicBezTo>
                  <a:pt x="354840" y="185738"/>
                  <a:pt x="457200" y="153769"/>
                  <a:pt x="457200" y="114300"/>
                </a:cubicBezTo>
                <a:close/>
                <a:moveTo>
                  <a:pt x="406683" y="348079"/>
                </a:moveTo>
                <a:cubicBezTo>
                  <a:pt x="358820" y="362992"/>
                  <a:pt x="295853" y="371475"/>
                  <a:pt x="228600" y="371475"/>
                </a:cubicBezTo>
                <a:cubicBezTo>
                  <a:pt x="161347" y="371475"/>
                  <a:pt x="98380" y="362992"/>
                  <a:pt x="50517" y="348079"/>
                </a:cubicBezTo>
                <a:cubicBezTo>
                  <a:pt x="32555" y="342454"/>
                  <a:pt x="15104" y="335399"/>
                  <a:pt x="0" y="326648"/>
                </a:cubicBezTo>
                <a:lnTo>
                  <a:pt x="0" y="385763"/>
                </a:lnTo>
                <a:cubicBezTo>
                  <a:pt x="0" y="425232"/>
                  <a:pt x="102360" y="457200"/>
                  <a:pt x="228600" y="457200"/>
                </a:cubicBezTo>
                <a:cubicBezTo>
                  <a:pt x="354840" y="457200"/>
                  <a:pt x="457200" y="425232"/>
                  <a:pt x="457200" y="385763"/>
                </a:cubicBezTo>
                <a:lnTo>
                  <a:pt x="457200" y="326648"/>
                </a:lnTo>
                <a:cubicBezTo>
                  <a:pt x="442096" y="335399"/>
                  <a:pt x="424747" y="342454"/>
                  <a:pt x="406683" y="348079"/>
                </a:cubicBezTo>
                <a:close/>
              </a:path>
            </a:pathLst>
          </a:custGeom>
          <a:solidFill>
            <a:srgbClr val="7C3AED"/>
          </a:solidFill>
          <a:ln/>
        </p:spPr>
        <p:txBody>
          <a:bodyPr/>
          <a:lstStyle/>
          <a:p>
            <a:endParaRPr lang="en-US"/>
          </a:p>
        </p:txBody>
      </p:sp>
      <p:sp>
        <p:nvSpPr>
          <p:cNvPr id="36" name="Text 33"/>
          <p:cNvSpPr/>
          <p:nvPr/>
        </p:nvSpPr>
        <p:spPr>
          <a:xfrm>
            <a:off x="6451600" y="5435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JSON</a:t>
            </a:r>
            <a:endParaRPr lang="en-US" sz="1600" dirty="0"/>
          </a:p>
        </p:txBody>
      </p:sp>
      <p:sp>
        <p:nvSpPr>
          <p:cNvPr id="37" name="Text 34"/>
          <p:cNvSpPr/>
          <p:nvPr/>
        </p:nvSpPr>
        <p:spPr>
          <a:xfrm>
            <a:off x="6451600" y="5753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Structured data exchange format</a:t>
            </a:r>
            <a:endParaRPr lang="en-US" sz="1400" dirty="0"/>
          </a:p>
        </p:txBody>
      </p:sp>
      <p:sp>
        <p:nvSpPr>
          <p:cNvPr id="38" name="Shape 35"/>
          <p:cNvSpPr/>
          <p:nvPr/>
        </p:nvSpPr>
        <p:spPr>
          <a:xfrm>
            <a:off x="10414000" y="5207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39" name="Shape 36"/>
          <p:cNvSpPr/>
          <p:nvPr/>
        </p:nvSpPr>
        <p:spPr>
          <a:xfrm>
            <a:off x="10668000" y="5461000"/>
            <a:ext cx="457200" cy="457200"/>
          </a:xfrm>
          <a:custGeom>
            <a:avLst/>
            <a:gdLst/>
            <a:ahLst/>
            <a:cxnLst/>
            <a:rect l="l" t="t" r="r" b="b"/>
            <a:pathLst>
              <a:path w="457200" h="457200">
                <a:moveTo>
                  <a:pt x="0" y="57150"/>
                </a:moveTo>
                <a:cubicBezTo>
                  <a:pt x="0" y="25628"/>
                  <a:pt x="34171" y="0"/>
                  <a:pt x="76200" y="0"/>
                </a:cubicBezTo>
                <a:lnTo>
                  <a:pt x="254198" y="0"/>
                </a:lnTo>
                <a:cubicBezTo>
                  <a:pt x="274439" y="0"/>
                  <a:pt x="293846" y="5983"/>
                  <a:pt x="308134" y="16699"/>
                </a:cubicBezTo>
                <a:lnTo>
                  <a:pt x="434935" y="111889"/>
                </a:lnTo>
                <a:cubicBezTo>
                  <a:pt x="449223" y="122605"/>
                  <a:pt x="457200" y="137160"/>
                  <a:pt x="457200" y="152340"/>
                </a:cubicBezTo>
                <a:lnTo>
                  <a:pt x="457200" y="400050"/>
                </a:lnTo>
                <a:cubicBezTo>
                  <a:pt x="457200" y="431572"/>
                  <a:pt x="423029" y="457200"/>
                  <a:pt x="381000" y="457200"/>
                </a:cubicBezTo>
                <a:lnTo>
                  <a:pt x="76200" y="457200"/>
                </a:lnTo>
                <a:cubicBezTo>
                  <a:pt x="34171" y="457200"/>
                  <a:pt x="0" y="431572"/>
                  <a:pt x="0" y="400050"/>
                </a:cubicBezTo>
                <a:lnTo>
                  <a:pt x="0" y="57150"/>
                </a:lnTo>
                <a:close/>
                <a:moveTo>
                  <a:pt x="247650" y="52239"/>
                </a:moveTo>
                <a:lnTo>
                  <a:pt x="247650" y="135731"/>
                </a:lnTo>
                <a:cubicBezTo>
                  <a:pt x="247650" y="147608"/>
                  <a:pt x="260390" y="157163"/>
                  <a:pt x="276225" y="157163"/>
                </a:cubicBezTo>
                <a:lnTo>
                  <a:pt x="387548" y="157163"/>
                </a:lnTo>
                <a:lnTo>
                  <a:pt x="247650" y="52239"/>
                </a:lnTo>
                <a:close/>
                <a:moveTo>
                  <a:pt x="142875" y="228600"/>
                </a:moveTo>
                <a:cubicBezTo>
                  <a:pt x="127040" y="228600"/>
                  <a:pt x="114300" y="238155"/>
                  <a:pt x="114300" y="250031"/>
                </a:cubicBezTo>
                <a:cubicBezTo>
                  <a:pt x="114300" y="261908"/>
                  <a:pt x="127040" y="271463"/>
                  <a:pt x="142875" y="271463"/>
                </a:cubicBezTo>
                <a:lnTo>
                  <a:pt x="314325" y="271463"/>
                </a:lnTo>
                <a:cubicBezTo>
                  <a:pt x="330160" y="271463"/>
                  <a:pt x="342900" y="261908"/>
                  <a:pt x="342900" y="250031"/>
                </a:cubicBezTo>
                <a:cubicBezTo>
                  <a:pt x="342900" y="238155"/>
                  <a:pt x="330160" y="228600"/>
                  <a:pt x="314325" y="228600"/>
                </a:cubicBezTo>
                <a:lnTo>
                  <a:pt x="142875" y="228600"/>
                </a:lnTo>
                <a:close/>
                <a:moveTo>
                  <a:pt x="142875" y="314325"/>
                </a:moveTo>
                <a:cubicBezTo>
                  <a:pt x="127040" y="314325"/>
                  <a:pt x="114300" y="323880"/>
                  <a:pt x="114300" y="335756"/>
                </a:cubicBezTo>
                <a:cubicBezTo>
                  <a:pt x="114300" y="347633"/>
                  <a:pt x="127040" y="357188"/>
                  <a:pt x="142875" y="357188"/>
                </a:cubicBezTo>
                <a:lnTo>
                  <a:pt x="314325" y="357188"/>
                </a:lnTo>
                <a:cubicBezTo>
                  <a:pt x="330160" y="357188"/>
                  <a:pt x="342900" y="347633"/>
                  <a:pt x="342900" y="335756"/>
                </a:cubicBezTo>
                <a:cubicBezTo>
                  <a:pt x="342900" y="323880"/>
                  <a:pt x="330160" y="314325"/>
                  <a:pt x="314325" y="314325"/>
                </a:cubicBezTo>
                <a:lnTo>
                  <a:pt x="142875" y="314325"/>
                </a:lnTo>
                <a:close/>
              </a:path>
            </a:pathLst>
          </a:custGeom>
          <a:solidFill>
            <a:srgbClr val="2563EB"/>
          </a:solidFill>
          <a:ln/>
        </p:spPr>
        <p:txBody>
          <a:bodyPr/>
          <a:lstStyle/>
          <a:p>
            <a:endParaRPr lang="en-US"/>
          </a:p>
        </p:txBody>
      </p:sp>
      <p:sp>
        <p:nvSpPr>
          <p:cNvPr id="40" name="Text 37"/>
          <p:cNvSpPr/>
          <p:nvPr/>
        </p:nvSpPr>
        <p:spPr>
          <a:xfrm>
            <a:off x="11277600" y="5435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Markdown</a:t>
            </a:r>
            <a:endParaRPr lang="en-US" sz="1600" dirty="0"/>
          </a:p>
        </p:txBody>
      </p:sp>
      <p:sp>
        <p:nvSpPr>
          <p:cNvPr id="41" name="Text 38"/>
          <p:cNvSpPr/>
          <p:nvPr/>
        </p:nvSpPr>
        <p:spPr>
          <a:xfrm>
            <a:off x="11277600" y="5753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Rich text formatting and docs</a:t>
            </a:r>
            <a:endParaRPr lang="en-US" sz="1400" dirty="0"/>
          </a:p>
        </p:txBody>
      </p:sp>
      <p:sp>
        <p:nvSpPr>
          <p:cNvPr id="42" name="Shape 39"/>
          <p:cNvSpPr/>
          <p:nvPr/>
        </p:nvSpPr>
        <p:spPr>
          <a:xfrm>
            <a:off x="762000" y="6858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43" name="Shape 40"/>
          <p:cNvSpPr/>
          <p:nvPr/>
        </p:nvSpPr>
        <p:spPr>
          <a:xfrm>
            <a:off x="1016000" y="7112000"/>
            <a:ext cx="457200" cy="457200"/>
          </a:xfrm>
          <a:custGeom>
            <a:avLst/>
            <a:gdLst/>
            <a:ahLst/>
            <a:cxnLst/>
            <a:rect l="l" t="t" r="r" b="b"/>
            <a:pathLst>
              <a:path w="457200" h="457200">
                <a:moveTo>
                  <a:pt x="209074" y="-24110"/>
                </a:moveTo>
                <a:lnTo>
                  <a:pt x="220821" y="8751"/>
                </a:lnTo>
                <a:lnTo>
                  <a:pt x="250031" y="21967"/>
                </a:lnTo>
                <a:cubicBezTo>
                  <a:pt x="252413" y="23039"/>
                  <a:pt x="254000" y="25718"/>
                  <a:pt x="254000" y="28575"/>
                </a:cubicBezTo>
                <a:cubicBezTo>
                  <a:pt x="254000" y="31433"/>
                  <a:pt x="252413" y="34111"/>
                  <a:pt x="250031" y="35183"/>
                </a:cubicBezTo>
                <a:lnTo>
                  <a:pt x="220821" y="48399"/>
                </a:lnTo>
                <a:lnTo>
                  <a:pt x="209074" y="81260"/>
                </a:lnTo>
                <a:cubicBezTo>
                  <a:pt x="208121" y="83939"/>
                  <a:pt x="205740" y="85725"/>
                  <a:pt x="203200" y="85725"/>
                </a:cubicBezTo>
                <a:cubicBezTo>
                  <a:pt x="200660" y="85725"/>
                  <a:pt x="198279" y="83939"/>
                  <a:pt x="197326" y="81260"/>
                </a:cubicBezTo>
                <a:lnTo>
                  <a:pt x="185579" y="48399"/>
                </a:lnTo>
                <a:lnTo>
                  <a:pt x="156369" y="35183"/>
                </a:lnTo>
                <a:cubicBezTo>
                  <a:pt x="153988" y="34111"/>
                  <a:pt x="152400" y="31432"/>
                  <a:pt x="152400" y="28575"/>
                </a:cubicBezTo>
                <a:cubicBezTo>
                  <a:pt x="152400" y="25718"/>
                  <a:pt x="153988" y="23039"/>
                  <a:pt x="156369" y="21967"/>
                </a:cubicBezTo>
                <a:lnTo>
                  <a:pt x="185579" y="8751"/>
                </a:lnTo>
                <a:lnTo>
                  <a:pt x="197326" y="-24110"/>
                </a:lnTo>
                <a:cubicBezTo>
                  <a:pt x="198279" y="-26789"/>
                  <a:pt x="200660" y="-28575"/>
                  <a:pt x="203200" y="-28575"/>
                </a:cubicBezTo>
                <a:cubicBezTo>
                  <a:pt x="205740" y="-28575"/>
                  <a:pt x="208121" y="-26789"/>
                  <a:pt x="209074" y="-24110"/>
                </a:cubicBezTo>
                <a:close/>
                <a:moveTo>
                  <a:pt x="87868" y="37237"/>
                </a:moveTo>
                <a:lnTo>
                  <a:pt x="104934" y="81975"/>
                </a:lnTo>
                <a:lnTo>
                  <a:pt x="144701" y="101173"/>
                </a:lnTo>
                <a:cubicBezTo>
                  <a:pt x="149384" y="103406"/>
                  <a:pt x="152400" y="108585"/>
                  <a:pt x="152400" y="114300"/>
                </a:cubicBezTo>
                <a:cubicBezTo>
                  <a:pt x="152400" y="120015"/>
                  <a:pt x="149384" y="125194"/>
                  <a:pt x="144701" y="127427"/>
                </a:cubicBezTo>
                <a:lnTo>
                  <a:pt x="104934" y="146625"/>
                </a:lnTo>
                <a:lnTo>
                  <a:pt x="87868" y="191363"/>
                </a:lnTo>
                <a:cubicBezTo>
                  <a:pt x="85884" y="196632"/>
                  <a:pt x="81280" y="200025"/>
                  <a:pt x="76200" y="200025"/>
                </a:cubicBezTo>
                <a:cubicBezTo>
                  <a:pt x="71120" y="200025"/>
                  <a:pt x="66516" y="196632"/>
                  <a:pt x="64532" y="191363"/>
                </a:cubicBezTo>
                <a:lnTo>
                  <a:pt x="47466" y="146625"/>
                </a:lnTo>
                <a:lnTo>
                  <a:pt x="7699" y="127427"/>
                </a:lnTo>
                <a:cubicBezTo>
                  <a:pt x="3016" y="125194"/>
                  <a:pt x="0" y="120015"/>
                  <a:pt x="0" y="114300"/>
                </a:cubicBezTo>
                <a:cubicBezTo>
                  <a:pt x="0" y="108585"/>
                  <a:pt x="3016" y="103406"/>
                  <a:pt x="7699" y="101173"/>
                </a:cubicBezTo>
                <a:lnTo>
                  <a:pt x="47466" y="81975"/>
                </a:lnTo>
                <a:lnTo>
                  <a:pt x="64532" y="37237"/>
                </a:lnTo>
                <a:cubicBezTo>
                  <a:pt x="66516" y="31968"/>
                  <a:pt x="71120" y="28575"/>
                  <a:pt x="76200" y="28575"/>
                </a:cubicBezTo>
                <a:cubicBezTo>
                  <a:pt x="81280" y="28575"/>
                  <a:pt x="85884" y="31968"/>
                  <a:pt x="87868" y="37237"/>
                </a:cubicBezTo>
                <a:close/>
                <a:moveTo>
                  <a:pt x="368300" y="271463"/>
                </a:moveTo>
                <a:cubicBezTo>
                  <a:pt x="373380" y="271463"/>
                  <a:pt x="377984" y="274856"/>
                  <a:pt x="379968" y="280124"/>
                </a:cubicBezTo>
                <a:lnTo>
                  <a:pt x="397034" y="324862"/>
                </a:lnTo>
                <a:lnTo>
                  <a:pt x="436801" y="344061"/>
                </a:lnTo>
                <a:cubicBezTo>
                  <a:pt x="441484" y="346293"/>
                  <a:pt x="444500" y="351473"/>
                  <a:pt x="444500" y="357188"/>
                </a:cubicBezTo>
                <a:cubicBezTo>
                  <a:pt x="444500" y="362903"/>
                  <a:pt x="441484" y="368082"/>
                  <a:pt x="436801" y="370314"/>
                </a:cubicBezTo>
                <a:lnTo>
                  <a:pt x="397034" y="389513"/>
                </a:lnTo>
                <a:lnTo>
                  <a:pt x="379968" y="434251"/>
                </a:lnTo>
                <a:cubicBezTo>
                  <a:pt x="377984" y="439519"/>
                  <a:pt x="373380" y="442913"/>
                  <a:pt x="368300" y="442913"/>
                </a:cubicBezTo>
                <a:cubicBezTo>
                  <a:pt x="363220" y="442913"/>
                  <a:pt x="358616" y="439519"/>
                  <a:pt x="356632" y="434251"/>
                </a:cubicBezTo>
                <a:lnTo>
                  <a:pt x="339566" y="389513"/>
                </a:lnTo>
                <a:lnTo>
                  <a:pt x="299799" y="370314"/>
                </a:lnTo>
                <a:cubicBezTo>
                  <a:pt x="295116" y="368082"/>
                  <a:pt x="292100" y="362903"/>
                  <a:pt x="292100" y="357188"/>
                </a:cubicBezTo>
                <a:cubicBezTo>
                  <a:pt x="292100" y="351473"/>
                  <a:pt x="295116" y="346293"/>
                  <a:pt x="299799" y="344061"/>
                </a:cubicBezTo>
                <a:lnTo>
                  <a:pt x="339566" y="324862"/>
                </a:lnTo>
                <a:lnTo>
                  <a:pt x="356632" y="280124"/>
                </a:lnTo>
                <a:cubicBezTo>
                  <a:pt x="358616" y="274856"/>
                  <a:pt x="363220" y="271463"/>
                  <a:pt x="368300" y="271463"/>
                </a:cubicBezTo>
                <a:close/>
                <a:moveTo>
                  <a:pt x="365125" y="0"/>
                </a:moveTo>
                <a:cubicBezTo>
                  <a:pt x="373856" y="0"/>
                  <a:pt x="382270" y="3929"/>
                  <a:pt x="388541" y="10894"/>
                </a:cubicBezTo>
                <a:lnTo>
                  <a:pt x="422116" y="48667"/>
                </a:lnTo>
                <a:cubicBezTo>
                  <a:pt x="428308" y="55721"/>
                  <a:pt x="431800" y="65187"/>
                  <a:pt x="431800" y="75009"/>
                </a:cubicBezTo>
                <a:cubicBezTo>
                  <a:pt x="431800" y="84832"/>
                  <a:pt x="428308" y="94298"/>
                  <a:pt x="422116" y="101352"/>
                </a:cubicBezTo>
                <a:lnTo>
                  <a:pt x="352107" y="180112"/>
                </a:lnTo>
                <a:lnTo>
                  <a:pt x="271701" y="89654"/>
                </a:lnTo>
                <a:lnTo>
                  <a:pt x="341709" y="10894"/>
                </a:lnTo>
                <a:cubicBezTo>
                  <a:pt x="347980" y="3929"/>
                  <a:pt x="356394" y="0"/>
                  <a:pt x="365125" y="0"/>
                </a:cubicBezTo>
                <a:close/>
                <a:moveTo>
                  <a:pt x="35084" y="355848"/>
                </a:moveTo>
                <a:lnTo>
                  <a:pt x="244793" y="119926"/>
                </a:lnTo>
                <a:lnTo>
                  <a:pt x="325199" y="210383"/>
                </a:lnTo>
                <a:lnTo>
                  <a:pt x="115491" y="446306"/>
                </a:lnTo>
                <a:cubicBezTo>
                  <a:pt x="109220" y="453271"/>
                  <a:pt x="100806" y="457200"/>
                  <a:pt x="92075" y="457200"/>
                </a:cubicBezTo>
                <a:cubicBezTo>
                  <a:pt x="83344" y="457200"/>
                  <a:pt x="74930" y="453271"/>
                  <a:pt x="68659" y="446306"/>
                </a:cubicBezTo>
                <a:lnTo>
                  <a:pt x="35084" y="408533"/>
                </a:lnTo>
                <a:cubicBezTo>
                  <a:pt x="28893" y="401479"/>
                  <a:pt x="25400" y="392013"/>
                  <a:pt x="25400" y="382191"/>
                </a:cubicBezTo>
                <a:cubicBezTo>
                  <a:pt x="25400" y="372368"/>
                  <a:pt x="28893" y="362903"/>
                  <a:pt x="35084" y="355848"/>
                </a:cubicBezTo>
                <a:close/>
              </a:path>
            </a:pathLst>
          </a:custGeom>
          <a:solidFill>
            <a:srgbClr val="7C3AED"/>
          </a:solidFill>
          <a:ln/>
        </p:spPr>
        <p:txBody>
          <a:bodyPr/>
          <a:lstStyle/>
          <a:p>
            <a:endParaRPr lang="en-US"/>
          </a:p>
        </p:txBody>
      </p:sp>
      <p:sp>
        <p:nvSpPr>
          <p:cNvPr id="44" name="Text 41"/>
          <p:cNvSpPr/>
          <p:nvPr/>
        </p:nvSpPr>
        <p:spPr>
          <a:xfrm>
            <a:off x="1625600" y="7086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Prompt Engineering</a:t>
            </a:r>
            <a:endParaRPr lang="en-US" sz="1600" dirty="0"/>
          </a:p>
        </p:txBody>
      </p:sp>
      <p:sp>
        <p:nvSpPr>
          <p:cNvPr id="45" name="Text 42"/>
          <p:cNvSpPr/>
          <p:nvPr/>
        </p:nvSpPr>
        <p:spPr>
          <a:xfrm>
            <a:off x="1625600" y="7404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AI request optimization layer</a:t>
            </a:r>
            <a:endParaRPr lang="en-US" sz="1400" dirty="0"/>
          </a:p>
        </p:txBody>
      </p:sp>
      <p:sp>
        <p:nvSpPr>
          <p:cNvPr id="46" name="Shape 43"/>
          <p:cNvSpPr/>
          <p:nvPr/>
        </p:nvSpPr>
        <p:spPr>
          <a:xfrm>
            <a:off x="5588000" y="6858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47" name="Shape 44"/>
          <p:cNvSpPr/>
          <p:nvPr/>
        </p:nvSpPr>
        <p:spPr>
          <a:xfrm>
            <a:off x="5842000" y="7112000"/>
            <a:ext cx="457200" cy="457200"/>
          </a:xfrm>
          <a:custGeom>
            <a:avLst/>
            <a:gdLst/>
            <a:ahLst/>
            <a:cxnLst/>
            <a:rect l="l" t="t" r="r" b="b"/>
            <a:pathLst>
              <a:path w="457200" h="457200">
                <a:moveTo>
                  <a:pt x="155287" y="354866"/>
                </a:moveTo>
                <a:cubicBezTo>
                  <a:pt x="155287" y="356652"/>
                  <a:pt x="153233" y="358080"/>
                  <a:pt x="150644" y="358080"/>
                </a:cubicBezTo>
                <a:cubicBezTo>
                  <a:pt x="147697" y="358348"/>
                  <a:pt x="145643" y="356920"/>
                  <a:pt x="145643" y="354866"/>
                </a:cubicBezTo>
                <a:cubicBezTo>
                  <a:pt x="145643" y="353080"/>
                  <a:pt x="147697" y="351651"/>
                  <a:pt x="150287" y="351651"/>
                </a:cubicBezTo>
                <a:cubicBezTo>
                  <a:pt x="152966" y="351383"/>
                  <a:pt x="155287" y="352812"/>
                  <a:pt x="155287" y="354866"/>
                </a:cubicBezTo>
                <a:close/>
                <a:moveTo>
                  <a:pt x="127516" y="350847"/>
                </a:moveTo>
                <a:cubicBezTo>
                  <a:pt x="126891" y="352633"/>
                  <a:pt x="128677" y="354687"/>
                  <a:pt x="131356" y="355223"/>
                </a:cubicBezTo>
                <a:cubicBezTo>
                  <a:pt x="133677" y="356116"/>
                  <a:pt x="136356" y="355223"/>
                  <a:pt x="136892" y="353437"/>
                </a:cubicBezTo>
                <a:cubicBezTo>
                  <a:pt x="137428" y="351651"/>
                  <a:pt x="135731" y="349597"/>
                  <a:pt x="133052" y="348794"/>
                </a:cubicBezTo>
                <a:cubicBezTo>
                  <a:pt x="130731" y="348169"/>
                  <a:pt x="128141" y="349061"/>
                  <a:pt x="127516" y="350847"/>
                </a:cubicBezTo>
                <a:close/>
                <a:moveTo>
                  <a:pt x="166985" y="349329"/>
                </a:moveTo>
                <a:cubicBezTo>
                  <a:pt x="164396" y="349954"/>
                  <a:pt x="162610" y="351651"/>
                  <a:pt x="162877" y="353705"/>
                </a:cubicBezTo>
                <a:cubicBezTo>
                  <a:pt x="163145" y="355491"/>
                  <a:pt x="165467" y="356652"/>
                  <a:pt x="168146" y="356027"/>
                </a:cubicBezTo>
                <a:cubicBezTo>
                  <a:pt x="170736" y="355402"/>
                  <a:pt x="172522" y="353705"/>
                  <a:pt x="172254" y="351919"/>
                </a:cubicBezTo>
                <a:cubicBezTo>
                  <a:pt x="171986" y="350222"/>
                  <a:pt x="169575" y="349061"/>
                  <a:pt x="166985" y="349329"/>
                </a:cubicBezTo>
                <a:close/>
                <a:moveTo>
                  <a:pt x="225743" y="7144"/>
                </a:moveTo>
                <a:cubicBezTo>
                  <a:pt x="101888" y="7144"/>
                  <a:pt x="7144" y="101173"/>
                  <a:pt x="7144" y="225028"/>
                </a:cubicBezTo>
                <a:cubicBezTo>
                  <a:pt x="7144" y="324058"/>
                  <a:pt x="69473" y="408801"/>
                  <a:pt x="158502" y="438626"/>
                </a:cubicBezTo>
                <a:cubicBezTo>
                  <a:pt x="169932" y="440680"/>
                  <a:pt x="173950" y="433626"/>
                  <a:pt x="173950" y="427821"/>
                </a:cubicBezTo>
                <a:cubicBezTo>
                  <a:pt x="173950" y="422285"/>
                  <a:pt x="173682" y="391745"/>
                  <a:pt x="173682" y="372993"/>
                </a:cubicBezTo>
                <a:cubicBezTo>
                  <a:pt x="173682" y="372993"/>
                  <a:pt x="111175" y="386388"/>
                  <a:pt x="98048" y="346383"/>
                </a:cubicBezTo>
                <a:cubicBezTo>
                  <a:pt x="98048" y="346383"/>
                  <a:pt x="87868" y="320397"/>
                  <a:pt x="73223" y="313700"/>
                </a:cubicBezTo>
                <a:cubicBezTo>
                  <a:pt x="73223" y="313700"/>
                  <a:pt x="52774" y="299680"/>
                  <a:pt x="74652" y="299948"/>
                </a:cubicBezTo>
                <a:cubicBezTo>
                  <a:pt x="74652" y="299948"/>
                  <a:pt x="96887" y="301734"/>
                  <a:pt x="109121" y="322987"/>
                </a:cubicBezTo>
                <a:cubicBezTo>
                  <a:pt x="128677" y="357455"/>
                  <a:pt x="161449" y="347543"/>
                  <a:pt x="174218" y="341650"/>
                </a:cubicBezTo>
                <a:cubicBezTo>
                  <a:pt x="176272" y="327362"/>
                  <a:pt x="182076" y="317450"/>
                  <a:pt x="188506" y="311557"/>
                </a:cubicBezTo>
                <a:cubicBezTo>
                  <a:pt x="138589" y="306020"/>
                  <a:pt x="88225" y="298787"/>
                  <a:pt x="88225" y="212884"/>
                </a:cubicBezTo>
                <a:cubicBezTo>
                  <a:pt x="88225" y="188327"/>
                  <a:pt x="95012" y="176004"/>
                  <a:pt x="109299" y="160288"/>
                </a:cubicBezTo>
                <a:cubicBezTo>
                  <a:pt x="106978" y="154484"/>
                  <a:pt x="99387" y="130552"/>
                  <a:pt x="111621" y="99655"/>
                </a:cubicBezTo>
                <a:cubicBezTo>
                  <a:pt x="130284" y="93851"/>
                  <a:pt x="173236" y="123765"/>
                  <a:pt x="173236" y="123765"/>
                </a:cubicBezTo>
                <a:cubicBezTo>
                  <a:pt x="191095" y="118765"/>
                  <a:pt x="210294" y="116175"/>
                  <a:pt x="229314" y="116175"/>
                </a:cubicBezTo>
                <a:cubicBezTo>
                  <a:pt x="248335" y="116175"/>
                  <a:pt x="267533" y="118765"/>
                  <a:pt x="285393" y="123765"/>
                </a:cubicBezTo>
                <a:cubicBezTo>
                  <a:pt x="285393" y="123765"/>
                  <a:pt x="328345" y="93762"/>
                  <a:pt x="347008" y="99655"/>
                </a:cubicBezTo>
                <a:cubicBezTo>
                  <a:pt x="359241" y="130641"/>
                  <a:pt x="351651" y="154484"/>
                  <a:pt x="349329" y="160288"/>
                </a:cubicBezTo>
                <a:cubicBezTo>
                  <a:pt x="363617" y="176093"/>
                  <a:pt x="372368" y="188416"/>
                  <a:pt x="372368" y="212884"/>
                </a:cubicBezTo>
                <a:cubicBezTo>
                  <a:pt x="372368" y="299055"/>
                  <a:pt x="319772" y="305931"/>
                  <a:pt x="269855" y="311557"/>
                </a:cubicBezTo>
                <a:cubicBezTo>
                  <a:pt x="278070" y="318611"/>
                  <a:pt x="285036" y="332006"/>
                  <a:pt x="285036" y="352991"/>
                </a:cubicBezTo>
                <a:cubicBezTo>
                  <a:pt x="285036" y="383084"/>
                  <a:pt x="284768" y="420320"/>
                  <a:pt x="284768" y="427643"/>
                </a:cubicBezTo>
                <a:cubicBezTo>
                  <a:pt x="284768" y="433447"/>
                  <a:pt x="288875" y="440501"/>
                  <a:pt x="300216" y="438448"/>
                </a:cubicBezTo>
                <a:cubicBezTo>
                  <a:pt x="389513" y="408801"/>
                  <a:pt x="450056" y="324058"/>
                  <a:pt x="450056" y="225028"/>
                </a:cubicBezTo>
                <a:cubicBezTo>
                  <a:pt x="450056" y="101173"/>
                  <a:pt x="349597" y="7144"/>
                  <a:pt x="225743" y="7144"/>
                </a:cubicBezTo>
                <a:close/>
                <a:moveTo>
                  <a:pt x="93940" y="315129"/>
                </a:moveTo>
                <a:cubicBezTo>
                  <a:pt x="92779" y="316022"/>
                  <a:pt x="93047" y="318075"/>
                  <a:pt x="94565" y="319772"/>
                </a:cubicBezTo>
                <a:cubicBezTo>
                  <a:pt x="95994" y="321201"/>
                  <a:pt x="98048" y="321826"/>
                  <a:pt x="99209" y="320665"/>
                </a:cubicBezTo>
                <a:cubicBezTo>
                  <a:pt x="100370" y="319772"/>
                  <a:pt x="100102" y="317718"/>
                  <a:pt x="98584" y="316022"/>
                </a:cubicBezTo>
                <a:cubicBezTo>
                  <a:pt x="97155" y="314593"/>
                  <a:pt x="95101" y="313968"/>
                  <a:pt x="93940" y="315129"/>
                </a:cubicBezTo>
                <a:close/>
                <a:moveTo>
                  <a:pt x="84296" y="307896"/>
                </a:moveTo>
                <a:cubicBezTo>
                  <a:pt x="83671" y="309056"/>
                  <a:pt x="84564" y="310485"/>
                  <a:pt x="86350" y="311378"/>
                </a:cubicBezTo>
                <a:cubicBezTo>
                  <a:pt x="87779" y="312271"/>
                  <a:pt x="89565" y="312003"/>
                  <a:pt x="90190" y="310753"/>
                </a:cubicBezTo>
                <a:cubicBezTo>
                  <a:pt x="90815" y="309592"/>
                  <a:pt x="89922" y="308164"/>
                  <a:pt x="88136" y="307271"/>
                </a:cubicBezTo>
                <a:cubicBezTo>
                  <a:pt x="86350" y="306735"/>
                  <a:pt x="84921" y="307003"/>
                  <a:pt x="84296" y="307896"/>
                </a:cubicBezTo>
                <a:close/>
                <a:moveTo>
                  <a:pt x="113228" y="339685"/>
                </a:moveTo>
                <a:cubicBezTo>
                  <a:pt x="111800" y="340846"/>
                  <a:pt x="112335" y="343525"/>
                  <a:pt x="114389" y="345222"/>
                </a:cubicBezTo>
                <a:cubicBezTo>
                  <a:pt x="116443" y="347276"/>
                  <a:pt x="119033" y="347543"/>
                  <a:pt x="120194" y="346115"/>
                </a:cubicBezTo>
                <a:cubicBezTo>
                  <a:pt x="121354" y="344954"/>
                  <a:pt x="120819" y="342275"/>
                  <a:pt x="119033" y="340578"/>
                </a:cubicBezTo>
                <a:cubicBezTo>
                  <a:pt x="117068" y="338524"/>
                  <a:pt x="114389" y="338257"/>
                  <a:pt x="113228" y="339685"/>
                </a:cubicBezTo>
                <a:close/>
                <a:moveTo>
                  <a:pt x="103049" y="326559"/>
                </a:moveTo>
                <a:cubicBezTo>
                  <a:pt x="101620" y="327452"/>
                  <a:pt x="101620" y="329773"/>
                  <a:pt x="103049" y="331827"/>
                </a:cubicBezTo>
                <a:cubicBezTo>
                  <a:pt x="104477" y="333881"/>
                  <a:pt x="106888" y="334774"/>
                  <a:pt x="108049" y="333881"/>
                </a:cubicBezTo>
                <a:cubicBezTo>
                  <a:pt x="109478" y="332720"/>
                  <a:pt x="109478" y="330398"/>
                  <a:pt x="108049" y="328345"/>
                </a:cubicBezTo>
                <a:cubicBezTo>
                  <a:pt x="106799" y="326291"/>
                  <a:pt x="104477" y="325398"/>
                  <a:pt x="103049" y="326559"/>
                </a:cubicBezTo>
                <a:close/>
              </a:path>
            </a:pathLst>
          </a:custGeom>
          <a:solidFill>
            <a:srgbClr val="2563EB"/>
          </a:solidFill>
          <a:ln/>
        </p:spPr>
        <p:txBody>
          <a:bodyPr/>
          <a:lstStyle/>
          <a:p>
            <a:endParaRPr lang="en-US"/>
          </a:p>
        </p:txBody>
      </p:sp>
      <p:sp>
        <p:nvSpPr>
          <p:cNvPr id="48" name="Text 45"/>
          <p:cNvSpPr/>
          <p:nvPr/>
        </p:nvSpPr>
        <p:spPr>
          <a:xfrm>
            <a:off x="6451600" y="7086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GitHub</a:t>
            </a:r>
            <a:endParaRPr lang="en-US" sz="1600" dirty="0"/>
          </a:p>
        </p:txBody>
      </p:sp>
      <p:sp>
        <p:nvSpPr>
          <p:cNvPr id="49" name="Text 46"/>
          <p:cNvSpPr/>
          <p:nvPr/>
        </p:nvSpPr>
        <p:spPr>
          <a:xfrm>
            <a:off x="6451600" y="7404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Version control and collaboration</a:t>
            </a:r>
            <a:endParaRPr lang="en-US" sz="1400" dirty="0"/>
          </a:p>
        </p:txBody>
      </p:sp>
      <p:sp>
        <p:nvSpPr>
          <p:cNvPr id="50" name="Shape 47"/>
          <p:cNvSpPr/>
          <p:nvPr/>
        </p:nvSpPr>
        <p:spPr>
          <a:xfrm>
            <a:off x="10414000" y="6858000"/>
            <a:ext cx="4572000" cy="1460500"/>
          </a:xfrm>
          <a:prstGeom prst="roundRect">
            <a:avLst>
              <a:gd name="adj" fmla="val 8000"/>
            </a:avLst>
          </a:prstGeom>
          <a:solidFill>
            <a:srgbClr val="F8FAFC"/>
          </a:solidFill>
          <a:ln w="12700">
            <a:solidFill>
              <a:srgbClr val="E2E8F0"/>
            </a:solidFill>
            <a:prstDash val="solid"/>
          </a:ln>
          <a:effectLst>
            <a:outerShdw blurRad="101600" dist="25400" dir="5400000" algn="bl" rotWithShape="0">
              <a:srgbClr val="000000">
                <a:alpha val="3137"/>
              </a:srgbClr>
            </a:outerShdw>
          </a:effectLst>
        </p:spPr>
        <p:txBody>
          <a:bodyPr/>
          <a:lstStyle/>
          <a:p>
            <a:endParaRPr lang="en-US"/>
          </a:p>
        </p:txBody>
      </p:sp>
      <p:sp>
        <p:nvSpPr>
          <p:cNvPr id="51" name="Shape 48"/>
          <p:cNvSpPr/>
          <p:nvPr/>
        </p:nvSpPr>
        <p:spPr>
          <a:xfrm>
            <a:off x="10668000" y="7112000"/>
            <a:ext cx="457200" cy="457200"/>
          </a:xfrm>
          <a:custGeom>
            <a:avLst/>
            <a:gdLst/>
            <a:ahLst/>
            <a:cxnLst/>
            <a:rect l="l" t="t" r="r" b="b"/>
            <a:pathLst>
              <a:path w="457200" h="457200">
                <a:moveTo>
                  <a:pt x="286385" y="1072"/>
                </a:moveTo>
                <a:cubicBezTo>
                  <a:pt x="272891" y="-3304"/>
                  <a:pt x="258842" y="5536"/>
                  <a:pt x="254953" y="20717"/>
                </a:cubicBezTo>
                <a:lnTo>
                  <a:pt x="153353" y="420767"/>
                </a:lnTo>
                <a:cubicBezTo>
                  <a:pt x="149463" y="435947"/>
                  <a:pt x="157321" y="451753"/>
                  <a:pt x="170815" y="456128"/>
                </a:cubicBezTo>
                <a:cubicBezTo>
                  <a:pt x="184309" y="460504"/>
                  <a:pt x="198358" y="451664"/>
                  <a:pt x="202248" y="436483"/>
                </a:cubicBezTo>
                <a:lnTo>
                  <a:pt x="303848" y="36433"/>
                </a:lnTo>
                <a:cubicBezTo>
                  <a:pt x="307737" y="21253"/>
                  <a:pt x="299879" y="5447"/>
                  <a:pt x="286385" y="1072"/>
                </a:cubicBezTo>
                <a:close/>
                <a:moveTo>
                  <a:pt x="337661" y="122605"/>
                </a:moveTo>
                <a:cubicBezTo>
                  <a:pt x="327739" y="133767"/>
                  <a:pt x="327739" y="151894"/>
                  <a:pt x="337661" y="163056"/>
                </a:cubicBezTo>
                <a:lnTo>
                  <a:pt x="395922" y="228600"/>
                </a:lnTo>
                <a:lnTo>
                  <a:pt x="337661" y="294144"/>
                </a:lnTo>
                <a:cubicBezTo>
                  <a:pt x="327739" y="305306"/>
                  <a:pt x="327739" y="323433"/>
                  <a:pt x="337661" y="334595"/>
                </a:cubicBezTo>
                <a:cubicBezTo>
                  <a:pt x="347583" y="345758"/>
                  <a:pt x="363696" y="345758"/>
                  <a:pt x="373618" y="334595"/>
                </a:cubicBezTo>
                <a:lnTo>
                  <a:pt x="449818" y="248870"/>
                </a:lnTo>
                <a:cubicBezTo>
                  <a:pt x="459740" y="237708"/>
                  <a:pt x="459740" y="219581"/>
                  <a:pt x="449818" y="208419"/>
                </a:cubicBezTo>
                <a:lnTo>
                  <a:pt x="373618" y="122694"/>
                </a:lnTo>
                <a:cubicBezTo>
                  <a:pt x="363696" y="111532"/>
                  <a:pt x="347583" y="111532"/>
                  <a:pt x="337661" y="122694"/>
                </a:cubicBezTo>
                <a:close/>
                <a:moveTo>
                  <a:pt x="119618" y="122605"/>
                </a:moveTo>
                <a:cubicBezTo>
                  <a:pt x="109696" y="111442"/>
                  <a:pt x="93583" y="111442"/>
                  <a:pt x="83661" y="122605"/>
                </a:cubicBezTo>
                <a:lnTo>
                  <a:pt x="7461" y="208330"/>
                </a:lnTo>
                <a:cubicBezTo>
                  <a:pt x="-2461" y="219492"/>
                  <a:pt x="-2461" y="237619"/>
                  <a:pt x="7461" y="248781"/>
                </a:cubicBezTo>
                <a:lnTo>
                  <a:pt x="83661" y="334506"/>
                </a:lnTo>
                <a:cubicBezTo>
                  <a:pt x="93583" y="345668"/>
                  <a:pt x="109696" y="345668"/>
                  <a:pt x="119618" y="334506"/>
                </a:cubicBezTo>
                <a:cubicBezTo>
                  <a:pt x="129540" y="323344"/>
                  <a:pt x="129540" y="305217"/>
                  <a:pt x="119618" y="294055"/>
                </a:cubicBezTo>
                <a:lnTo>
                  <a:pt x="61357" y="228600"/>
                </a:lnTo>
                <a:lnTo>
                  <a:pt x="119539" y="163056"/>
                </a:lnTo>
                <a:cubicBezTo>
                  <a:pt x="129461" y="151894"/>
                  <a:pt x="129461" y="133767"/>
                  <a:pt x="119539" y="122605"/>
                </a:cubicBezTo>
                <a:close/>
              </a:path>
            </a:pathLst>
          </a:custGeom>
          <a:solidFill>
            <a:srgbClr val="7C3AED"/>
          </a:solidFill>
          <a:ln/>
        </p:spPr>
        <p:txBody>
          <a:bodyPr/>
          <a:lstStyle/>
          <a:p>
            <a:endParaRPr lang="en-US"/>
          </a:p>
        </p:txBody>
      </p:sp>
      <p:sp>
        <p:nvSpPr>
          <p:cNvPr id="52" name="Text 49"/>
          <p:cNvSpPr/>
          <p:nvPr/>
        </p:nvSpPr>
        <p:spPr>
          <a:xfrm>
            <a:off x="11277600" y="7086600"/>
            <a:ext cx="34925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VS Code</a:t>
            </a:r>
            <a:endParaRPr lang="en-US" sz="1600" dirty="0"/>
          </a:p>
        </p:txBody>
      </p:sp>
      <p:sp>
        <p:nvSpPr>
          <p:cNvPr id="53" name="Text 50"/>
          <p:cNvSpPr/>
          <p:nvPr/>
        </p:nvSpPr>
        <p:spPr>
          <a:xfrm>
            <a:off x="11277600" y="7404100"/>
            <a:ext cx="3492500" cy="698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Development environment</a:t>
            </a:r>
            <a:endParaRPr lang="en-US" sz="1400" dirty="0"/>
          </a:p>
        </p:txBody>
      </p:sp>
      <p:sp>
        <p:nvSpPr>
          <p:cNvPr id="54" name="Text 51"/>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05 / 09</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635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Application Workflow</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889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From Natural Language to Professional Schematic</a:t>
            </a:r>
            <a:endParaRPr lang="en-US" sz="1800" dirty="0"/>
          </a:p>
        </p:txBody>
      </p:sp>
      <p:sp>
        <p:nvSpPr>
          <p:cNvPr id="6" name="Shape 3"/>
          <p:cNvSpPr/>
          <p:nvPr/>
        </p:nvSpPr>
        <p:spPr>
          <a:xfrm>
            <a:off x="762000" y="1968500"/>
            <a:ext cx="406400" cy="406400"/>
          </a:xfrm>
          <a:prstGeom prst="ellipse">
            <a:avLst/>
          </a:prstGeom>
          <a:solidFill>
            <a:srgbClr val="2563EB"/>
          </a:solidFill>
          <a:ln/>
        </p:spPr>
        <p:txBody>
          <a:bodyPr/>
          <a:lstStyle/>
          <a:p>
            <a:endParaRPr lang="en-US"/>
          </a:p>
        </p:txBody>
      </p:sp>
      <p:sp>
        <p:nvSpPr>
          <p:cNvPr id="7" name="Text 4"/>
          <p:cNvSpPr/>
          <p:nvPr/>
        </p:nvSpPr>
        <p:spPr>
          <a:xfrm>
            <a:off x="762000" y="1968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1</a:t>
            </a:r>
            <a:endParaRPr lang="en-US" sz="1400" dirty="0"/>
          </a:p>
        </p:txBody>
      </p:sp>
      <p:sp>
        <p:nvSpPr>
          <p:cNvPr id="8" name="Text 5"/>
          <p:cNvSpPr/>
          <p:nvPr/>
        </p:nvSpPr>
        <p:spPr>
          <a:xfrm>
            <a:off x="1333500" y="1930400"/>
            <a:ext cx="6096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User enters circuit description</a:t>
            </a:r>
            <a:endParaRPr lang="en-US" sz="1600" dirty="0"/>
          </a:p>
        </p:txBody>
      </p:sp>
      <p:sp>
        <p:nvSpPr>
          <p:cNvPr id="9" name="Text 6"/>
          <p:cNvSpPr/>
          <p:nvPr/>
        </p:nvSpPr>
        <p:spPr>
          <a:xfrm>
            <a:off x="1333500" y="2235200"/>
            <a:ext cx="6096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Natural language input via Streamlit interface</a:t>
            </a:r>
            <a:endParaRPr lang="en-US" sz="1400" dirty="0"/>
          </a:p>
        </p:txBody>
      </p:sp>
      <p:sp>
        <p:nvSpPr>
          <p:cNvPr id="10" name="Shape 7"/>
          <p:cNvSpPr/>
          <p:nvPr/>
        </p:nvSpPr>
        <p:spPr>
          <a:xfrm>
            <a:off x="965200" y="2374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11" name="Shape 8"/>
          <p:cNvSpPr/>
          <p:nvPr/>
        </p:nvSpPr>
        <p:spPr>
          <a:xfrm>
            <a:off x="762000" y="2603500"/>
            <a:ext cx="406400" cy="406400"/>
          </a:xfrm>
          <a:prstGeom prst="ellipse">
            <a:avLst/>
          </a:prstGeom>
          <a:solidFill>
            <a:srgbClr val="7C3AED"/>
          </a:solidFill>
          <a:ln/>
        </p:spPr>
        <p:txBody>
          <a:bodyPr/>
          <a:lstStyle/>
          <a:p>
            <a:endParaRPr lang="en-US"/>
          </a:p>
        </p:txBody>
      </p:sp>
      <p:sp>
        <p:nvSpPr>
          <p:cNvPr id="12" name="Text 9"/>
          <p:cNvSpPr/>
          <p:nvPr/>
        </p:nvSpPr>
        <p:spPr>
          <a:xfrm>
            <a:off x="762000" y="2603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2</a:t>
            </a:r>
            <a:endParaRPr lang="en-US" sz="1400" dirty="0"/>
          </a:p>
        </p:txBody>
      </p:sp>
      <p:sp>
        <p:nvSpPr>
          <p:cNvPr id="13" name="Text 10"/>
          <p:cNvSpPr/>
          <p:nvPr/>
        </p:nvSpPr>
        <p:spPr>
          <a:xfrm>
            <a:off x="1333500" y="2565400"/>
            <a:ext cx="6096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Streamlit receives input</a:t>
            </a:r>
            <a:endParaRPr lang="en-US" sz="1600" dirty="0"/>
          </a:p>
        </p:txBody>
      </p:sp>
      <p:sp>
        <p:nvSpPr>
          <p:cNvPr id="14" name="Text 11"/>
          <p:cNvSpPr/>
          <p:nvPr/>
        </p:nvSpPr>
        <p:spPr>
          <a:xfrm>
            <a:off x="1333500" y="2870200"/>
            <a:ext cx="6096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Web interface captures and validates the request</a:t>
            </a:r>
            <a:endParaRPr lang="en-US" sz="1400" dirty="0"/>
          </a:p>
        </p:txBody>
      </p:sp>
      <p:sp>
        <p:nvSpPr>
          <p:cNvPr id="15" name="Shape 12"/>
          <p:cNvSpPr/>
          <p:nvPr/>
        </p:nvSpPr>
        <p:spPr>
          <a:xfrm>
            <a:off x="965200" y="3009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16" name="Shape 13"/>
          <p:cNvSpPr/>
          <p:nvPr/>
        </p:nvSpPr>
        <p:spPr>
          <a:xfrm>
            <a:off x="762000" y="3238500"/>
            <a:ext cx="406400" cy="406400"/>
          </a:xfrm>
          <a:prstGeom prst="ellipse">
            <a:avLst/>
          </a:prstGeom>
          <a:solidFill>
            <a:srgbClr val="2563EB"/>
          </a:solidFill>
          <a:ln/>
        </p:spPr>
        <p:txBody>
          <a:bodyPr/>
          <a:lstStyle/>
          <a:p>
            <a:endParaRPr lang="en-US"/>
          </a:p>
        </p:txBody>
      </p:sp>
      <p:sp>
        <p:nvSpPr>
          <p:cNvPr id="17" name="Text 14"/>
          <p:cNvSpPr/>
          <p:nvPr/>
        </p:nvSpPr>
        <p:spPr>
          <a:xfrm>
            <a:off x="762000" y="3238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3</a:t>
            </a:r>
            <a:endParaRPr lang="en-US" sz="1400" dirty="0"/>
          </a:p>
        </p:txBody>
      </p:sp>
      <p:sp>
        <p:nvSpPr>
          <p:cNvPr id="18" name="Text 15"/>
          <p:cNvSpPr/>
          <p:nvPr/>
        </p:nvSpPr>
        <p:spPr>
          <a:xfrm>
            <a:off x="1333500" y="3200400"/>
            <a:ext cx="6096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Prompt Engineering structures request</a:t>
            </a:r>
            <a:endParaRPr lang="en-US" sz="1600" dirty="0"/>
          </a:p>
        </p:txBody>
      </p:sp>
      <p:sp>
        <p:nvSpPr>
          <p:cNvPr id="19" name="Text 16"/>
          <p:cNvSpPr/>
          <p:nvPr/>
        </p:nvSpPr>
        <p:spPr>
          <a:xfrm>
            <a:off x="1333500" y="3505200"/>
            <a:ext cx="6096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Request is optimized and formatted for the AI model</a:t>
            </a:r>
            <a:endParaRPr lang="en-US" sz="1400" dirty="0"/>
          </a:p>
        </p:txBody>
      </p:sp>
      <p:sp>
        <p:nvSpPr>
          <p:cNvPr id="20" name="Shape 17"/>
          <p:cNvSpPr/>
          <p:nvPr/>
        </p:nvSpPr>
        <p:spPr>
          <a:xfrm>
            <a:off x="965200" y="3644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21" name="Shape 18"/>
          <p:cNvSpPr/>
          <p:nvPr/>
        </p:nvSpPr>
        <p:spPr>
          <a:xfrm>
            <a:off x="762000" y="3873500"/>
            <a:ext cx="406400" cy="406400"/>
          </a:xfrm>
          <a:prstGeom prst="ellipse">
            <a:avLst/>
          </a:prstGeom>
          <a:solidFill>
            <a:srgbClr val="7C3AED"/>
          </a:solidFill>
          <a:ln/>
        </p:spPr>
        <p:txBody>
          <a:bodyPr/>
          <a:lstStyle/>
          <a:p>
            <a:endParaRPr lang="en-US"/>
          </a:p>
        </p:txBody>
      </p:sp>
      <p:sp>
        <p:nvSpPr>
          <p:cNvPr id="22" name="Text 19"/>
          <p:cNvSpPr/>
          <p:nvPr/>
        </p:nvSpPr>
        <p:spPr>
          <a:xfrm>
            <a:off x="762000" y="3873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4</a:t>
            </a:r>
            <a:endParaRPr lang="en-US" sz="1400" dirty="0"/>
          </a:p>
        </p:txBody>
      </p:sp>
      <p:sp>
        <p:nvSpPr>
          <p:cNvPr id="23" name="Text 20"/>
          <p:cNvSpPr/>
          <p:nvPr/>
        </p:nvSpPr>
        <p:spPr>
          <a:xfrm>
            <a:off x="1333500" y="3835400"/>
            <a:ext cx="6096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Gemini analyzes circuit</a:t>
            </a:r>
            <a:endParaRPr lang="en-US" sz="1600" dirty="0"/>
          </a:p>
        </p:txBody>
      </p:sp>
      <p:sp>
        <p:nvSpPr>
          <p:cNvPr id="24" name="Text 21"/>
          <p:cNvSpPr/>
          <p:nvPr/>
        </p:nvSpPr>
        <p:spPr>
          <a:xfrm>
            <a:off x="1333500" y="4140200"/>
            <a:ext cx="6096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AI reasoning performs component selection and analysis</a:t>
            </a:r>
            <a:endParaRPr lang="en-US" sz="1400" dirty="0"/>
          </a:p>
        </p:txBody>
      </p:sp>
      <p:sp>
        <p:nvSpPr>
          <p:cNvPr id="25" name="Shape 22"/>
          <p:cNvSpPr/>
          <p:nvPr/>
        </p:nvSpPr>
        <p:spPr>
          <a:xfrm>
            <a:off x="8382000" y="1968500"/>
            <a:ext cx="406400" cy="406400"/>
          </a:xfrm>
          <a:prstGeom prst="ellipse">
            <a:avLst/>
          </a:prstGeom>
          <a:solidFill>
            <a:srgbClr val="2563EB"/>
          </a:solidFill>
          <a:ln/>
        </p:spPr>
        <p:txBody>
          <a:bodyPr/>
          <a:lstStyle/>
          <a:p>
            <a:endParaRPr lang="en-US"/>
          </a:p>
        </p:txBody>
      </p:sp>
      <p:sp>
        <p:nvSpPr>
          <p:cNvPr id="26" name="Text 23"/>
          <p:cNvSpPr/>
          <p:nvPr/>
        </p:nvSpPr>
        <p:spPr>
          <a:xfrm>
            <a:off x="8382000" y="1968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5</a:t>
            </a:r>
            <a:endParaRPr lang="en-US" sz="1400" dirty="0"/>
          </a:p>
        </p:txBody>
      </p:sp>
      <p:sp>
        <p:nvSpPr>
          <p:cNvPr id="27" name="Text 24"/>
          <p:cNvSpPr/>
          <p:nvPr/>
        </p:nvSpPr>
        <p:spPr>
          <a:xfrm>
            <a:off x="8953500" y="1930400"/>
            <a:ext cx="6477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AI generates output</a:t>
            </a:r>
            <a:endParaRPr lang="en-US" sz="1600" dirty="0"/>
          </a:p>
        </p:txBody>
      </p:sp>
      <p:sp>
        <p:nvSpPr>
          <p:cNvPr id="28" name="Text 25"/>
          <p:cNvSpPr/>
          <p:nvPr/>
        </p:nvSpPr>
        <p:spPr>
          <a:xfrm>
            <a:off x="8953500" y="2235200"/>
            <a:ext cx="6477000" cy="3302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Components, values, wiring instructions, and Schemdraw code</a:t>
            </a:r>
            <a:endParaRPr lang="en-US" sz="1400" dirty="0"/>
          </a:p>
        </p:txBody>
      </p:sp>
      <p:sp>
        <p:nvSpPr>
          <p:cNvPr id="29" name="Shape 26"/>
          <p:cNvSpPr/>
          <p:nvPr/>
        </p:nvSpPr>
        <p:spPr>
          <a:xfrm>
            <a:off x="8585200" y="2374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30" name="Shape 27"/>
          <p:cNvSpPr/>
          <p:nvPr/>
        </p:nvSpPr>
        <p:spPr>
          <a:xfrm>
            <a:off x="8382000" y="2603500"/>
            <a:ext cx="406400" cy="406400"/>
          </a:xfrm>
          <a:prstGeom prst="ellipse">
            <a:avLst/>
          </a:prstGeom>
          <a:solidFill>
            <a:srgbClr val="7C3AED"/>
          </a:solidFill>
          <a:ln/>
        </p:spPr>
        <p:txBody>
          <a:bodyPr/>
          <a:lstStyle/>
          <a:p>
            <a:endParaRPr lang="en-US"/>
          </a:p>
        </p:txBody>
      </p:sp>
      <p:sp>
        <p:nvSpPr>
          <p:cNvPr id="31" name="Text 28"/>
          <p:cNvSpPr/>
          <p:nvPr/>
        </p:nvSpPr>
        <p:spPr>
          <a:xfrm>
            <a:off x="8382000" y="2603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6</a:t>
            </a:r>
            <a:endParaRPr lang="en-US" sz="1400" dirty="0"/>
          </a:p>
        </p:txBody>
      </p:sp>
      <p:sp>
        <p:nvSpPr>
          <p:cNvPr id="32" name="Text 29"/>
          <p:cNvSpPr/>
          <p:nvPr/>
        </p:nvSpPr>
        <p:spPr>
          <a:xfrm>
            <a:off x="8953500" y="2565400"/>
            <a:ext cx="6477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Python executes code</a:t>
            </a:r>
            <a:endParaRPr lang="en-US" sz="1600" dirty="0"/>
          </a:p>
        </p:txBody>
      </p:sp>
      <p:sp>
        <p:nvSpPr>
          <p:cNvPr id="33" name="Text 30"/>
          <p:cNvSpPr/>
          <p:nvPr/>
        </p:nvSpPr>
        <p:spPr>
          <a:xfrm>
            <a:off x="8953500" y="2870200"/>
            <a:ext cx="6477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Automated rendering pipeline processes the AI output</a:t>
            </a:r>
            <a:endParaRPr lang="en-US" sz="1400" dirty="0"/>
          </a:p>
        </p:txBody>
      </p:sp>
      <p:sp>
        <p:nvSpPr>
          <p:cNvPr id="34" name="Shape 31"/>
          <p:cNvSpPr/>
          <p:nvPr/>
        </p:nvSpPr>
        <p:spPr>
          <a:xfrm>
            <a:off x="8585200" y="3009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35" name="Shape 32"/>
          <p:cNvSpPr/>
          <p:nvPr/>
        </p:nvSpPr>
        <p:spPr>
          <a:xfrm>
            <a:off x="8382000" y="3238500"/>
            <a:ext cx="406400" cy="406400"/>
          </a:xfrm>
          <a:prstGeom prst="ellipse">
            <a:avLst/>
          </a:prstGeom>
          <a:solidFill>
            <a:srgbClr val="2563EB"/>
          </a:solidFill>
          <a:ln/>
        </p:spPr>
        <p:txBody>
          <a:bodyPr/>
          <a:lstStyle/>
          <a:p>
            <a:endParaRPr lang="en-US"/>
          </a:p>
        </p:txBody>
      </p:sp>
      <p:sp>
        <p:nvSpPr>
          <p:cNvPr id="36" name="Text 33"/>
          <p:cNvSpPr/>
          <p:nvPr/>
        </p:nvSpPr>
        <p:spPr>
          <a:xfrm>
            <a:off x="8382000" y="3238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7</a:t>
            </a:r>
            <a:endParaRPr lang="en-US" sz="1400" dirty="0"/>
          </a:p>
        </p:txBody>
      </p:sp>
      <p:sp>
        <p:nvSpPr>
          <p:cNvPr id="37" name="Text 34"/>
          <p:cNvSpPr/>
          <p:nvPr/>
        </p:nvSpPr>
        <p:spPr>
          <a:xfrm>
            <a:off x="8953500" y="3200400"/>
            <a:ext cx="6477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Schemdraw renders schematic</a:t>
            </a:r>
            <a:endParaRPr lang="en-US" sz="1600" dirty="0"/>
          </a:p>
        </p:txBody>
      </p:sp>
      <p:sp>
        <p:nvSpPr>
          <p:cNvPr id="38" name="Text 35"/>
          <p:cNvSpPr/>
          <p:nvPr/>
        </p:nvSpPr>
        <p:spPr>
          <a:xfrm>
            <a:off x="8953500" y="3505200"/>
            <a:ext cx="6477000" cy="254000"/>
          </a:xfrm>
          <a:prstGeom prst="rect">
            <a:avLst/>
          </a:prstGeom>
          <a:noFill/>
          <a:ln/>
        </p:spPr>
        <p:txBody>
          <a:bodyPr wrap="none" lIns="0" tIns="0" rIns="0" bIns="0" rtlCol="0" anchor="ctr"/>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Professional 2D circuit diagram is generated</a:t>
            </a:r>
            <a:endParaRPr lang="en-US" sz="1400" dirty="0"/>
          </a:p>
        </p:txBody>
      </p:sp>
      <p:sp>
        <p:nvSpPr>
          <p:cNvPr id="39" name="Shape 36"/>
          <p:cNvSpPr/>
          <p:nvPr/>
        </p:nvSpPr>
        <p:spPr>
          <a:xfrm>
            <a:off x="8585200" y="3644900"/>
            <a:ext cx="0" cy="228600"/>
          </a:xfrm>
          <a:prstGeom prst="straightConnector1">
            <a:avLst/>
          </a:prstGeom>
          <a:noFill/>
          <a:ln w="12700">
            <a:solidFill>
              <a:srgbClr val="E2E8F0"/>
            </a:solidFill>
            <a:prstDash val="dash"/>
            <a:headEnd type="none"/>
            <a:tailEnd type="none"/>
          </a:ln>
        </p:spPr>
        <p:txBody>
          <a:bodyPr/>
          <a:lstStyle/>
          <a:p>
            <a:endParaRPr lang="en-US"/>
          </a:p>
        </p:txBody>
      </p:sp>
      <p:sp>
        <p:nvSpPr>
          <p:cNvPr id="40" name="Shape 37"/>
          <p:cNvSpPr/>
          <p:nvPr/>
        </p:nvSpPr>
        <p:spPr>
          <a:xfrm>
            <a:off x="8382000" y="3873500"/>
            <a:ext cx="406400" cy="406400"/>
          </a:xfrm>
          <a:prstGeom prst="ellipse">
            <a:avLst/>
          </a:prstGeom>
          <a:solidFill>
            <a:srgbClr val="7C3AED"/>
          </a:solidFill>
          <a:ln/>
        </p:spPr>
        <p:txBody>
          <a:bodyPr/>
          <a:lstStyle/>
          <a:p>
            <a:endParaRPr lang="en-US"/>
          </a:p>
        </p:txBody>
      </p:sp>
      <p:sp>
        <p:nvSpPr>
          <p:cNvPr id="41" name="Text 38"/>
          <p:cNvSpPr/>
          <p:nvPr/>
        </p:nvSpPr>
        <p:spPr>
          <a:xfrm>
            <a:off x="8382000" y="3873500"/>
            <a:ext cx="406400" cy="406400"/>
          </a:xfrm>
          <a:prstGeom prst="rect">
            <a:avLst/>
          </a:prstGeom>
          <a:noFill/>
          <a:ln/>
        </p:spPr>
        <p:txBody>
          <a:bodyPr wrap="none" lIns="0" tIns="0" rIns="0" bIns="0" rtlCol="0" anchor="ctr"/>
          <a:lstStyle/>
          <a:p>
            <a:pPr algn="ctr">
              <a:lnSpc>
                <a:spcPct val="120000"/>
              </a:lnSpc>
            </a:pPr>
            <a:r>
              <a:rPr lang="en-US" sz="1400" dirty="0">
                <a:solidFill>
                  <a:srgbClr val="FFFFFF"/>
                </a:solidFill>
                <a:latin typeface="Liter" pitchFamily="34" charset="0"/>
                <a:ea typeface="Liter" pitchFamily="34" charset="-122"/>
                <a:cs typeface="Liter" pitchFamily="34" charset="-120"/>
              </a:rPr>
              <a:t>8</a:t>
            </a:r>
            <a:endParaRPr lang="en-US" sz="1400" dirty="0"/>
          </a:p>
        </p:txBody>
      </p:sp>
      <p:sp>
        <p:nvSpPr>
          <p:cNvPr id="42" name="Text 39"/>
          <p:cNvSpPr/>
          <p:nvPr/>
        </p:nvSpPr>
        <p:spPr>
          <a:xfrm>
            <a:off x="8953500" y="3835400"/>
            <a:ext cx="64770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User receives complete output</a:t>
            </a:r>
            <a:endParaRPr lang="en-US" sz="1600" dirty="0"/>
          </a:p>
        </p:txBody>
      </p:sp>
      <p:sp>
        <p:nvSpPr>
          <p:cNvPr id="43" name="Text 40"/>
          <p:cNvSpPr/>
          <p:nvPr/>
        </p:nvSpPr>
        <p:spPr>
          <a:xfrm>
            <a:off x="8953500" y="4140200"/>
            <a:ext cx="6477000" cy="698500"/>
          </a:xfrm>
          <a:prstGeom prst="rect">
            <a:avLst/>
          </a:prstGeom>
          <a:noFill/>
          <a:ln/>
        </p:spPr>
        <p:txBody>
          <a:bodyPr wrap="square" lIns="0" tIns="0" rIns="0" bIns="0" rtlCol="0" anchor="t"/>
          <a:lstStyle/>
          <a:p>
            <a:pPr algn="l">
              <a:lnSpc>
                <a:spcPct val="140000"/>
              </a:lnSpc>
            </a:pPr>
            <a:r>
              <a:rPr lang="en-US" sz="1400" dirty="0">
                <a:solidFill>
                  <a:srgbClr val="64748B"/>
                </a:solidFill>
                <a:latin typeface="Quattrocento Sans" pitchFamily="34" charset="0"/>
                <a:ea typeface="Quattrocento Sans" pitchFamily="34" charset="-122"/>
                <a:cs typeface="Quattrocento Sans" pitchFamily="34" charset="-120"/>
              </a:rPr>
              <a:t>Explanation, component list, and circuit diagram delivered</a:t>
            </a:r>
            <a:endParaRPr lang="en-US" sz="1400" dirty="0"/>
          </a:p>
        </p:txBody>
      </p:sp>
      <p:sp>
        <p:nvSpPr>
          <p:cNvPr id="44" name="Text 41"/>
          <p:cNvSpPr/>
          <p:nvPr/>
        </p:nvSpPr>
        <p:spPr>
          <a:xfrm>
            <a:off x="762000" y="4826000"/>
            <a:ext cx="2540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USER RECEIVES</a:t>
            </a:r>
            <a:endParaRPr lang="en-US" sz="1200" dirty="0"/>
          </a:p>
        </p:txBody>
      </p:sp>
      <p:sp>
        <p:nvSpPr>
          <p:cNvPr id="45" name="Shape 42"/>
          <p:cNvSpPr/>
          <p:nvPr/>
        </p:nvSpPr>
        <p:spPr>
          <a:xfrm>
            <a:off x="762000" y="5207000"/>
            <a:ext cx="4572000" cy="1143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46" name="Shape 43"/>
          <p:cNvSpPr/>
          <p:nvPr/>
        </p:nvSpPr>
        <p:spPr>
          <a:xfrm>
            <a:off x="1016000" y="5524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10B981"/>
          </a:solidFill>
          <a:ln/>
        </p:spPr>
        <p:txBody>
          <a:bodyPr/>
          <a:lstStyle/>
          <a:p>
            <a:endParaRPr lang="en-US"/>
          </a:p>
        </p:txBody>
      </p:sp>
      <p:sp>
        <p:nvSpPr>
          <p:cNvPr id="47" name="Text 44"/>
          <p:cNvSpPr/>
          <p:nvPr/>
        </p:nvSpPr>
        <p:spPr>
          <a:xfrm>
            <a:off x="1524000" y="5334000"/>
            <a:ext cx="3619500" cy="889000"/>
          </a:xfrm>
          <a:prstGeom prst="rect">
            <a:avLst/>
          </a:prstGeom>
          <a:noFill/>
          <a:ln/>
        </p:spPr>
        <p:txBody>
          <a:bodyPr wrap="squar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Detailed Explanation</a:t>
            </a:r>
            <a:endParaRPr lang="en-US" sz="1600" dirty="0"/>
          </a:p>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Step-by-step circuit analysis</a:t>
            </a:r>
            <a:endParaRPr lang="en-US" sz="1600" dirty="0"/>
          </a:p>
        </p:txBody>
      </p:sp>
      <p:sp>
        <p:nvSpPr>
          <p:cNvPr id="48" name="Shape 45"/>
          <p:cNvSpPr/>
          <p:nvPr/>
        </p:nvSpPr>
        <p:spPr>
          <a:xfrm>
            <a:off x="5588000" y="5207000"/>
            <a:ext cx="4572000" cy="1143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49" name="Shape 46"/>
          <p:cNvSpPr/>
          <p:nvPr/>
        </p:nvSpPr>
        <p:spPr>
          <a:xfrm>
            <a:off x="5842000" y="5524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10B981"/>
          </a:solidFill>
          <a:ln/>
        </p:spPr>
        <p:txBody>
          <a:bodyPr/>
          <a:lstStyle/>
          <a:p>
            <a:endParaRPr lang="en-US"/>
          </a:p>
        </p:txBody>
      </p:sp>
      <p:sp>
        <p:nvSpPr>
          <p:cNvPr id="50" name="Text 47"/>
          <p:cNvSpPr/>
          <p:nvPr/>
        </p:nvSpPr>
        <p:spPr>
          <a:xfrm>
            <a:off x="6350000" y="5334000"/>
            <a:ext cx="3619500" cy="889000"/>
          </a:xfrm>
          <a:prstGeom prst="rect">
            <a:avLst/>
          </a:prstGeom>
          <a:noFill/>
          <a:ln/>
        </p:spPr>
        <p:txBody>
          <a:bodyPr wrap="squar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Complete Component List</a:t>
            </a:r>
            <a:endParaRPr lang="en-US" sz="1600" dirty="0"/>
          </a:p>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Values, specs, and datasheets</a:t>
            </a:r>
            <a:endParaRPr lang="en-US" sz="1600" dirty="0"/>
          </a:p>
        </p:txBody>
      </p:sp>
      <p:sp>
        <p:nvSpPr>
          <p:cNvPr id="51" name="Shape 48"/>
          <p:cNvSpPr/>
          <p:nvPr/>
        </p:nvSpPr>
        <p:spPr>
          <a:xfrm>
            <a:off x="10414000" y="5207000"/>
            <a:ext cx="4572000" cy="1143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52" name="Shape 49"/>
          <p:cNvSpPr/>
          <p:nvPr/>
        </p:nvSpPr>
        <p:spPr>
          <a:xfrm>
            <a:off x="10668000" y="5524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36418" y="147727"/>
                </a:moveTo>
                <a:lnTo>
                  <a:pt x="180856" y="236627"/>
                </a:lnTo>
                <a:cubicBezTo>
                  <a:pt x="177939" y="241280"/>
                  <a:pt x="172938" y="244197"/>
                  <a:pt x="167451" y="244475"/>
                </a:cubicBezTo>
                <a:cubicBezTo>
                  <a:pt x="161965" y="244753"/>
                  <a:pt x="156686" y="242253"/>
                  <a:pt x="153422" y="237808"/>
                </a:cubicBezTo>
                <a:lnTo>
                  <a:pt x="120084" y="193357"/>
                </a:lnTo>
                <a:cubicBezTo>
                  <a:pt x="114528" y="185995"/>
                  <a:pt x="116056" y="175577"/>
                  <a:pt x="123418" y="170021"/>
                </a:cubicBezTo>
                <a:cubicBezTo>
                  <a:pt x="130780" y="164465"/>
                  <a:pt x="141198" y="165993"/>
                  <a:pt x="146754" y="173355"/>
                </a:cubicBezTo>
                <a:lnTo>
                  <a:pt x="165507" y="198358"/>
                </a:lnTo>
                <a:lnTo>
                  <a:pt x="208151" y="130086"/>
                </a:lnTo>
                <a:cubicBezTo>
                  <a:pt x="213013" y="122307"/>
                  <a:pt x="223292" y="119876"/>
                  <a:pt x="231140" y="124807"/>
                </a:cubicBezTo>
                <a:cubicBezTo>
                  <a:pt x="238988" y="129738"/>
                  <a:pt x="241350" y="139948"/>
                  <a:pt x="236418" y="147796"/>
                </a:cubicBezTo>
                <a:close/>
              </a:path>
            </a:pathLst>
          </a:custGeom>
          <a:solidFill>
            <a:srgbClr val="10B981"/>
          </a:solidFill>
          <a:ln/>
        </p:spPr>
        <p:txBody>
          <a:bodyPr/>
          <a:lstStyle/>
          <a:p>
            <a:endParaRPr lang="en-US"/>
          </a:p>
        </p:txBody>
      </p:sp>
      <p:sp>
        <p:nvSpPr>
          <p:cNvPr id="53" name="Text 50"/>
          <p:cNvSpPr/>
          <p:nvPr/>
        </p:nvSpPr>
        <p:spPr>
          <a:xfrm>
            <a:off x="11176000" y="5334000"/>
            <a:ext cx="3619500" cy="889000"/>
          </a:xfrm>
          <a:prstGeom prst="rect">
            <a:avLst/>
          </a:prstGeom>
          <a:noFill/>
          <a:ln/>
        </p:spPr>
        <p:txBody>
          <a:bodyPr wrap="square" lIns="0" tIns="0" rIns="0" bIns="0" rtlCol="0" anchor="ctr"/>
          <a:lstStyle/>
          <a:p>
            <a:pPr algn="l">
              <a:lnSpc>
                <a:spcPct val="120000"/>
              </a:lnSpc>
            </a:pPr>
            <a:r>
              <a:rPr lang="en-US" sz="1600" b="1" dirty="0">
                <a:solidFill>
                  <a:srgbClr val="1E293B"/>
                </a:solidFill>
                <a:latin typeface="Quattrocento Sans" pitchFamily="34" charset="0"/>
                <a:ea typeface="Quattrocento Sans" pitchFamily="34" charset="-122"/>
                <a:cs typeface="Quattrocento Sans" pitchFamily="34" charset="-120"/>
              </a:rPr>
              <a:t>Circuit Diagram</a:t>
            </a:r>
            <a:endParaRPr lang="en-US" sz="1600" dirty="0"/>
          </a:p>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Professional 2D schematic</a:t>
            </a:r>
            <a:endParaRPr lang="en-US" sz="1600" dirty="0"/>
          </a:p>
        </p:txBody>
      </p:sp>
      <p:sp>
        <p:nvSpPr>
          <p:cNvPr id="54" name="Shape 51"/>
          <p:cNvSpPr/>
          <p:nvPr/>
        </p:nvSpPr>
        <p:spPr>
          <a:xfrm>
            <a:off x="762000" y="6731000"/>
            <a:ext cx="14732000" cy="1397000"/>
          </a:xfrm>
          <a:prstGeom prst="roundRect">
            <a:avLst>
              <a:gd name="adj" fmla="val 6000"/>
            </a:avLst>
          </a:prstGeom>
          <a:solidFill>
            <a:srgbClr val="F1F5F9"/>
          </a:solidFill>
          <a:ln w="12700">
            <a:solidFill>
              <a:srgbClr val="E2E8F0"/>
            </a:solidFill>
            <a:prstDash val="solid"/>
          </a:ln>
        </p:spPr>
        <p:txBody>
          <a:bodyPr/>
          <a:lstStyle/>
          <a:p>
            <a:endParaRPr lang="en-US"/>
          </a:p>
        </p:txBody>
      </p:sp>
      <p:sp>
        <p:nvSpPr>
          <p:cNvPr id="55" name="Text 52"/>
          <p:cNvSpPr/>
          <p:nvPr/>
        </p:nvSpPr>
        <p:spPr>
          <a:xfrm>
            <a:off x="1016000" y="6858000"/>
            <a:ext cx="2540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EXAMPLE INPUT</a:t>
            </a:r>
            <a:endParaRPr lang="en-US" sz="1200" dirty="0"/>
          </a:p>
        </p:txBody>
      </p:sp>
      <p:sp>
        <p:nvSpPr>
          <p:cNvPr id="56" name="Text 53"/>
          <p:cNvSpPr/>
          <p:nvPr/>
        </p:nvSpPr>
        <p:spPr>
          <a:xfrm>
            <a:off x="1016000" y="7175500"/>
            <a:ext cx="14224000" cy="762000"/>
          </a:xfrm>
          <a:prstGeom prst="rect">
            <a:avLst/>
          </a:prstGeom>
          <a:noFill/>
          <a:ln/>
        </p:spPr>
        <p:txBody>
          <a:bodyPr wrap="square" lIns="0" tIns="0" rIns="0" bIns="0" rtlCol="0" anchor="t"/>
          <a:lstStyle/>
          <a:p>
            <a:pPr algn="l">
              <a:lnSpc>
                <a:spcPct val="150000"/>
              </a:lnSpc>
            </a:pPr>
            <a:r>
              <a:rPr lang="en-US" sz="1800" i="1" dirty="0">
                <a:solidFill>
                  <a:srgbClr val="1E293B"/>
                </a:solidFill>
                <a:latin typeface="Quattrocento Sans" pitchFamily="34" charset="0"/>
                <a:ea typeface="Quattrocento Sans" pitchFamily="34" charset="-122"/>
                <a:cs typeface="Quattrocento Sans" pitchFamily="34" charset="-120"/>
              </a:rPr>
              <a:t>"I need a 12V to 5V voltage regulator using LM7805 with an LED indicator."</a:t>
            </a:r>
            <a:endParaRPr lang="en-US" sz="1800" dirty="0"/>
          </a:p>
        </p:txBody>
      </p:sp>
      <p:sp>
        <p:nvSpPr>
          <p:cNvPr id="57" name="Text 54"/>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06 / 09</a:t>
            </a:r>
            <a:endParaRPr lang="en-US" sz="14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Live Demo</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635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See It In Action</a:t>
            </a:r>
            <a:endParaRPr lang="en-US" sz="1800" dirty="0"/>
          </a:p>
        </p:txBody>
      </p:sp>
      <p:sp>
        <p:nvSpPr>
          <p:cNvPr id="6" name="Text 3"/>
          <p:cNvSpPr/>
          <p:nvPr/>
        </p:nvSpPr>
        <p:spPr>
          <a:xfrm>
            <a:off x="762000" y="1841500"/>
            <a:ext cx="3175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STREAMLIT INTERFACE</a:t>
            </a:r>
            <a:endParaRPr lang="en-US" sz="1200" dirty="0"/>
          </a:p>
        </p:txBody>
      </p:sp>
      <p:sp>
        <p:nvSpPr>
          <p:cNvPr id="7" name="Shape 4"/>
          <p:cNvSpPr/>
          <p:nvPr/>
        </p:nvSpPr>
        <p:spPr>
          <a:xfrm>
            <a:off x="762000" y="2184400"/>
            <a:ext cx="6858000" cy="3683000"/>
          </a:xfrm>
          <a:prstGeom prst="roundRect">
            <a:avLst>
              <a:gd name="adj" fmla="val 6000"/>
            </a:avLst>
          </a:prstGeom>
          <a:solidFill>
            <a:srgbClr val="F8FAFC"/>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8" name="Shape 5"/>
          <p:cNvSpPr/>
          <p:nvPr/>
        </p:nvSpPr>
        <p:spPr>
          <a:xfrm>
            <a:off x="762000" y="2184400"/>
            <a:ext cx="6858000" cy="457200"/>
          </a:xfrm>
          <a:prstGeom prst="roundRect">
            <a:avLst>
              <a:gd name="adj" fmla="val 6000"/>
            </a:avLst>
          </a:prstGeom>
          <a:gradFill flip="none" rotWithShape="1">
            <a:gsLst>
              <a:gs pos="0">
                <a:srgbClr val="2563EB"/>
              </a:gs>
              <a:gs pos="100000">
                <a:srgbClr val="7C3AED"/>
              </a:gs>
            </a:gsLst>
            <a:lin ang="0" scaled="1"/>
          </a:gradFill>
          <a:ln/>
        </p:spPr>
        <p:txBody>
          <a:bodyPr/>
          <a:lstStyle/>
          <a:p>
            <a:endParaRPr lang="en-US"/>
          </a:p>
        </p:txBody>
      </p:sp>
      <p:sp>
        <p:nvSpPr>
          <p:cNvPr id="9" name="Text 6"/>
          <p:cNvSpPr/>
          <p:nvPr/>
        </p:nvSpPr>
        <p:spPr>
          <a:xfrm>
            <a:off x="952500" y="2184400"/>
            <a:ext cx="3810000" cy="457200"/>
          </a:xfrm>
          <a:prstGeom prst="rect">
            <a:avLst/>
          </a:prstGeom>
          <a:noFill/>
          <a:ln/>
        </p:spPr>
        <p:txBody>
          <a:bodyPr wrap="none" lIns="0" tIns="0" rIns="0" bIns="0" rtlCol="0" anchor="ctr"/>
          <a:lstStyle/>
          <a:p>
            <a:pPr algn="l">
              <a:lnSpc>
                <a:spcPct val="120000"/>
              </a:lnSpc>
            </a:pPr>
            <a:r>
              <a:rPr lang="en-US" sz="1400" dirty="0">
                <a:solidFill>
                  <a:srgbClr val="FFFFFF"/>
                </a:solidFill>
                <a:latin typeface="Liter" pitchFamily="34" charset="0"/>
                <a:ea typeface="Liter" pitchFamily="34" charset="-122"/>
                <a:cs typeface="Liter" pitchFamily="34" charset="-120"/>
              </a:rPr>
              <a:t>AI Circuit Generator</a:t>
            </a:r>
            <a:endParaRPr lang="en-US" sz="1400" dirty="0"/>
          </a:p>
        </p:txBody>
      </p:sp>
      <p:sp>
        <p:nvSpPr>
          <p:cNvPr id="10" name="Text 7"/>
          <p:cNvSpPr/>
          <p:nvPr/>
        </p:nvSpPr>
        <p:spPr>
          <a:xfrm>
            <a:off x="1016000" y="2819400"/>
            <a:ext cx="3810000" cy="279400"/>
          </a:xfrm>
          <a:prstGeom prst="rect">
            <a:avLst/>
          </a:prstGeom>
          <a:noFill/>
          <a:ln/>
        </p:spPr>
        <p:txBody>
          <a:bodyPr wrap="none" lIns="0" tIns="0" rIns="0" bIns="0" rtlCol="0" anchor="ctr"/>
          <a:lstStyle/>
          <a:p>
            <a:pPr algn="l">
              <a:lnSpc>
                <a:spcPct val="120000"/>
              </a:lnSpc>
            </a:pPr>
            <a:r>
              <a:rPr lang="en-US" sz="1300" dirty="0">
                <a:solidFill>
                  <a:srgbClr val="64748B"/>
                </a:solidFill>
                <a:latin typeface="Quattrocento Sans" pitchFamily="34" charset="0"/>
                <a:ea typeface="Quattrocento Sans" pitchFamily="34" charset="-122"/>
                <a:cs typeface="Quattrocento Sans" pitchFamily="34" charset="-120"/>
              </a:rPr>
              <a:t>Describe your circuit:</a:t>
            </a:r>
            <a:endParaRPr lang="en-US" sz="1300" dirty="0"/>
          </a:p>
        </p:txBody>
      </p:sp>
      <p:sp>
        <p:nvSpPr>
          <p:cNvPr id="11" name="Shape 8"/>
          <p:cNvSpPr/>
          <p:nvPr/>
        </p:nvSpPr>
        <p:spPr>
          <a:xfrm>
            <a:off x="1016000" y="3175000"/>
            <a:ext cx="6350000" cy="889000"/>
          </a:xfrm>
          <a:prstGeom prst="roundRect">
            <a:avLst>
              <a:gd name="adj" fmla="val 6000"/>
            </a:avLst>
          </a:prstGeom>
          <a:solidFill>
            <a:srgbClr val="FFFFFF"/>
          </a:solidFill>
          <a:ln w="12700">
            <a:solidFill>
              <a:srgbClr val="E2E8F0"/>
            </a:solidFill>
            <a:prstDash val="solid"/>
          </a:ln>
        </p:spPr>
        <p:txBody>
          <a:bodyPr/>
          <a:lstStyle/>
          <a:p>
            <a:endParaRPr lang="en-US"/>
          </a:p>
        </p:txBody>
      </p:sp>
      <p:sp>
        <p:nvSpPr>
          <p:cNvPr id="12" name="Text 9"/>
          <p:cNvSpPr/>
          <p:nvPr/>
        </p:nvSpPr>
        <p:spPr>
          <a:xfrm>
            <a:off x="1168400" y="3276600"/>
            <a:ext cx="6045200" cy="698500"/>
          </a:xfrm>
          <a:prstGeom prst="rect">
            <a:avLst/>
          </a:prstGeom>
          <a:noFill/>
          <a:ln/>
        </p:spPr>
        <p:txBody>
          <a:bodyPr wrap="square" lIns="0" tIns="0" rIns="0" bIns="0" rtlCol="0" anchor="t"/>
          <a:lstStyle/>
          <a:p>
            <a:pPr algn="l">
              <a:lnSpc>
                <a:spcPct val="140000"/>
              </a:lnSpc>
            </a:pPr>
            <a:r>
              <a:rPr lang="en-US" sz="1400" i="1" dirty="0">
                <a:solidFill>
                  <a:srgbClr val="1E293B"/>
                </a:solidFill>
                <a:latin typeface="Quattrocento Sans" pitchFamily="34" charset="0"/>
                <a:ea typeface="Quattrocento Sans" pitchFamily="34" charset="-122"/>
                <a:cs typeface="Quattrocento Sans" pitchFamily="34" charset="-120"/>
              </a:rPr>
              <a:t>"I need a 12V to 5V voltage regulator using LM7805 with an LED indicator"</a:t>
            </a:r>
            <a:endParaRPr lang="en-US" sz="1400" dirty="0"/>
          </a:p>
        </p:txBody>
      </p:sp>
      <p:sp>
        <p:nvSpPr>
          <p:cNvPr id="13" name="Shape 10"/>
          <p:cNvSpPr/>
          <p:nvPr/>
        </p:nvSpPr>
        <p:spPr>
          <a:xfrm>
            <a:off x="1016000" y="4292600"/>
            <a:ext cx="1778000" cy="431800"/>
          </a:xfrm>
          <a:prstGeom prst="roundRect">
            <a:avLst>
              <a:gd name="adj" fmla="val 16000"/>
            </a:avLst>
          </a:prstGeom>
          <a:gradFill flip="none" rotWithShape="1">
            <a:gsLst>
              <a:gs pos="0">
                <a:srgbClr val="2563EB"/>
              </a:gs>
              <a:gs pos="100000">
                <a:srgbClr val="7C3AED"/>
              </a:gs>
            </a:gsLst>
            <a:lin ang="0" scaled="1"/>
          </a:gradFill>
          <a:ln/>
        </p:spPr>
        <p:txBody>
          <a:bodyPr/>
          <a:lstStyle/>
          <a:p>
            <a:endParaRPr lang="en-US"/>
          </a:p>
        </p:txBody>
      </p:sp>
      <p:sp>
        <p:nvSpPr>
          <p:cNvPr id="14" name="Text 11"/>
          <p:cNvSpPr/>
          <p:nvPr/>
        </p:nvSpPr>
        <p:spPr>
          <a:xfrm>
            <a:off x="1016000" y="4292600"/>
            <a:ext cx="1778000" cy="431800"/>
          </a:xfrm>
          <a:prstGeom prst="rect">
            <a:avLst/>
          </a:prstGeom>
          <a:noFill/>
          <a:ln/>
        </p:spPr>
        <p:txBody>
          <a:bodyPr wrap="none" lIns="0" tIns="0" rIns="0" bIns="0" rtlCol="0" anchor="ctr"/>
          <a:lstStyle/>
          <a:p>
            <a:pPr algn="ctr">
              <a:lnSpc>
                <a:spcPct val="120000"/>
              </a:lnSpc>
            </a:pPr>
            <a:r>
              <a:rPr lang="en-US" sz="1300" kern="0" spc="100" dirty="0">
                <a:solidFill>
                  <a:srgbClr val="FFFFFF"/>
                </a:solidFill>
                <a:latin typeface="Liter" pitchFamily="34" charset="0"/>
                <a:ea typeface="Liter" pitchFamily="34" charset="-122"/>
                <a:cs typeface="Liter" pitchFamily="34" charset="-120"/>
              </a:rPr>
              <a:t>GENERATE</a:t>
            </a:r>
            <a:endParaRPr lang="en-US" sz="1300" dirty="0"/>
          </a:p>
        </p:txBody>
      </p:sp>
      <p:sp>
        <p:nvSpPr>
          <p:cNvPr id="15" name="Text 12"/>
          <p:cNvSpPr/>
          <p:nvPr/>
        </p:nvSpPr>
        <p:spPr>
          <a:xfrm>
            <a:off x="1016000" y="4927600"/>
            <a:ext cx="6350000" cy="914400"/>
          </a:xfrm>
          <a:prstGeom prst="rect">
            <a:avLst/>
          </a:prstGeom>
          <a:noFill/>
          <a:ln/>
        </p:spPr>
        <p:txBody>
          <a:bodyPr wrap="square" lIns="0" tIns="0" rIns="0" bIns="0" rtlCol="0" anchor="t"/>
          <a:lstStyle/>
          <a:p>
            <a:pPr algn="l">
              <a:lnSpc>
                <a:spcPct val="140000"/>
              </a:lnSpc>
            </a:pPr>
            <a:r>
              <a:rPr lang="en-US" sz="1300" dirty="0">
                <a:solidFill>
                  <a:srgbClr val="10B981"/>
                </a:solidFill>
                <a:latin typeface="Quattrocento Sans" pitchFamily="34" charset="0"/>
                <a:ea typeface="Quattrocento Sans" pitchFamily="34" charset="-122"/>
                <a:cs typeface="Quattrocento Sans" pitchFamily="34" charset="-120"/>
              </a:rPr>
              <a:t>✓ Circuit analyzed</a:t>
            </a:r>
            <a:endParaRPr lang="en-US" sz="1300" dirty="0"/>
          </a:p>
          <a:p>
            <a:pPr algn="l">
              <a:lnSpc>
                <a:spcPct val="140000"/>
              </a:lnSpc>
            </a:pPr>
            <a:r>
              <a:rPr lang="en-US" sz="1300" dirty="0">
                <a:solidFill>
                  <a:srgbClr val="10B981"/>
                </a:solidFill>
                <a:latin typeface="Quattrocento Sans" pitchFamily="34" charset="0"/>
                <a:ea typeface="Quattrocento Sans" pitchFamily="34" charset="-122"/>
                <a:cs typeface="Quattrocento Sans" pitchFamily="34" charset="-120"/>
              </a:rPr>
              <a:t>✓ Components selected</a:t>
            </a:r>
            <a:endParaRPr lang="en-US" sz="1300" dirty="0"/>
          </a:p>
          <a:p>
            <a:pPr algn="l">
              <a:lnSpc>
                <a:spcPct val="140000"/>
              </a:lnSpc>
            </a:pPr>
            <a:r>
              <a:rPr lang="en-US" sz="1300" dirty="0">
                <a:solidFill>
                  <a:srgbClr val="10B981"/>
                </a:solidFill>
                <a:latin typeface="Quattrocento Sans" pitchFamily="34" charset="0"/>
                <a:ea typeface="Quattrocento Sans" pitchFamily="34" charset="-122"/>
                <a:cs typeface="Quattrocento Sans" pitchFamily="34" charset="-120"/>
              </a:rPr>
              <a:t>✓ Schematic generated</a:t>
            </a:r>
            <a:endParaRPr lang="en-US" sz="1300" dirty="0"/>
          </a:p>
        </p:txBody>
      </p:sp>
      <p:sp>
        <p:nvSpPr>
          <p:cNvPr id="16" name="Text 13"/>
          <p:cNvSpPr/>
          <p:nvPr/>
        </p:nvSpPr>
        <p:spPr>
          <a:xfrm>
            <a:off x="8128000" y="1841500"/>
            <a:ext cx="3175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GENERATED SCHEMATIC</a:t>
            </a:r>
            <a:endParaRPr lang="en-US" sz="1200" dirty="0"/>
          </a:p>
        </p:txBody>
      </p:sp>
      <p:sp>
        <p:nvSpPr>
          <p:cNvPr id="17" name="Shape 14"/>
          <p:cNvSpPr/>
          <p:nvPr/>
        </p:nvSpPr>
        <p:spPr>
          <a:xfrm>
            <a:off x="8128000" y="2184400"/>
            <a:ext cx="6858000" cy="3683000"/>
          </a:xfrm>
          <a:prstGeom prst="roundRect">
            <a:avLst>
              <a:gd name="adj" fmla="val 6000"/>
            </a:avLst>
          </a:prstGeom>
          <a:solidFill>
            <a:srgbClr val="FFFFFF"/>
          </a:solidFill>
          <a:ln w="12700">
            <a:solidFill>
              <a:srgbClr val="E2E8F0"/>
            </a:solidFill>
            <a:prstDash val="solid"/>
          </a:ln>
          <a:effectLst>
            <a:outerShdw blurRad="152400" dist="50800" dir="5400000" algn="bl" rotWithShape="0">
              <a:srgbClr val="000000">
                <a:alpha val="3922"/>
              </a:srgbClr>
            </a:outerShdw>
          </a:effectLst>
        </p:spPr>
        <p:txBody>
          <a:bodyPr/>
          <a:lstStyle/>
          <a:p>
            <a:endParaRPr lang="en-US"/>
          </a:p>
        </p:txBody>
      </p:sp>
      <p:sp>
        <p:nvSpPr>
          <p:cNvPr id="19" name="Text 15"/>
          <p:cNvSpPr/>
          <p:nvPr/>
        </p:nvSpPr>
        <p:spPr>
          <a:xfrm>
            <a:off x="8890000" y="3454400"/>
            <a:ext cx="5334000" cy="889000"/>
          </a:xfrm>
          <a:prstGeom prst="rect">
            <a:avLst/>
          </a:prstGeom>
          <a:noFill/>
          <a:ln/>
        </p:spPr>
        <p:txBody>
          <a:bodyPr wrap="square" lIns="0" tIns="0" rIns="0" bIns="0" rtlCol="0" anchor="ctr"/>
          <a:lstStyle/>
          <a:p>
            <a:pPr algn="ctr">
              <a:lnSpc>
                <a:spcPct val="120000"/>
              </a:lnSpc>
            </a:pPr>
            <a:endParaRPr lang="en-US" sz="1400" dirty="0"/>
          </a:p>
        </p:txBody>
      </p:sp>
      <p:sp>
        <p:nvSpPr>
          <p:cNvPr id="20" name="Text 16"/>
          <p:cNvSpPr/>
          <p:nvPr/>
        </p:nvSpPr>
        <p:spPr>
          <a:xfrm>
            <a:off x="762000" y="6159500"/>
            <a:ext cx="3175000" cy="254000"/>
          </a:xfrm>
          <a:prstGeom prst="rect">
            <a:avLst/>
          </a:prstGeom>
          <a:noFill/>
          <a:ln/>
        </p:spPr>
        <p:txBody>
          <a:bodyPr wrap="none" lIns="0" tIns="0" rIns="0" bIns="0" rtlCol="0" anchor="ctr"/>
          <a:lstStyle/>
          <a:p>
            <a:pPr algn="l">
              <a:lnSpc>
                <a:spcPct val="120000"/>
              </a:lnSpc>
            </a:pPr>
            <a:r>
              <a:rPr lang="en-US" sz="1200" kern="0" spc="100" dirty="0">
                <a:solidFill>
                  <a:srgbClr val="94A3B8"/>
                </a:solidFill>
                <a:latin typeface="Liter" pitchFamily="34" charset="0"/>
                <a:ea typeface="Liter" pitchFamily="34" charset="-122"/>
                <a:cs typeface="Liter" pitchFamily="34" charset="-120"/>
              </a:rPr>
              <a:t>GENERATED COMPONENT LIST</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62000" y="6502400"/>
          <a:ext cx="14732000" cy="1841500"/>
        </p:xfrm>
        <a:graphic>
          <a:graphicData uri="http://schemas.openxmlformats.org/drawingml/2006/table">
            <a:tbl>
              <a:tblPr/>
              <a:tblGrid>
                <a:gridCol w="22098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9575800">
                  <a:extLst>
                    <a:ext uri="{9D8B030D-6E8A-4147-A177-3AD203B41FA5}">
                      <a16:colId xmlns:a16="http://schemas.microsoft.com/office/drawing/2014/main" val="20002"/>
                    </a:ext>
                  </a:extLst>
                </a:gridCol>
              </a:tblGrid>
              <a:tr h="368300">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Component</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Value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a:r>
                        <a:rPr lang="en-US" sz="1400" b="1" dirty="0">
                          <a:solidFill>
                            <a:srgbClr val="FFFFFF"/>
                          </a:solidFill>
                          <a:latin typeface="Quattrocento Sans" pitchFamily="34" charset="0"/>
                          <a:ea typeface="Quattrocento Sans" pitchFamily="34" charset="-122"/>
                          <a:cs typeface="Quattrocento Sans" pitchFamily="34" charset="-120"/>
                        </a:rPr>
                        <a:t>Purpose</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29464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U1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LM7805</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5V Voltage Regulator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64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0.33µF</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Input bypass capacitor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9464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C2</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0.1µF</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Output stability capacitor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464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R1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220Ω</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LED current limiting resistor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94640">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D1</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5mm Red LED</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1E293B"/>
                          </a:solidFill>
                          <a:latin typeface="Quattrocento Sans" pitchFamily="34" charset="0"/>
                          <a:ea typeface="Quattrocento Sans" pitchFamily="34" charset="-122"/>
                          <a:cs typeface="Quattrocento Sans" pitchFamily="34" charset="-120"/>
                        </a:rPr>
                        <a:t>Power indicator</a:t>
                      </a:r>
                      <a:endParaRPr lang="en-US" sz="1400" dirty="0">
                        <a:latin typeface="Quattrocento Sans" charset="0"/>
                        <a:ea typeface="Quattrocento Sans" charset="0"/>
                        <a:cs typeface="Quattrocento Sans"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Text 17"/>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07 / 09</a:t>
            </a:r>
            <a:endParaRPr lang="en-US" sz="1400" dirty="0"/>
          </a:p>
        </p:txBody>
      </p:sp>
      <p:sp>
        <p:nvSpPr>
          <p:cNvPr id="23" name="TextBox 22">
            <a:extLst>
              <a:ext uri="{FF2B5EF4-FFF2-40B4-BE49-F238E27FC236}">
                <a16:creationId xmlns:a16="http://schemas.microsoft.com/office/drawing/2014/main" id="{93902CB2-05EB-7214-0D7E-360FCB86675C}"/>
              </a:ext>
            </a:extLst>
          </p:cNvPr>
          <p:cNvSpPr txBox="1"/>
          <p:nvPr/>
        </p:nvSpPr>
        <p:spPr>
          <a:xfrm>
            <a:off x="4064977" y="4387334"/>
            <a:ext cx="8129954" cy="369332"/>
          </a:xfrm>
          <a:prstGeom prst="rect">
            <a:avLst/>
          </a:prstGeom>
          <a:noFill/>
        </p:spPr>
        <p:txBody>
          <a:bodyPr wrap="square">
            <a:spAutoFit/>
          </a:bodyPr>
          <a:lstStyle/>
          <a:p>
            <a:endParaRPr lang="en-US" dirty="0"/>
          </a:p>
        </p:txBody>
      </p:sp>
      <p:pic>
        <p:nvPicPr>
          <p:cNvPr id="27" name="Picture 26">
            <a:extLst>
              <a:ext uri="{FF2B5EF4-FFF2-40B4-BE49-F238E27FC236}">
                <a16:creationId xmlns:a16="http://schemas.microsoft.com/office/drawing/2014/main" id="{D3F5DAA0-93F5-8411-3143-46A5406C28A5}"/>
              </a:ext>
            </a:extLst>
          </p:cNvPr>
          <p:cNvPicPr>
            <a:picLocks noChangeAspect="1"/>
          </p:cNvPicPr>
          <p:nvPr/>
        </p:nvPicPr>
        <p:blipFill>
          <a:blip r:embed="rId3"/>
          <a:stretch>
            <a:fillRect/>
          </a:stretch>
        </p:blipFill>
        <p:spPr>
          <a:xfrm>
            <a:off x="8370806" y="2403231"/>
            <a:ext cx="6376825" cy="3505539"/>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762000" y="5080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Future Roadmap</a:t>
            </a:r>
            <a:endParaRPr lang="en-US" sz="3200" dirty="0"/>
          </a:p>
        </p:txBody>
      </p:sp>
      <p:sp>
        <p:nvSpPr>
          <p:cNvPr id="4" name="Shape 1"/>
          <p:cNvSpPr/>
          <p:nvPr/>
        </p:nvSpPr>
        <p:spPr>
          <a:xfrm>
            <a:off x="762000" y="11430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5" name="Text 2"/>
          <p:cNvSpPr/>
          <p:nvPr/>
        </p:nvSpPr>
        <p:spPr>
          <a:xfrm>
            <a:off x="762000" y="1270000"/>
            <a:ext cx="7620000" cy="355600"/>
          </a:xfrm>
          <a:prstGeom prst="rect">
            <a:avLst/>
          </a:prstGeom>
          <a:noFill/>
          <a:ln/>
        </p:spPr>
        <p:txBody>
          <a:bodyPr wrap="none" lIns="0" tIns="0" rIns="0" bIns="0" rtlCol="0" anchor="ctr"/>
          <a:lstStyle/>
          <a:p>
            <a:pPr algn="l">
              <a:lnSpc>
                <a:spcPct val="140000"/>
              </a:lnSpc>
            </a:pPr>
            <a:r>
              <a:rPr lang="en-US" sz="1800" dirty="0">
                <a:solidFill>
                  <a:srgbClr val="64748B"/>
                </a:solidFill>
                <a:latin typeface="Quattrocento Sans" pitchFamily="34" charset="0"/>
                <a:ea typeface="Quattrocento Sans" pitchFamily="34" charset="-122"/>
                <a:cs typeface="Quattrocento Sans" pitchFamily="34" charset="-120"/>
              </a:rPr>
              <a:t>What's Next for AI Electronics Design</a:t>
            </a:r>
            <a:endParaRPr lang="en-US" sz="1800" dirty="0"/>
          </a:p>
        </p:txBody>
      </p:sp>
      <p:sp>
        <p:nvSpPr>
          <p:cNvPr id="6" name="Shape 3"/>
          <p:cNvSpPr/>
          <p:nvPr/>
        </p:nvSpPr>
        <p:spPr>
          <a:xfrm>
            <a:off x="762000" y="2222500"/>
            <a:ext cx="14732000" cy="38100"/>
          </a:xfrm>
          <a:prstGeom prst="rect">
            <a:avLst/>
          </a:prstGeom>
          <a:gradFill flip="none" rotWithShape="1">
            <a:gsLst>
              <a:gs pos="0">
                <a:srgbClr val="2563EB"/>
              </a:gs>
              <a:gs pos="50000">
                <a:srgbClr val="7C3AED"/>
              </a:gs>
              <a:gs pos="100000">
                <a:srgbClr val="A855F7"/>
              </a:gs>
            </a:gsLst>
            <a:lin ang="0" scaled="1"/>
          </a:gradFill>
          <a:ln/>
        </p:spPr>
        <p:txBody>
          <a:bodyPr/>
          <a:lstStyle/>
          <a:p>
            <a:endParaRPr lang="en-US"/>
          </a:p>
        </p:txBody>
      </p:sp>
      <p:sp>
        <p:nvSpPr>
          <p:cNvPr id="7" name="Shape 4"/>
          <p:cNvSpPr/>
          <p:nvPr/>
        </p:nvSpPr>
        <p:spPr>
          <a:xfrm>
            <a:off x="1943100" y="2133600"/>
            <a:ext cx="203200" cy="203200"/>
          </a:xfrm>
          <a:prstGeom prst="ellipse">
            <a:avLst/>
          </a:prstGeom>
          <a:solidFill>
            <a:srgbClr val="2563EB"/>
          </a:solidFill>
          <a:ln/>
        </p:spPr>
        <p:txBody>
          <a:bodyPr/>
          <a:lstStyle/>
          <a:p>
            <a:endParaRPr lang="en-US"/>
          </a:p>
        </p:txBody>
      </p:sp>
      <p:sp>
        <p:nvSpPr>
          <p:cNvPr id="8" name="Text 5"/>
          <p:cNvSpPr/>
          <p:nvPr/>
        </p:nvSpPr>
        <p:spPr>
          <a:xfrm>
            <a:off x="762000" y="1841500"/>
            <a:ext cx="2540000" cy="254000"/>
          </a:xfrm>
          <a:prstGeom prst="rect">
            <a:avLst/>
          </a:prstGeom>
          <a:noFill/>
          <a:ln/>
        </p:spPr>
        <p:txBody>
          <a:bodyPr wrap="none" lIns="0" tIns="0" rIns="0" bIns="0" rtlCol="0" anchor="ctr"/>
          <a:lstStyle/>
          <a:p>
            <a:pPr algn="ctr">
              <a:lnSpc>
                <a:spcPct val="120000"/>
              </a:lnSpc>
            </a:pPr>
            <a:r>
              <a:rPr lang="en-US" sz="1200" kern="0" spc="100" dirty="0">
                <a:solidFill>
                  <a:srgbClr val="2563EB"/>
                </a:solidFill>
                <a:latin typeface="Liter" pitchFamily="34" charset="0"/>
                <a:ea typeface="Liter" pitchFamily="34" charset="-122"/>
                <a:cs typeface="Liter" pitchFamily="34" charset="-120"/>
              </a:rPr>
              <a:t>PHASE 1 — NEAR TERM</a:t>
            </a:r>
            <a:endParaRPr lang="en-US" sz="1200" dirty="0"/>
          </a:p>
        </p:txBody>
      </p:sp>
      <p:sp>
        <p:nvSpPr>
          <p:cNvPr id="9" name="Text 6"/>
          <p:cNvSpPr/>
          <p:nvPr/>
        </p:nvSpPr>
        <p:spPr>
          <a:xfrm>
            <a:off x="762000" y="2438400"/>
            <a:ext cx="2540000" cy="2286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0-6 months</a:t>
            </a:r>
            <a:endParaRPr lang="en-US" sz="1200" dirty="0"/>
          </a:p>
        </p:txBody>
      </p:sp>
      <p:sp>
        <p:nvSpPr>
          <p:cNvPr id="10" name="Shape 7"/>
          <p:cNvSpPr/>
          <p:nvPr/>
        </p:nvSpPr>
        <p:spPr>
          <a:xfrm>
            <a:off x="762000" y="28575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11" name="Shape 8"/>
          <p:cNvSpPr/>
          <p:nvPr/>
        </p:nvSpPr>
        <p:spPr>
          <a:xfrm>
            <a:off x="952500" y="3009900"/>
            <a:ext cx="279400" cy="279400"/>
          </a:xfrm>
          <a:custGeom>
            <a:avLst/>
            <a:gdLst/>
            <a:ahLst/>
            <a:cxnLst/>
            <a:rect l="l" t="t" r="r" b="b"/>
            <a:pathLst>
              <a:path w="279400" h="279400">
                <a:moveTo>
                  <a:pt x="46809" y="0"/>
                </a:moveTo>
                <a:cubicBezTo>
                  <a:pt x="29686" y="0"/>
                  <a:pt x="15765" y="15662"/>
                  <a:pt x="15765" y="34925"/>
                </a:cubicBezTo>
                <a:lnTo>
                  <a:pt x="15765" y="244475"/>
                </a:lnTo>
                <a:cubicBezTo>
                  <a:pt x="15765" y="263738"/>
                  <a:pt x="29686" y="279400"/>
                  <a:pt x="46809" y="279400"/>
                </a:cubicBezTo>
                <a:lnTo>
                  <a:pt x="170987" y="279400"/>
                </a:lnTo>
                <a:cubicBezTo>
                  <a:pt x="188110" y="279400"/>
                  <a:pt x="202031" y="263738"/>
                  <a:pt x="202031" y="244475"/>
                </a:cubicBezTo>
                <a:lnTo>
                  <a:pt x="202031" y="192088"/>
                </a:lnTo>
                <a:lnTo>
                  <a:pt x="239915" y="192088"/>
                </a:lnTo>
                <a:lnTo>
                  <a:pt x="224878" y="209004"/>
                </a:lnTo>
                <a:cubicBezTo>
                  <a:pt x="220319" y="214134"/>
                  <a:pt x="220319" y="222429"/>
                  <a:pt x="224878" y="227504"/>
                </a:cubicBezTo>
                <a:cubicBezTo>
                  <a:pt x="229438" y="232579"/>
                  <a:pt x="236811" y="232633"/>
                  <a:pt x="241322" y="227504"/>
                </a:cubicBezTo>
                <a:lnTo>
                  <a:pt x="276247" y="188213"/>
                </a:lnTo>
                <a:cubicBezTo>
                  <a:pt x="280807" y="183083"/>
                  <a:pt x="280807" y="174789"/>
                  <a:pt x="276247" y="169714"/>
                </a:cubicBezTo>
                <a:lnTo>
                  <a:pt x="241322" y="130423"/>
                </a:lnTo>
                <a:cubicBezTo>
                  <a:pt x="236762" y="125293"/>
                  <a:pt x="229389" y="125293"/>
                  <a:pt x="224878" y="130423"/>
                </a:cubicBezTo>
                <a:cubicBezTo>
                  <a:pt x="220367" y="135553"/>
                  <a:pt x="220319" y="143847"/>
                  <a:pt x="224878" y="148922"/>
                </a:cubicBezTo>
                <a:lnTo>
                  <a:pt x="239915" y="165839"/>
                </a:lnTo>
                <a:lnTo>
                  <a:pt x="202031" y="165839"/>
                </a:lnTo>
                <a:lnTo>
                  <a:pt x="202031" y="92988"/>
                </a:lnTo>
                <a:cubicBezTo>
                  <a:pt x="202031" y="83711"/>
                  <a:pt x="198781" y="74816"/>
                  <a:pt x="192961" y="68267"/>
                </a:cubicBezTo>
                <a:lnTo>
                  <a:pt x="141252" y="10205"/>
                </a:lnTo>
                <a:cubicBezTo>
                  <a:pt x="135431" y="3656"/>
                  <a:pt x="127573" y="0"/>
                  <a:pt x="119327" y="0"/>
                </a:cubicBezTo>
                <a:lnTo>
                  <a:pt x="46809" y="0"/>
                </a:lnTo>
                <a:close/>
                <a:moveTo>
                  <a:pt x="173655" y="96044"/>
                </a:moveTo>
                <a:lnTo>
                  <a:pt x="128301" y="96044"/>
                </a:lnTo>
                <a:cubicBezTo>
                  <a:pt x="121849" y="96044"/>
                  <a:pt x="116659" y="90205"/>
                  <a:pt x="116659" y="82947"/>
                </a:cubicBezTo>
                <a:lnTo>
                  <a:pt x="116659" y="31924"/>
                </a:lnTo>
                <a:lnTo>
                  <a:pt x="173655" y="96044"/>
                </a:lnTo>
                <a:close/>
                <a:moveTo>
                  <a:pt x="108898" y="178991"/>
                </a:moveTo>
                <a:cubicBezTo>
                  <a:pt x="108898" y="171733"/>
                  <a:pt x="114088" y="165894"/>
                  <a:pt x="120540" y="165894"/>
                </a:cubicBezTo>
                <a:lnTo>
                  <a:pt x="170987" y="165894"/>
                </a:lnTo>
                <a:lnTo>
                  <a:pt x="170987" y="192088"/>
                </a:lnTo>
                <a:lnTo>
                  <a:pt x="120540" y="192088"/>
                </a:lnTo>
                <a:cubicBezTo>
                  <a:pt x="114088" y="192088"/>
                  <a:pt x="108898" y="186248"/>
                  <a:pt x="108898" y="178991"/>
                </a:cubicBezTo>
                <a:close/>
              </a:path>
            </a:pathLst>
          </a:custGeom>
          <a:solidFill>
            <a:srgbClr val="2563EB"/>
          </a:solidFill>
          <a:ln/>
        </p:spPr>
        <p:txBody>
          <a:bodyPr/>
          <a:lstStyle/>
          <a:p>
            <a:endParaRPr lang="en-US"/>
          </a:p>
        </p:txBody>
      </p:sp>
      <p:sp>
        <p:nvSpPr>
          <p:cNvPr id="12" name="Text 9"/>
          <p:cNvSpPr/>
          <p:nvPr/>
        </p:nvSpPr>
        <p:spPr>
          <a:xfrm>
            <a:off x="762000" y="33655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Export to Proteus</a:t>
            </a:r>
            <a:endParaRPr lang="en-US" sz="1300" dirty="0"/>
          </a:p>
        </p:txBody>
      </p:sp>
      <p:sp>
        <p:nvSpPr>
          <p:cNvPr id="13" name="Shape 10"/>
          <p:cNvSpPr/>
          <p:nvPr/>
        </p:nvSpPr>
        <p:spPr>
          <a:xfrm>
            <a:off x="762000" y="40386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14" name="Shape 11"/>
          <p:cNvSpPr/>
          <p:nvPr/>
        </p:nvSpPr>
        <p:spPr>
          <a:xfrm>
            <a:off x="952500" y="4191000"/>
            <a:ext cx="279400" cy="279400"/>
          </a:xfrm>
          <a:custGeom>
            <a:avLst/>
            <a:gdLst/>
            <a:ahLst/>
            <a:cxnLst/>
            <a:rect l="l" t="t" r="r" b="b"/>
            <a:pathLst>
              <a:path w="279400" h="279400">
                <a:moveTo>
                  <a:pt x="46809" y="0"/>
                </a:moveTo>
                <a:cubicBezTo>
                  <a:pt x="29686" y="0"/>
                  <a:pt x="15765" y="15662"/>
                  <a:pt x="15765" y="34925"/>
                </a:cubicBezTo>
                <a:lnTo>
                  <a:pt x="15765" y="244475"/>
                </a:lnTo>
                <a:cubicBezTo>
                  <a:pt x="15765" y="263738"/>
                  <a:pt x="29686" y="279400"/>
                  <a:pt x="46809" y="279400"/>
                </a:cubicBezTo>
                <a:lnTo>
                  <a:pt x="170987" y="279400"/>
                </a:lnTo>
                <a:cubicBezTo>
                  <a:pt x="188110" y="279400"/>
                  <a:pt x="202031" y="263738"/>
                  <a:pt x="202031" y="244475"/>
                </a:cubicBezTo>
                <a:lnTo>
                  <a:pt x="202031" y="192088"/>
                </a:lnTo>
                <a:lnTo>
                  <a:pt x="239915" y="192088"/>
                </a:lnTo>
                <a:lnTo>
                  <a:pt x="224878" y="209004"/>
                </a:lnTo>
                <a:cubicBezTo>
                  <a:pt x="220319" y="214134"/>
                  <a:pt x="220319" y="222429"/>
                  <a:pt x="224878" y="227504"/>
                </a:cubicBezTo>
                <a:cubicBezTo>
                  <a:pt x="229438" y="232579"/>
                  <a:pt x="236811" y="232633"/>
                  <a:pt x="241322" y="227504"/>
                </a:cubicBezTo>
                <a:lnTo>
                  <a:pt x="276247" y="188213"/>
                </a:lnTo>
                <a:cubicBezTo>
                  <a:pt x="280807" y="183083"/>
                  <a:pt x="280807" y="174789"/>
                  <a:pt x="276247" y="169714"/>
                </a:cubicBezTo>
                <a:lnTo>
                  <a:pt x="241322" y="130423"/>
                </a:lnTo>
                <a:cubicBezTo>
                  <a:pt x="236762" y="125293"/>
                  <a:pt x="229389" y="125293"/>
                  <a:pt x="224878" y="130423"/>
                </a:cubicBezTo>
                <a:cubicBezTo>
                  <a:pt x="220367" y="135553"/>
                  <a:pt x="220319" y="143847"/>
                  <a:pt x="224878" y="148922"/>
                </a:cubicBezTo>
                <a:lnTo>
                  <a:pt x="239915" y="165839"/>
                </a:lnTo>
                <a:lnTo>
                  <a:pt x="202031" y="165839"/>
                </a:lnTo>
                <a:lnTo>
                  <a:pt x="202031" y="92988"/>
                </a:lnTo>
                <a:cubicBezTo>
                  <a:pt x="202031" y="83711"/>
                  <a:pt x="198781" y="74816"/>
                  <a:pt x="192961" y="68267"/>
                </a:cubicBezTo>
                <a:lnTo>
                  <a:pt x="141252" y="10205"/>
                </a:lnTo>
                <a:cubicBezTo>
                  <a:pt x="135431" y="3656"/>
                  <a:pt x="127573" y="0"/>
                  <a:pt x="119327" y="0"/>
                </a:cubicBezTo>
                <a:lnTo>
                  <a:pt x="46809" y="0"/>
                </a:lnTo>
                <a:close/>
                <a:moveTo>
                  <a:pt x="173655" y="96044"/>
                </a:moveTo>
                <a:lnTo>
                  <a:pt x="128301" y="96044"/>
                </a:lnTo>
                <a:cubicBezTo>
                  <a:pt x="121849" y="96044"/>
                  <a:pt x="116659" y="90205"/>
                  <a:pt x="116659" y="82947"/>
                </a:cubicBezTo>
                <a:lnTo>
                  <a:pt x="116659" y="31924"/>
                </a:lnTo>
                <a:lnTo>
                  <a:pt x="173655" y="96044"/>
                </a:lnTo>
                <a:close/>
                <a:moveTo>
                  <a:pt x="108898" y="178991"/>
                </a:moveTo>
                <a:cubicBezTo>
                  <a:pt x="108898" y="171733"/>
                  <a:pt x="114088" y="165894"/>
                  <a:pt x="120540" y="165894"/>
                </a:cubicBezTo>
                <a:lnTo>
                  <a:pt x="170987" y="165894"/>
                </a:lnTo>
                <a:lnTo>
                  <a:pt x="170987" y="192088"/>
                </a:lnTo>
                <a:lnTo>
                  <a:pt x="120540" y="192088"/>
                </a:lnTo>
                <a:cubicBezTo>
                  <a:pt x="114088" y="192088"/>
                  <a:pt x="108898" y="186248"/>
                  <a:pt x="108898" y="178991"/>
                </a:cubicBezTo>
                <a:close/>
              </a:path>
            </a:pathLst>
          </a:custGeom>
          <a:solidFill>
            <a:srgbClr val="2563EB"/>
          </a:solidFill>
          <a:ln/>
        </p:spPr>
        <p:txBody>
          <a:bodyPr/>
          <a:lstStyle/>
          <a:p>
            <a:endParaRPr lang="en-US"/>
          </a:p>
        </p:txBody>
      </p:sp>
      <p:sp>
        <p:nvSpPr>
          <p:cNvPr id="15" name="Text 12"/>
          <p:cNvSpPr/>
          <p:nvPr/>
        </p:nvSpPr>
        <p:spPr>
          <a:xfrm>
            <a:off x="762000" y="45466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Export to Altium</a:t>
            </a:r>
            <a:endParaRPr lang="en-US" sz="1300" dirty="0"/>
          </a:p>
        </p:txBody>
      </p:sp>
      <p:sp>
        <p:nvSpPr>
          <p:cNvPr id="16" name="Shape 13"/>
          <p:cNvSpPr/>
          <p:nvPr/>
        </p:nvSpPr>
        <p:spPr>
          <a:xfrm>
            <a:off x="762000" y="52197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17" name="Shape 14"/>
          <p:cNvSpPr/>
          <p:nvPr/>
        </p:nvSpPr>
        <p:spPr>
          <a:xfrm>
            <a:off x="952500" y="5372100"/>
            <a:ext cx="279400" cy="279400"/>
          </a:xfrm>
          <a:custGeom>
            <a:avLst/>
            <a:gdLst/>
            <a:ahLst/>
            <a:cxnLst/>
            <a:rect l="l" t="t" r="r" b="b"/>
            <a:pathLst>
              <a:path w="279400" h="279400">
                <a:moveTo>
                  <a:pt x="46567" y="0"/>
                </a:moveTo>
                <a:cubicBezTo>
                  <a:pt x="20882" y="0"/>
                  <a:pt x="0" y="15662"/>
                  <a:pt x="0" y="34925"/>
                </a:cubicBezTo>
                <a:lnTo>
                  <a:pt x="0" y="244475"/>
                </a:lnTo>
                <a:cubicBezTo>
                  <a:pt x="0" y="263738"/>
                  <a:pt x="20882" y="279400"/>
                  <a:pt x="46567" y="279400"/>
                </a:cubicBezTo>
                <a:lnTo>
                  <a:pt x="232833" y="279400"/>
                </a:lnTo>
                <a:cubicBezTo>
                  <a:pt x="258518" y="279400"/>
                  <a:pt x="279400" y="263738"/>
                  <a:pt x="279400" y="244475"/>
                </a:cubicBezTo>
                <a:lnTo>
                  <a:pt x="279400" y="34925"/>
                </a:lnTo>
                <a:cubicBezTo>
                  <a:pt x="279400" y="15662"/>
                  <a:pt x="258518" y="0"/>
                  <a:pt x="232833" y="0"/>
                </a:cubicBezTo>
                <a:lnTo>
                  <a:pt x="46567" y="0"/>
                </a:lnTo>
                <a:close/>
                <a:moveTo>
                  <a:pt x="69850" y="34925"/>
                </a:moveTo>
                <a:lnTo>
                  <a:pt x="209550" y="34925"/>
                </a:lnTo>
                <a:cubicBezTo>
                  <a:pt x="222429" y="34925"/>
                  <a:pt x="232833" y="42729"/>
                  <a:pt x="232833" y="52388"/>
                </a:cubicBezTo>
                <a:lnTo>
                  <a:pt x="232833" y="69850"/>
                </a:lnTo>
                <a:cubicBezTo>
                  <a:pt x="232833" y="79509"/>
                  <a:pt x="222429" y="87313"/>
                  <a:pt x="209550" y="87313"/>
                </a:cubicBezTo>
                <a:lnTo>
                  <a:pt x="69850" y="87313"/>
                </a:lnTo>
                <a:cubicBezTo>
                  <a:pt x="56971" y="87313"/>
                  <a:pt x="46567" y="79509"/>
                  <a:pt x="46567" y="69850"/>
                </a:cubicBezTo>
                <a:lnTo>
                  <a:pt x="46567" y="52388"/>
                </a:lnTo>
                <a:cubicBezTo>
                  <a:pt x="46567" y="42729"/>
                  <a:pt x="56971" y="34925"/>
                  <a:pt x="69850" y="34925"/>
                </a:cubicBezTo>
                <a:close/>
                <a:moveTo>
                  <a:pt x="81492" y="126603"/>
                </a:moveTo>
                <a:cubicBezTo>
                  <a:pt x="81492" y="133831"/>
                  <a:pt x="73667" y="139700"/>
                  <a:pt x="64029" y="139700"/>
                </a:cubicBezTo>
                <a:cubicBezTo>
                  <a:pt x="54391" y="139700"/>
                  <a:pt x="46567" y="133831"/>
                  <a:pt x="46567" y="126603"/>
                </a:cubicBezTo>
                <a:cubicBezTo>
                  <a:pt x="46567" y="119375"/>
                  <a:pt x="54391" y="113506"/>
                  <a:pt x="64029" y="113506"/>
                </a:cubicBezTo>
                <a:cubicBezTo>
                  <a:pt x="73667" y="113506"/>
                  <a:pt x="81492" y="119375"/>
                  <a:pt x="81492" y="126603"/>
                </a:cubicBezTo>
                <a:close/>
                <a:moveTo>
                  <a:pt x="139700" y="139700"/>
                </a:moveTo>
                <a:cubicBezTo>
                  <a:pt x="130062" y="139700"/>
                  <a:pt x="122238" y="133831"/>
                  <a:pt x="122238" y="126603"/>
                </a:cubicBezTo>
                <a:cubicBezTo>
                  <a:pt x="122238" y="119375"/>
                  <a:pt x="130062" y="113506"/>
                  <a:pt x="139700" y="113506"/>
                </a:cubicBezTo>
                <a:cubicBezTo>
                  <a:pt x="149338" y="113506"/>
                  <a:pt x="157163" y="119375"/>
                  <a:pt x="157163" y="126603"/>
                </a:cubicBezTo>
                <a:cubicBezTo>
                  <a:pt x="157163" y="133831"/>
                  <a:pt x="149338" y="139700"/>
                  <a:pt x="139700" y="139700"/>
                </a:cubicBezTo>
                <a:close/>
                <a:moveTo>
                  <a:pt x="232833" y="126603"/>
                </a:moveTo>
                <a:cubicBezTo>
                  <a:pt x="232833" y="133831"/>
                  <a:pt x="225009" y="139700"/>
                  <a:pt x="215371" y="139700"/>
                </a:cubicBezTo>
                <a:cubicBezTo>
                  <a:pt x="205733" y="139700"/>
                  <a:pt x="197908" y="133831"/>
                  <a:pt x="197908" y="126603"/>
                </a:cubicBezTo>
                <a:cubicBezTo>
                  <a:pt x="197908" y="119375"/>
                  <a:pt x="205733" y="113506"/>
                  <a:pt x="215371" y="113506"/>
                </a:cubicBezTo>
                <a:cubicBezTo>
                  <a:pt x="225009" y="113506"/>
                  <a:pt x="232833" y="119375"/>
                  <a:pt x="232833" y="126603"/>
                </a:cubicBezTo>
                <a:close/>
                <a:moveTo>
                  <a:pt x="64029" y="192088"/>
                </a:moveTo>
                <a:cubicBezTo>
                  <a:pt x="54391" y="192088"/>
                  <a:pt x="46567" y="186219"/>
                  <a:pt x="46567" y="178991"/>
                </a:cubicBezTo>
                <a:cubicBezTo>
                  <a:pt x="46567" y="171762"/>
                  <a:pt x="54391" y="165894"/>
                  <a:pt x="64029" y="165894"/>
                </a:cubicBezTo>
                <a:cubicBezTo>
                  <a:pt x="73667" y="165894"/>
                  <a:pt x="81492" y="171762"/>
                  <a:pt x="81492" y="178991"/>
                </a:cubicBezTo>
                <a:cubicBezTo>
                  <a:pt x="81492" y="186219"/>
                  <a:pt x="73667" y="192088"/>
                  <a:pt x="64029" y="192088"/>
                </a:cubicBezTo>
                <a:close/>
                <a:moveTo>
                  <a:pt x="157163" y="178991"/>
                </a:moveTo>
                <a:cubicBezTo>
                  <a:pt x="157163" y="186219"/>
                  <a:pt x="149338" y="192088"/>
                  <a:pt x="139700" y="192088"/>
                </a:cubicBezTo>
                <a:cubicBezTo>
                  <a:pt x="130062" y="192088"/>
                  <a:pt x="122238" y="186219"/>
                  <a:pt x="122238" y="178991"/>
                </a:cubicBezTo>
                <a:cubicBezTo>
                  <a:pt x="122238" y="171762"/>
                  <a:pt x="130062" y="165894"/>
                  <a:pt x="139700" y="165894"/>
                </a:cubicBezTo>
                <a:cubicBezTo>
                  <a:pt x="149338" y="165894"/>
                  <a:pt x="157163" y="171762"/>
                  <a:pt x="157163" y="178991"/>
                </a:cubicBezTo>
                <a:close/>
                <a:moveTo>
                  <a:pt x="215371" y="192088"/>
                </a:moveTo>
                <a:cubicBezTo>
                  <a:pt x="205733" y="192088"/>
                  <a:pt x="197908" y="186219"/>
                  <a:pt x="197908" y="178991"/>
                </a:cubicBezTo>
                <a:cubicBezTo>
                  <a:pt x="197908" y="171762"/>
                  <a:pt x="205733" y="165894"/>
                  <a:pt x="215371" y="165894"/>
                </a:cubicBezTo>
                <a:cubicBezTo>
                  <a:pt x="225009" y="165894"/>
                  <a:pt x="232833" y="171762"/>
                  <a:pt x="232833" y="178991"/>
                </a:cubicBezTo>
                <a:cubicBezTo>
                  <a:pt x="232833" y="186219"/>
                  <a:pt x="225009" y="192088"/>
                  <a:pt x="215371" y="192088"/>
                </a:cubicBezTo>
                <a:close/>
                <a:moveTo>
                  <a:pt x="46567" y="231378"/>
                </a:moveTo>
                <a:cubicBezTo>
                  <a:pt x="46567" y="224120"/>
                  <a:pt x="54352" y="218281"/>
                  <a:pt x="64029" y="218281"/>
                </a:cubicBezTo>
                <a:lnTo>
                  <a:pt x="145521" y="218281"/>
                </a:lnTo>
                <a:cubicBezTo>
                  <a:pt x="155198" y="218281"/>
                  <a:pt x="162983" y="224120"/>
                  <a:pt x="162983" y="231378"/>
                </a:cubicBezTo>
                <a:cubicBezTo>
                  <a:pt x="162983" y="238636"/>
                  <a:pt x="155198" y="244475"/>
                  <a:pt x="145521" y="244475"/>
                </a:cubicBezTo>
                <a:lnTo>
                  <a:pt x="64029" y="244475"/>
                </a:lnTo>
                <a:cubicBezTo>
                  <a:pt x="54352" y="244475"/>
                  <a:pt x="46567" y="238636"/>
                  <a:pt x="46567" y="231378"/>
                </a:cubicBezTo>
                <a:close/>
                <a:moveTo>
                  <a:pt x="215371" y="218281"/>
                </a:moveTo>
                <a:cubicBezTo>
                  <a:pt x="225048" y="218281"/>
                  <a:pt x="232833" y="224120"/>
                  <a:pt x="232833" y="231378"/>
                </a:cubicBezTo>
                <a:cubicBezTo>
                  <a:pt x="232833" y="238636"/>
                  <a:pt x="225048" y="244475"/>
                  <a:pt x="215371" y="244475"/>
                </a:cubicBezTo>
                <a:cubicBezTo>
                  <a:pt x="205694" y="244475"/>
                  <a:pt x="197908" y="238636"/>
                  <a:pt x="197908" y="231378"/>
                </a:cubicBezTo>
                <a:cubicBezTo>
                  <a:pt x="197908" y="224120"/>
                  <a:pt x="205694" y="218281"/>
                  <a:pt x="215371" y="218281"/>
                </a:cubicBezTo>
                <a:close/>
              </a:path>
            </a:pathLst>
          </a:custGeom>
          <a:solidFill>
            <a:srgbClr val="2563EB"/>
          </a:solidFill>
          <a:ln/>
        </p:spPr>
        <p:txBody>
          <a:bodyPr/>
          <a:lstStyle/>
          <a:p>
            <a:endParaRPr lang="en-US"/>
          </a:p>
        </p:txBody>
      </p:sp>
      <p:sp>
        <p:nvSpPr>
          <p:cNvPr id="18" name="Text 15"/>
          <p:cNvSpPr/>
          <p:nvPr/>
        </p:nvSpPr>
        <p:spPr>
          <a:xfrm>
            <a:off x="762000" y="57277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BOM Cost Estimation</a:t>
            </a:r>
            <a:endParaRPr lang="en-US" sz="1300" dirty="0"/>
          </a:p>
        </p:txBody>
      </p:sp>
      <p:sp>
        <p:nvSpPr>
          <p:cNvPr id="19" name="Shape 16"/>
          <p:cNvSpPr/>
          <p:nvPr/>
        </p:nvSpPr>
        <p:spPr>
          <a:xfrm>
            <a:off x="5626100" y="2133600"/>
            <a:ext cx="203200" cy="203200"/>
          </a:xfrm>
          <a:prstGeom prst="ellipse">
            <a:avLst/>
          </a:prstGeom>
          <a:solidFill>
            <a:srgbClr val="4F46E5"/>
          </a:solidFill>
          <a:ln/>
        </p:spPr>
        <p:txBody>
          <a:bodyPr/>
          <a:lstStyle/>
          <a:p>
            <a:endParaRPr lang="en-US"/>
          </a:p>
        </p:txBody>
      </p:sp>
      <p:sp>
        <p:nvSpPr>
          <p:cNvPr id="20" name="Text 17"/>
          <p:cNvSpPr/>
          <p:nvPr/>
        </p:nvSpPr>
        <p:spPr>
          <a:xfrm>
            <a:off x="4445000" y="1841500"/>
            <a:ext cx="2540000" cy="254000"/>
          </a:xfrm>
          <a:prstGeom prst="rect">
            <a:avLst/>
          </a:prstGeom>
          <a:noFill/>
          <a:ln/>
        </p:spPr>
        <p:txBody>
          <a:bodyPr wrap="none" lIns="0" tIns="0" rIns="0" bIns="0" rtlCol="0" anchor="ctr"/>
          <a:lstStyle/>
          <a:p>
            <a:pPr algn="ctr">
              <a:lnSpc>
                <a:spcPct val="120000"/>
              </a:lnSpc>
            </a:pPr>
            <a:r>
              <a:rPr lang="en-US" sz="1200" kern="0" spc="100" dirty="0">
                <a:solidFill>
                  <a:srgbClr val="4F46E5"/>
                </a:solidFill>
                <a:latin typeface="Liter" pitchFamily="34" charset="0"/>
                <a:ea typeface="Liter" pitchFamily="34" charset="-122"/>
                <a:cs typeface="Liter" pitchFamily="34" charset="-120"/>
              </a:rPr>
              <a:t>PHASE 2 — MEDIUM</a:t>
            </a:r>
            <a:endParaRPr lang="en-US" sz="1200" dirty="0"/>
          </a:p>
        </p:txBody>
      </p:sp>
      <p:sp>
        <p:nvSpPr>
          <p:cNvPr id="21" name="Text 18"/>
          <p:cNvSpPr/>
          <p:nvPr/>
        </p:nvSpPr>
        <p:spPr>
          <a:xfrm>
            <a:off x="4445000" y="2438400"/>
            <a:ext cx="2540000" cy="2286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6-12 months</a:t>
            </a:r>
            <a:endParaRPr lang="en-US" sz="1200" dirty="0"/>
          </a:p>
        </p:txBody>
      </p:sp>
      <p:sp>
        <p:nvSpPr>
          <p:cNvPr id="22" name="Shape 19"/>
          <p:cNvSpPr/>
          <p:nvPr/>
        </p:nvSpPr>
        <p:spPr>
          <a:xfrm>
            <a:off x="4445000" y="28575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23" name="Shape 20"/>
          <p:cNvSpPr/>
          <p:nvPr/>
        </p:nvSpPr>
        <p:spPr>
          <a:xfrm>
            <a:off x="4635500" y="3009900"/>
            <a:ext cx="279400" cy="279400"/>
          </a:xfrm>
          <a:custGeom>
            <a:avLst/>
            <a:gdLst/>
            <a:ahLst/>
            <a:cxnLst/>
            <a:rect l="l" t="t" r="r" b="b"/>
            <a:pathLst>
              <a:path w="279400" h="279400">
                <a:moveTo>
                  <a:pt x="34925" y="34925"/>
                </a:moveTo>
                <a:cubicBezTo>
                  <a:pt x="34925" y="15662"/>
                  <a:pt x="50587" y="0"/>
                  <a:pt x="69850" y="0"/>
                </a:cubicBezTo>
                <a:lnTo>
                  <a:pt x="186358" y="0"/>
                </a:lnTo>
                <a:cubicBezTo>
                  <a:pt x="195635" y="0"/>
                  <a:pt x="204530" y="3656"/>
                  <a:pt x="211078" y="10205"/>
                </a:cubicBezTo>
                <a:lnTo>
                  <a:pt x="234270" y="33397"/>
                </a:lnTo>
                <a:cubicBezTo>
                  <a:pt x="240819" y="39945"/>
                  <a:pt x="244475" y="48840"/>
                  <a:pt x="244475" y="58117"/>
                </a:cubicBezTo>
                <a:lnTo>
                  <a:pt x="244475" y="78581"/>
                </a:lnTo>
                <a:lnTo>
                  <a:pt x="34925" y="78581"/>
                </a:lnTo>
                <a:lnTo>
                  <a:pt x="34925" y="34925"/>
                </a:lnTo>
                <a:close/>
                <a:moveTo>
                  <a:pt x="0" y="139700"/>
                </a:moveTo>
                <a:cubicBezTo>
                  <a:pt x="0" y="120437"/>
                  <a:pt x="15662" y="104775"/>
                  <a:pt x="34925" y="104775"/>
                </a:cubicBezTo>
                <a:lnTo>
                  <a:pt x="244475" y="104775"/>
                </a:lnTo>
                <a:cubicBezTo>
                  <a:pt x="263738" y="104775"/>
                  <a:pt x="279400" y="120437"/>
                  <a:pt x="279400" y="139700"/>
                </a:cubicBezTo>
                <a:lnTo>
                  <a:pt x="279400" y="192088"/>
                </a:lnTo>
                <a:cubicBezTo>
                  <a:pt x="279400" y="201746"/>
                  <a:pt x="271596" y="209550"/>
                  <a:pt x="261938" y="209550"/>
                </a:cubicBezTo>
                <a:lnTo>
                  <a:pt x="244475" y="209550"/>
                </a:lnTo>
                <a:lnTo>
                  <a:pt x="244475" y="244475"/>
                </a:lnTo>
                <a:cubicBezTo>
                  <a:pt x="244475" y="263738"/>
                  <a:pt x="228813" y="279400"/>
                  <a:pt x="209550" y="279400"/>
                </a:cubicBezTo>
                <a:lnTo>
                  <a:pt x="69850" y="279400"/>
                </a:lnTo>
                <a:cubicBezTo>
                  <a:pt x="50587" y="279400"/>
                  <a:pt x="34925" y="263738"/>
                  <a:pt x="34925" y="244475"/>
                </a:cubicBezTo>
                <a:lnTo>
                  <a:pt x="34925" y="209550"/>
                </a:lnTo>
                <a:lnTo>
                  <a:pt x="17463" y="209550"/>
                </a:lnTo>
                <a:cubicBezTo>
                  <a:pt x="7804" y="209550"/>
                  <a:pt x="0" y="201746"/>
                  <a:pt x="0" y="192088"/>
                </a:cubicBezTo>
                <a:lnTo>
                  <a:pt x="0" y="139700"/>
                </a:lnTo>
                <a:close/>
                <a:moveTo>
                  <a:pt x="69850" y="227013"/>
                </a:moveTo>
                <a:lnTo>
                  <a:pt x="69850" y="244475"/>
                </a:lnTo>
                <a:lnTo>
                  <a:pt x="209550" y="244475"/>
                </a:lnTo>
                <a:lnTo>
                  <a:pt x="209550" y="192088"/>
                </a:lnTo>
                <a:lnTo>
                  <a:pt x="69850" y="192088"/>
                </a:lnTo>
                <a:lnTo>
                  <a:pt x="69850" y="227013"/>
                </a:lnTo>
                <a:close/>
                <a:moveTo>
                  <a:pt x="248841" y="148431"/>
                </a:moveTo>
                <a:cubicBezTo>
                  <a:pt x="248841" y="141203"/>
                  <a:pt x="242972" y="135334"/>
                  <a:pt x="235744" y="135334"/>
                </a:cubicBezTo>
                <a:cubicBezTo>
                  <a:pt x="228515" y="135334"/>
                  <a:pt x="222647" y="141203"/>
                  <a:pt x="222647" y="148431"/>
                </a:cubicBezTo>
                <a:cubicBezTo>
                  <a:pt x="222647" y="155660"/>
                  <a:pt x="228515" y="161528"/>
                  <a:pt x="235744" y="161528"/>
                </a:cubicBezTo>
                <a:cubicBezTo>
                  <a:pt x="242972" y="161528"/>
                  <a:pt x="248841" y="155660"/>
                  <a:pt x="248841" y="148431"/>
                </a:cubicBezTo>
                <a:close/>
              </a:path>
            </a:pathLst>
          </a:custGeom>
          <a:solidFill>
            <a:srgbClr val="4F46E5"/>
          </a:solidFill>
          <a:ln/>
        </p:spPr>
        <p:txBody>
          <a:bodyPr/>
          <a:lstStyle/>
          <a:p>
            <a:endParaRPr lang="en-US"/>
          </a:p>
        </p:txBody>
      </p:sp>
      <p:sp>
        <p:nvSpPr>
          <p:cNvPr id="24" name="Text 21"/>
          <p:cNvSpPr/>
          <p:nvPr/>
        </p:nvSpPr>
        <p:spPr>
          <a:xfrm>
            <a:off x="4445000" y="33655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PCB Auto-Design</a:t>
            </a:r>
            <a:endParaRPr lang="en-US" sz="1300" dirty="0"/>
          </a:p>
        </p:txBody>
      </p:sp>
      <p:sp>
        <p:nvSpPr>
          <p:cNvPr id="25" name="Shape 22"/>
          <p:cNvSpPr/>
          <p:nvPr/>
        </p:nvSpPr>
        <p:spPr>
          <a:xfrm>
            <a:off x="4445000" y="40386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26" name="Shape 23"/>
          <p:cNvSpPr/>
          <p:nvPr/>
        </p:nvSpPr>
        <p:spPr>
          <a:xfrm>
            <a:off x="4635500" y="4191000"/>
            <a:ext cx="279400" cy="279400"/>
          </a:xfrm>
          <a:custGeom>
            <a:avLst/>
            <a:gdLst/>
            <a:ahLst/>
            <a:cxnLst/>
            <a:rect l="l" t="t" r="r" b="b"/>
            <a:pathLst>
              <a:path w="279400" h="279400">
                <a:moveTo>
                  <a:pt x="122401" y="-1364"/>
                </a:moveTo>
                <a:cubicBezTo>
                  <a:pt x="133206" y="-7585"/>
                  <a:pt x="146521" y="-7585"/>
                  <a:pt x="157326" y="-1364"/>
                </a:cubicBezTo>
                <a:lnTo>
                  <a:pt x="253315" y="54025"/>
                </a:lnTo>
                <a:cubicBezTo>
                  <a:pt x="264120" y="60246"/>
                  <a:pt x="270778" y="71815"/>
                  <a:pt x="270778" y="84257"/>
                </a:cubicBezTo>
                <a:lnTo>
                  <a:pt x="270778" y="195034"/>
                </a:lnTo>
                <a:cubicBezTo>
                  <a:pt x="270778" y="207531"/>
                  <a:pt x="264120" y="219045"/>
                  <a:pt x="253315" y="225266"/>
                </a:cubicBezTo>
                <a:lnTo>
                  <a:pt x="157326" y="280764"/>
                </a:lnTo>
                <a:cubicBezTo>
                  <a:pt x="146521" y="286985"/>
                  <a:pt x="133206" y="286985"/>
                  <a:pt x="122401" y="280764"/>
                </a:cubicBezTo>
                <a:lnTo>
                  <a:pt x="26467" y="225375"/>
                </a:lnTo>
                <a:cubicBezTo>
                  <a:pt x="15662" y="219154"/>
                  <a:pt x="9004" y="207585"/>
                  <a:pt x="9004" y="195143"/>
                </a:cubicBezTo>
                <a:lnTo>
                  <a:pt x="9004" y="84366"/>
                </a:lnTo>
                <a:cubicBezTo>
                  <a:pt x="9004" y="71869"/>
                  <a:pt x="15662" y="60355"/>
                  <a:pt x="26467" y="54134"/>
                </a:cubicBezTo>
                <a:lnTo>
                  <a:pt x="122401" y="-1364"/>
                </a:lnTo>
                <a:close/>
                <a:moveTo>
                  <a:pt x="235798" y="195089"/>
                </a:moveTo>
                <a:lnTo>
                  <a:pt x="235798" y="104448"/>
                </a:lnTo>
                <a:lnTo>
                  <a:pt x="157326" y="149741"/>
                </a:lnTo>
                <a:lnTo>
                  <a:pt x="157326" y="240382"/>
                </a:lnTo>
                <a:lnTo>
                  <a:pt x="235798" y="195089"/>
                </a:lnTo>
                <a:close/>
              </a:path>
            </a:pathLst>
          </a:custGeom>
          <a:solidFill>
            <a:srgbClr val="4F46E5"/>
          </a:solidFill>
          <a:ln/>
        </p:spPr>
        <p:txBody>
          <a:bodyPr/>
          <a:lstStyle/>
          <a:p>
            <a:endParaRPr lang="en-US"/>
          </a:p>
        </p:txBody>
      </p:sp>
      <p:sp>
        <p:nvSpPr>
          <p:cNvPr id="27" name="Text 24"/>
          <p:cNvSpPr/>
          <p:nvPr/>
        </p:nvSpPr>
        <p:spPr>
          <a:xfrm>
            <a:off x="4445000" y="45466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3D Visualization</a:t>
            </a:r>
            <a:endParaRPr lang="en-US" sz="1300" dirty="0"/>
          </a:p>
        </p:txBody>
      </p:sp>
      <p:sp>
        <p:nvSpPr>
          <p:cNvPr id="28" name="Shape 25"/>
          <p:cNvSpPr/>
          <p:nvPr/>
        </p:nvSpPr>
        <p:spPr>
          <a:xfrm>
            <a:off x="4445000" y="52197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29" name="Shape 26"/>
          <p:cNvSpPr/>
          <p:nvPr/>
        </p:nvSpPr>
        <p:spPr>
          <a:xfrm>
            <a:off x="4635500" y="5372100"/>
            <a:ext cx="279400" cy="279400"/>
          </a:xfrm>
          <a:custGeom>
            <a:avLst/>
            <a:gdLst/>
            <a:ahLst/>
            <a:cxnLst/>
            <a:rect l="l" t="t" r="r" b="b"/>
            <a:pathLst>
              <a:path w="279400" h="279400">
                <a:moveTo>
                  <a:pt x="211296" y="-5402"/>
                </a:moveTo>
                <a:cubicBezTo>
                  <a:pt x="218718" y="-709"/>
                  <a:pt x="221462" y="7804"/>
                  <a:pt x="218094" y="15225"/>
                </a:cubicBezTo>
                <a:lnTo>
                  <a:pt x="169199" y="122238"/>
                </a:lnTo>
                <a:lnTo>
                  <a:pt x="259443" y="122238"/>
                </a:lnTo>
                <a:cubicBezTo>
                  <a:pt x="267862" y="122238"/>
                  <a:pt x="275346" y="126821"/>
                  <a:pt x="278215" y="133752"/>
                </a:cubicBezTo>
                <a:cubicBezTo>
                  <a:pt x="281084" y="140682"/>
                  <a:pt x="278652" y="148431"/>
                  <a:pt x="272228" y="153124"/>
                </a:cubicBezTo>
                <a:lnTo>
                  <a:pt x="92614" y="284093"/>
                </a:lnTo>
                <a:cubicBezTo>
                  <a:pt x="85566" y="289223"/>
                  <a:pt x="75525" y="289496"/>
                  <a:pt x="68104" y="284802"/>
                </a:cubicBezTo>
                <a:cubicBezTo>
                  <a:pt x="60682" y="280109"/>
                  <a:pt x="57938" y="271596"/>
                  <a:pt x="61306" y="264175"/>
                </a:cubicBezTo>
                <a:lnTo>
                  <a:pt x="110201" y="157163"/>
                </a:lnTo>
                <a:lnTo>
                  <a:pt x="19957" y="157163"/>
                </a:lnTo>
                <a:cubicBezTo>
                  <a:pt x="11538" y="157163"/>
                  <a:pt x="4054" y="152579"/>
                  <a:pt x="1185" y="145648"/>
                </a:cubicBezTo>
                <a:cubicBezTo>
                  <a:pt x="-1684" y="138718"/>
                  <a:pt x="748" y="130969"/>
                  <a:pt x="7172" y="126276"/>
                </a:cubicBezTo>
                <a:lnTo>
                  <a:pt x="186786" y="-4693"/>
                </a:lnTo>
                <a:cubicBezTo>
                  <a:pt x="193834" y="-9823"/>
                  <a:pt x="203875" y="-10096"/>
                  <a:pt x="211296" y="-5402"/>
                </a:cubicBezTo>
                <a:close/>
              </a:path>
            </a:pathLst>
          </a:custGeom>
          <a:solidFill>
            <a:srgbClr val="4F46E5"/>
          </a:solidFill>
          <a:ln/>
        </p:spPr>
        <p:txBody>
          <a:bodyPr/>
          <a:lstStyle/>
          <a:p>
            <a:endParaRPr lang="en-US"/>
          </a:p>
        </p:txBody>
      </p:sp>
      <p:sp>
        <p:nvSpPr>
          <p:cNvPr id="30" name="Text 27"/>
          <p:cNvSpPr/>
          <p:nvPr/>
        </p:nvSpPr>
        <p:spPr>
          <a:xfrm>
            <a:off x="4445000" y="57277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Simulation Engine</a:t>
            </a:r>
            <a:endParaRPr lang="en-US" sz="1300" dirty="0"/>
          </a:p>
        </p:txBody>
      </p:sp>
      <p:sp>
        <p:nvSpPr>
          <p:cNvPr id="31" name="Shape 28"/>
          <p:cNvSpPr/>
          <p:nvPr/>
        </p:nvSpPr>
        <p:spPr>
          <a:xfrm>
            <a:off x="9309100" y="2133600"/>
            <a:ext cx="203200" cy="203200"/>
          </a:xfrm>
          <a:prstGeom prst="ellipse">
            <a:avLst/>
          </a:prstGeom>
          <a:solidFill>
            <a:srgbClr val="7C3AED"/>
          </a:solidFill>
          <a:ln/>
        </p:spPr>
        <p:txBody>
          <a:bodyPr/>
          <a:lstStyle/>
          <a:p>
            <a:endParaRPr lang="en-US"/>
          </a:p>
        </p:txBody>
      </p:sp>
      <p:sp>
        <p:nvSpPr>
          <p:cNvPr id="32" name="Text 29"/>
          <p:cNvSpPr/>
          <p:nvPr/>
        </p:nvSpPr>
        <p:spPr>
          <a:xfrm>
            <a:off x="8128000" y="1841500"/>
            <a:ext cx="2540000" cy="254000"/>
          </a:xfrm>
          <a:prstGeom prst="rect">
            <a:avLst/>
          </a:prstGeom>
          <a:noFill/>
          <a:ln/>
        </p:spPr>
        <p:txBody>
          <a:bodyPr wrap="none" lIns="0" tIns="0" rIns="0" bIns="0" rtlCol="0" anchor="ctr"/>
          <a:lstStyle/>
          <a:p>
            <a:pPr algn="ctr">
              <a:lnSpc>
                <a:spcPct val="120000"/>
              </a:lnSpc>
            </a:pPr>
            <a:r>
              <a:rPr lang="en-US" sz="1200" kern="0" spc="100" dirty="0">
                <a:solidFill>
                  <a:srgbClr val="7C3AED"/>
                </a:solidFill>
                <a:latin typeface="Liter" pitchFamily="34" charset="0"/>
                <a:ea typeface="Liter" pitchFamily="34" charset="-122"/>
                <a:cs typeface="Liter" pitchFamily="34" charset="-120"/>
              </a:rPr>
              <a:t>PHASE 3 — ADVANCED</a:t>
            </a:r>
            <a:endParaRPr lang="en-US" sz="1200" dirty="0"/>
          </a:p>
        </p:txBody>
      </p:sp>
      <p:sp>
        <p:nvSpPr>
          <p:cNvPr id="33" name="Text 30"/>
          <p:cNvSpPr/>
          <p:nvPr/>
        </p:nvSpPr>
        <p:spPr>
          <a:xfrm>
            <a:off x="8128000" y="2438400"/>
            <a:ext cx="2540000" cy="2286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12-18 months</a:t>
            </a:r>
            <a:endParaRPr lang="en-US" sz="1200" dirty="0"/>
          </a:p>
        </p:txBody>
      </p:sp>
      <p:sp>
        <p:nvSpPr>
          <p:cNvPr id="34" name="Shape 31"/>
          <p:cNvSpPr/>
          <p:nvPr/>
        </p:nvSpPr>
        <p:spPr>
          <a:xfrm>
            <a:off x="8128000" y="28575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35" name="Shape 32"/>
          <p:cNvSpPr/>
          <p:nvPr/>
        </p:nvSpPr>
        <p:spPr>
          <a:xfrm>
            <a:off x="8318500" y="3009900"/>
            <a:ext cx="279400" cy="279400"/>
          </a:xfrm>
          <a:custGeom>
            <a:avLst/>
            <a:gdLst/>
            <a:ahLst/>
            <a:cxnLst/>
            <a:rect l="l" t="t" r="r" b="b"/>
            <a:pathLst>
              <a:path w="279400" h="279400">
                <a:moveTo>
                  <a:pt x="139700" y="0"/>
                </a:moveTo>
                <a:cubicBezTo>
                  <a:pt x="101137" y="0"/>
                  <a:pt x="69850" y="23465"/>
                  <a:pt x="69850" y="52388"/>
                </a:cubicBezTo>
                <a:lnTo>
                  <a:pt x="69850" y="122238"/>
                </a:lnTo>
                <a:cubicBezTo>
                  <a:pt x="69850" y="151160"/>
                  <a:pt x="101137" y="174625"/>
                  <a:pt x="139700" y="174625"/>
                </a:cubicBezTo>
                <a:cubicBezTo>
                  <a:pt x="178263" y="174625"/>
                  <a:pt x="209550" y="151160"/>
                  <a:pt x="209550" y="122238"/>
                </a:cubicBezTo>
                <a:lnTo>
                  <a:pt x="209550" y="52388"/>
                </a:lnTo>
                <a:cubicBezTo>
                  <a:pt x="209550" y="23465"/>
                  <a:pt x="178263" y="0"/>
                  <a:pt x="139700" y="0"/>
                </a:cubicBezTo>
                <a:close/>
                <a:moveTo>
                  <a:pt x="34925" y="100409"/>
                </a:moveTo>
                <a:cubicBezTo>
                  <a:pt x="34925" y="93152"/>
                  <a:pt x="27140" y="87313"/>
                  <a:pt x="17463" y="87313"/>
                </a:cubicBezTo>
                <a:cubicBezTo>
                  <a:pt x="7785" y="87313"/>
                  <a:pt x="0" y="93152"/>
                  <a:pt x="0" y="100409"/>
                </a:cubicBezTo>
                <a:lnTo>
                  <a:pt x="0" y="122238"/>
                </a:lnTo>
                <a:cubicBezTo>
                  <a:pt x="0" y="175662"/>
                  <a:pt x="53333" y="219755"/>
                  <a:pt x="122238" y="226194"/>
                </a:cubicBezTo>
                <a:lnTo>
                  <a:pt x="122238" y="253206"/>
                </a:lnTo>
                <a:lnTo>
                  <a:pt x="87313" y="253206"/>
                </a:lnTo>
                <a:cubicBezTo>
                  <a:pt x="77635" y="253206"/>
                  <a:pt x="69850" y="259045"/>
                  <a:pt x="69850" y="266303"/>
                </a:cubicBezTo>
                <a:cubicBezTo>
                  <a:pt x="69850" y="273561"/>
                  <a:pt x="77635" y="279400"/>
                  <a:pt x="87313" y="279400"/>
                </a:cubicBezTo>
                <a:lnTo>
                  <a:pt x="192087" y="279400"/>
                </a:lnTo>
                <a:cubicBezTo>
                  <a:pt x="201765" y="279400"/>
                  <a:pt x="209550" y="273561"/>
                  <a:pt x="209550" y="266303"/>
                </a:cubicBezTo>
                <a:cubicBezTo>
                  <a:pt x="209550" y="259045"/>
                  <a:pt x="201765" y="253206"/>
                  <a:pt x="192087" y="253206"/>
                </a:cubicBezTo>
                <a:lnTo>
                  <a:pt x="157163" y="253206"/>
                </a:lnTo>
                <a:lnTo>
                  <a:pt x="157163" y="226194"/>
                </a:lnTo>
                <a:cubicBezTo>
                  <a:pt x="226067" y="219755"/>
                  <a:pt x="279400" y="175662"/>
                  <a:pt x="279400" y="122238"/>
                </a:cubicBezTo>
                <a:lnTo>
                  <a:pt x="279400" y="100409"/>
                </a:lnTo>
                <a:cubicBezTo>
                  <a:pt x="279400" y="93152"/>
                  <a:pt x="271615" y="87313"/>
                  <a:pt x="261937" y="87313"/>
                </a:cubicBezTo>
                <a:cubicBezTo>
                  <a:pt x="252260" y="87313"/>
                  <a:pt x="244475" y="93152"/>
                  <a:pt x="244475" y="100409"/>
                </a:cubicBezTo>
                <a:lnTo>
                  <a:pt x="244475" y="122238"/>
                </a:lnTo>
                <a:cubicBezTo>
                  <a:pt x="244475" y="165621"/>
                  <a:pt x="197545" y="200819"/>
                  <a:pt x="139700" y="200819"/>
                </a:cubicBezTo>
                <a:cubicBezTo>
                  <a:pt x="81855" y="200819"/>
                  <a:pt x="34925" y="165621"/>
                  <a:pt x="34925" y="122238"/>
                </a:cubicBezTo>
                <a:lnTo>
                  <a:pt x="34925" y="100409"/>
                </a:lnTo>
                <a:close/>
              </a:path>
            </a:pathLst>
          </a:custGeom>
          <a:solidFill>
            <a:srgbClr val="7C3AED"/>
          </a:solidFill>
          <a:ln/>
        </p:spPr>
        <p:txBody>
          <a:bodyPr/>
          <a:lstStyle/>
          <a:p>
            <a:endParaRPr lang="en-US"/>
          </a:p>
        </p:txBody>
      </p:sp>
      <p:sp>
        <p:nvSpPr>
          <p:cNvPr id="36" name="Text 33"/>
          <p:cNvSpPr/>
          <p:nvPr/>
        </p:nvSpPr>
        <p:spPr>
          <a:xfrm>
            <a:off x="8128000" y="33655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Voice Commands</a:t>
            </a:r>
            <a:endParaRPr lang="en-US" sz="1300" dirty="0"/>
          </a:p>
        </p:txBody>
      </p:sp>
      <p:sp>
        <p:nvSpPr>
          <p:cNvPr id="37" name="Shape 34"/>
          <p:cNvSpPr/>
          <p:nvPr/>
        </p:nvSpPr>
        <p:spPr>
          <a:xfrm>
            <a:off x="8128000" y="40386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38" name="Shape 35"/>
          <p:cNvSpPr/>
          <p:nvPr/>
        </p:nvSpPr>
        <p:spPr>
          <a:xfrm>
            <a:off x="8318500" y="4191000"/>
            <a:ext cx="279400" cy="279400"/>
          </a:xfrm>
          <a:custGeom>
            <a:avLst/>
            <a:gdLst/>
            <a:ahLst/>
            <a:cxnLst/>
            <a:rect l="l" t="t" r="r" b="b"/>
            <a:pathLst>
              <a:path w="279400" h="279400">
                <a:moveTo>
                  <a:pt x="17463" y="34925"/>
                </a:moveTo>
                <a:cubicBezTo>
                  <a:pt x="7804" y="34925"/>
                  <a:pt x="0" y="42729"/>
                  <a:pt x="0" y="52388"/>
                </a:cubicBezTo>
                <a:cubicBezTo>
                  <a:pt x="0" y="62046"/>
                  <a:pt x="7804" y="69850"/>
                  <a:pt x="17463" y="69850"/>
                </a:cubicBezTo>
                <a:lnTo>
                  <a:pt x="64775" y="69850"/>
                </a:lnTo>
                <a:cubicBezTo>
                  <a:pt x="71487" y="85293"/>
                  <a:pt x="86876" y="96044"/>
                  <a:pt x="104775" y="96044"/>
                </a:cubicBezTo>
                <a:cubicBezTo>
                  <a:pt x="122674" y="96044"/>
                  <a:pt x="138063" y="85293"/>
                  <a:pt x="144775" y="69850"/>
                </a:cubicBezTo>
                <a:lnTo>
                  <a:pt x="261938" y="69850"/>
                </a:lnTo>
                <a:cubicBezTo>
                  <a:pt x="271596" y="69850"/>
                  <a:pt x="279400" y="62046"/>
                  <a:pt x="279400" y="52388"/>
                </a:cubicBezTo>
                <a:cubicBezTo>
                  <a:pt x="279400" y="42729"/>
                  <a:pt x="271596" y="34925"/>
                  <a:pt x="261938" y="34925"/>
                </a:cubicBezTo>
                <a:lnTo>
                  <a:pt x="144775" y="34925"/>
                </a:lnTo>
                <a:cubicBezTo>
                  <a:pt x="138063" y="19482"/>
                  <a:pt x="122674" y="8731"/>
                  <a:pt x="104775" y="8731"/>
                </a:cubicBezTo>
                <a:cubicBezTo>
                  <a:pt x="86876" y="8731"/>
                  <a:pt x="71487" y="19482"/>
                  <a:pt x="64775" y="34925"/>
                </a:cubicBezTo>
                <a:lnTo>
                  <a:pt x="17463" y="34925"/>
                </a:lnTo>
                <a:close/>
                <a:moveTo>
                  <a:pt x="17463" y="122238"/>
                </a:moveTo>
                <a:cubicBezTo>
                  <a:pt x="7804" y="122238"/>
                  <a:pt x="0" y="130041"/>
                  <a:pt x="0" y="139700"/>
                </a:cubicBezTo>
                <a:cubicBezTo>
                  <a:pt x="0" y="149359"/>
                  <a:pt x="7804" y="157163"/>
                  <a:pt x="17463" y="157163"/>
                </a:cubicBezTo>
                <a:lnTo>
                  <a:pt x="152087" y="157163"/>
                </a:lnTo>
                <a:cubicBezTo>
                  <a:pt x="158800" y="172606"/>
                  <a:pt x="174188" y="183356"/>
                  <a:pt x="192088" y="183356"/>
                </a:cubicBezTo>
                <a:cubicBezTo>
                  <a:pt x="209987" y="183356"/>
                  <a:pt x="225375" y="172606"/>
                  <a:pt x="232088" y="157163"/>
                </a:cubicBezTo>
                <a:lnTo>
                  <a:pt x="261938" y="157163"/>
                </a:lnTo>
                <a:cubicBezTo>
                  <a:pt x="271596" y="157163"/>
                  <a:pt x="279400" y="149359"/>
                  <a:pt x="279400" y="139700"/>
                </a:cubicBezTo>
                <a:cubicBezTo>
                  <a:pt x="279400" y="130041"/>
                  <a:pt x="271596" y="122238"/>
                  <a:pt x="261938" y="122238"/>
                </a:cubicBezTo>
                <a:lnTo>
                  <a:pt x="232088" y="122238"/>
                </a:lnTo>
                <a:cubicBezTo>
                  <a:pt x="225375" y="106794"/>
                  <a:pt x="209987" y="96044"/>
                  <a:pt x="192088" y="96044"/>
                </a:cubicBezTo>
                <a:cubicBezTo>
                  <a:pt x="174188" y="96044"/>
                  <a:pt x="158800" y="106794"/>
                  <a:pt x="152087" y="122238"/>
                </a:cubicBezTo>
                <a:lnTo>
                  <a:pt x="17463" y="122238"/>
                </a:lnTo>
                <a:close/>
                <a:moveTo>
                  <a:pt x="17463" y="209550"/>
                </a:moveTo>
                <a:cubicBezTo>
                  <a:pt x="7804" y="209550"/>
                  <a:pt x="0" y="217354"/>
                  <a:pt x="0" y="227013"/>
                </a:cubicBezTo>
                <a:cubicBezTo>
                  <a:pt x="0" y="236671"/>
                  <a:pt x="7804" y="244475"/>
                  <a:pt x="17463" y="244475"/>
                </a:cubicBezTo>
                <a:lnTo>
                  <a:pt x="47312" y="244475"/>
                </a:lnTo>
                <a:cubicBezTo>
                  <a:pt x="54025" y="259918"/>
                  <a:pt x="69413" y="270669"/>
                  <a:pt x="87313" y="270669"/>
                </a:cubicBezTo>
                <a:cubicBezTo>
                  <a:pt x="105212" y="270669"/>
                  <a:pt x="120600" y="259918"/>
                  <a:pt x="127313" y="244475"/>
                </a:cubicBezTo>
                <a:lnTo>
                  <a:pt x="261938" y="244475"/>
                </a:lnTo>
                <a:cubicBezTo>
                  <a:pt x="271596" y="244475"/>
                  <a:pt x="279400" y="236671"/>
                  <a:pt x="279400" y="227013"/>
                </a:cubicBezTo>
                <a:cubicBezTo>
                  <a:pt x="279400" y="217354"/>
                  <a:pt x="271596" y="209550"/>
                  <a:pt x="261938" y="209550"/>
                </a:cubicBezTo>
                <a:lnTo>
                  <a:pt x="127313" y="209550"/>
                </a:lnTo>
                <a:cubicBezTo>
                  <a:pt x="120600" y="194107"/>
                  <a:pt x="105212" y="183356"/>
                  <a:pt x="87313" y="183356"/>
                </a:cubicBezTo>
                <a:cubicBezTo>
                  <a:pt x="69413" y="183356"/>
                  <a:pt x="54025" y="194107"/>
                  <a:pt x="47312" y="209550"/>
                </a:cubicBezTo>
                <a:lnTo>
                  <a:pt x="17463" y="209550"/>
                </a:lnTo>
                <a:close/>
              </a:path>
            </a:pathLst>
          </a:custGeom>
          <a:solidFill>
            <a:srgbClr val="7C3AED"/>
          </a:solidFill>
          <a:ln/>
        </p:spPr>
        <p:txBody>
          <a:bodyPr/>
          <a:lstStyle/>
          <a:p>
            <a:endParaRPr lang="en-US"/>
          </a:p>
        </p:txBody>
      </p:sp>
      <p:sp>
        <p:nvSpPr>
          <p:cNvPr id="39" name="Text 36"/>
          <p:cNvSpPr/>
          <p:nvPr/>
        </p:nvSpPr>
        <p:spPr>
          <a:xfrm>
            <a:off x="8128000" y="45466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Circuit Optimization</a:t>
            </a:r>
            <a:endParaRPr lang="en-US" sz="1300" dirty="0"/>
          </a:p>
        </p:txBody>
      </p:sp>
      <p:sp>
        <p:nvSpPr>
          <p:cNvPr id="40" name="Shape 37"/>
          <p:cNvSpPr/>
          <p:nvPr/>
        </p:nvSpPr>
        <p:spPr>
          <a:xfrm>
            <a:off x="8128000" y="52197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41" name="Shape 38"/>
          <p:cNvSpPr/>
          <p:nvPr/>
        </p:nvSpPr>
        <p:spPr>
          <a:xfrm>
            <a:off x="8318500" y="5372100"/>
            <a:ext cx="279400" cy="279400"/>
          </a:xfrm>
          <a:custGeom>
            <a:avLst/>
            <a:gdLst/>
            <a:ahLst/>
            <a:cxnLst/>
            <a:rect l="l" t="t" r="r" b="b"/>
            <a:pathLst>
              <a:path w="279400" h="279400">
                <a:moveTo>
                  <a:pt x="175013" y="655"/>
                </a:moveTo>
                <a:cubicBezTo>
                  <a:pt x="166767" y="-2019"/>
                  <a:pt x="158181" y="3383"/>
                  <a:pt x="155804" y="12660"/>
                </a:cubicBezTo>
                <a:lnTo>
                  <a:pt x="93715" y="257135"/>
                </a:lnTo>
                <a:cubicBezTo>
                  <a:pt x="91339" y="266412"/>
                  <a:pt x="96141" y="276071"/>
                  <a:pt x="104387" y="278745"/>
                </a:cubicBezTo>
                <a:cubicBezTo>
                  <a:pt x="112633" y="281419"/>
                  <a:pt x="121219" y="276017"/>
                  <a:pt x="123596" y="266740"/>
                </a:cubicBezTo>
                <a:lnTo>
                  <a:pt x="185685" y="22265"/>
                </a:lnTo>
                <a:cubicBezTo>
                  <a:pt x="188061" y="12988"/>
                  <a:pt x="183259" y="3329"/>
                  <a:pt x="175013" y="655"/>
                </a:cubicBezTo>
                <a:close/>
                <a:moveTo>
                  <a:pt x="206349" y="74925"/>
                </a:moveTo>
                <a:cubicBezTo>
                  <a:pt x="200285" y="81746"/>
                  <a:pt x="200285" y="92824"/>
                  <a:pt x="206349" y="99645"/>
                </a:cubicBezTo>
                <a:lnTo>
                  <a:pt x="241953" y="139700"/>
                </a:lnTo>
                <a:lnTo>
                  <a:pt x="206349" y="179755"/>
                </a:lnTo>
                <a:cubicBezTo>
                  <a:pt x="200285" y="186576"/>
                  <a:pt x="200285" y="197654"/>
                  <a:pt x="206349" y="204475"/>
                </a:cubicBezTo>
                <a:cubicBezTo>
                  <a:pt x="212412" y="211296"/>
                  <a:pt x="222259" y="211296"/>
                  <a:pt x="228322" y="204475"/>
                </a:cubicBezTo>
                <a:lnTo>
                  <a:pt x="274889" y="152087"/>
                </a:lnTo>
                <a:cubicBezTo>
                  <a:pt x="280952" y="145266"/>
                  <a:pt x="280952" y="134188"/>
                  <a:pt x="274889" y="127367"/>
                </a:cubicBezTo>
                <a:lnTo>
                  <a:pt x="228322" y="74980"/>
                </a:lnTo>
                <a:cubicBezTo>
                  <a:pt x="222259" y="68158"/>
                  <a:pt x="212412" y="68158"/>
                  <a:pt x="206349" y="74980"/>
                </a:cubicBezTo>
                <a:close/>
                <a:moveTo>
                  <a:pt x="73100" y="74925"/>
                </a:moveTo>
                <a:cubicBezTo>
                  <a:pt x="67037" y="68104"/>
                  <a:pt x="57190" y="68104"/>
                  <a:pt x="51126" y="74925"/>
                </a:cubicBezTo>
                <a:lnTo>
                  <a:pt x="4560" y="127313"/>
                </a:lnTo>
                <a:cubicBezTo>
                  <a:pt x="-1504" y="134134"/>
                  <a:pt x="-1504" y="145212"/>
                  <a:pt x="4560" y="152033"/>
                </a:cubicBezTo>
                <a:lnTo>
                  <a:pt x="51126" y="204420"/>
                </a:lnTo>
                <a:cubicBezTo>
                  <a:pt x="57190" y="211242"/>
                  <a:pt x="67037" y="211242"/>
                  <a:pt x="73100" y="204420"/>
                </a:cubicBezTo>
                <a:cubicBezTo>
                  <a:pt x="79163" y="197599"/>
                  <a:pt x="79163" y="186521"/>
                  <a:pt x="73100" y="179700"/>
                </a:cubicBezTo>
                <a:lnTo>
                  <a:pt x="37496" y="139700"/>
                </a:lnTo>
                <a:lnTo>
                  <a:pt x="73051" y="99645"/>
                </a:lnTo>
                <a:cubicBezTo>
                  <a:pt x="79115" y="92824"/>
                  <a:pt x="79115" y="81746"/>
                  <a:pt x="73051" y="74925"/>
                </a:cubicBezTo>
                <a:close/>
              </a:path>
            </a:pathLst>
          </a:custGeom>
          <a:solidFill>
            <a:srgbClr val="7C3AED"/>
          </a:solidFill>
          <a:ln/>
        </p:spPr>
        <p:txBody>
          <a:bodyPr/>
          <a:lstStyle/>
          <a:p>
            <a:endParaRPr lang="en-US"/>
          </a:p>
        </p:txBody>
      </p:sp>
      <p:sp>
        <p:nvSpPr>
          <p:cNvPr id="42" name="Text 39"/>
          <p:cNvSpPr/>
          <p:nvPr/>
        </p:nvSpPr>
        <p:spPr>
          <a:xfrm>
            <a:off x="8128000" y="57277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Arduino Code Gen</a:t>
            </a:r>
            <a:endParaRPr lang="en-US" sz="1300" dirty="0"/>
          </a:p>
        </p:txBody>
      </p:sp>
      <p:sp>
        <p:nvSpPr>
          <p:cNvPr id="43" name="Shape 40"/>
          <p:cNvSpPr/>
          <p:nvPr/>
        </p:nvSpPr>
        <p:spPr>
          <a:xfrm>
            <a:off x="12992100" y="2133600"/>
            <a:ext cx="203200" cy="203200"/>
          </a:xfrm>
          <a:prstGeom prst="ellipse">
            <a:avLst/>
          </a:prstGeom>
          <a:solidFill>
            <a:srgbClr val="A855F7"/>
          </a:solidFill>
          <a:ln/>
        </p:spPr>
        <p:txBody>
          <a:bodyPr/>
          <a:lstStyle/>
          <a:p>
            <a:endParaRPr lang="en-US"/>
          </a:p>
        </p:txBody>
      </p:sp>
      <p:sp>
        <p:nvSpPr>
          <p:cNvPr id="44" name="Text 41"/>
          <p:cNvSpPr/>
          <p:nvPr/>
        </p:nvSpPr>
        <p:spPr>
          <a:xfrm>
            <a:off x="11811000" y="1841500"/>
            <a:ext cx="2540000" cy="254000"/>
          </a:xfrm>
          <a:prstGeom prst="rect">
            <a:avLst/>
          </a:prstGeom>
          <a:noFill/>
          <a:ln/>
        </p:spPr>
        <p:txBody>
          <a:bodyPr wrap="none" lIns="0" tIns="0" rIns="0" bIns="0" rtlCol="0" anchor="ctr"/>
          <a:lstStyle/>
          <a:p>
            <a:pPr algn="ctr">
              <a:lnSpc>
                <a:spcPct val="120000"/>
              </a:lnSpc>
            </a:pPr>
            <a:r>
              <a:rPr lang="en-US" sz="1200" kern="0" spc="100" dirty="0">
                <a:solidFill>
                  <a:srgbClr val="A855F7"/>
                </a:solidFill>
                <a:latin typeface="Liter" pitchFamily="34" charset="0"/>
                <a:ea typeface="Liter" pitchFamily="34" charset="-122"/>
                <a:cs typeface="Liter" pitchFamily="34" charset="-120"/>
              </a:rPr>
              <a:t>PHASE 4 — VISION</a:t>
            </a:r>
            <a:endParaRPr lang="en-US" sz="1200" dirty="0"/>
          </a:p>
        </p:txBody>
      </p:sp>
      <p:sp>
        <p:nvSpPr>
          <p:cNvPr id="45" name="Text 42"/>
          <p:cNvSpPr/>
          <p:nvPr/>
        </p:nvSpPr>
        <p:spPr>
          <a:xfrm>
            <a:off x="11811000" y="2438400"/>
            <a:ext cx="2540000" cy="228600"/>
          </a:xfrm>
          <a:prstGeom prst="rect">
            <a:avLst/>
          </a:prstGeom>
          <a:noFill/>
          <a:ln/>
        </p:spPr>
        <p:txBody>
          <a:bodyPr wrap="none" lIns="0" tIns="0" rIns="0" bIns="0" rtlCol="0" anchor="ctr"/>
          <a:lstStyle/>
          <a:p>
            <a:pPr algn="ctr">
              <a:lnSpc>
                <a:spcPct val="120000"/>
              </a:lnSpc>
            </a:pPr>
            <a:r>
              <a:rPr lang="en-US" sz="1200" dirty="0">
                <a:solidFill>
                  <a:srgbClr val="94A3B8"/>
                </a:solidFill>
                <a:latin typeface="Quattrocento Sans" pitchFamily="34" charset="0"/>
                <a:ea typeface="Quattrocento Sans" pitchFamily="34" charset="-122"/>
                <a:cs typeface="Quattrocento Sans" pitchFamily="34" charset="-120"/>
              </a:rPr>
              <a:t>18+ months</a:t>
            </a:r>
            <a:endParaRPr lang="en-US" sz="1200" dirty="0"/>
          </a:p>
        </p:txBody>
      </p:sp>
      <p:sp>
        <p:nvSpPr>
          <p:cNvPr id="46" name="Shape 43"/>
          <p:cNvSpPr/>
          <p:nvPr/>
        </p:nvSpPr>
        <p:spPr>
          <a:xfrm>
            <a:off x="11811000" y="28575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47" name="Shape 44"/>
          <p:cNvSpPr/>
          <p:nvPr/>
        </p:nvSpPr>
        <p:spPr>
          <a:xfrm>
            <a:off x="12001500" y="3009900"/>
            <a:ext cx="279400" cy="279400"/>
          </a:xfrm>
          <a:custGeom>
            <a:avLst/>
            <a:gdLst/>
            <a:ahLst/>
            <a:cxnLst/>
            <a:rect l="l" t="t" r="r" b="b"/>
            <a:pathLst>
              <a:path w="279400" h="279400">
                <a:moveTo>
                  <a:pt x="139700" y="52388"/>
                </a:moveTo>
                <a:cubicBezTo>
                  <a:pt x="95607" y="52388"/>
                  <a:pt x="55686" y="72033"/>
                  <a:pt x="26339" y="104011"/>
                </a:cubicBezTo>
                <a:cubicBezTo>
                  <a:pt x="20179" y="110723"/>
                  <a:pt x="10332" y="110559"/>
                  <a:pt x="4414" y="103629"/>
                </a:cubicBezTo>
                <a:cubicBezTo>
                  <a:pt x="-1504" y="96699"/>
                  <a:pt x="-1407" y="85621"/>
                  <a:pt x="4754" y="78963"/>
                </a:cubicBezTo>
                <a:cubicBezTo>
                  <a:pt x="39630" y="40873"/>
                  <a:pt x="87264" y="17463"/>
                  <a:pt x="139700" y="17463"/>
                </a:cubicBezTo>
                <a:cubicBezTo>
                  <a:pt x="192136" y="17463"/>
                  <a:pt x="239770" y="40873"/>
                  <a:pt x="274695" y="78963"/>
                </a:cubicBezTo>
                <a:cubicBezTo>
                  <a:pt x="280855" y="85675"/>
                  <a:pt x="281001" y="96753"/>
                  <a:pt x="275034" y="103629"/>
                </a:cubicBezTo>
                <a:cubicBezTo>
                  <a:pt x="269068" y="110505"/>
                  <a:pt x="259221" y="110723"/>
                  <a:pt x="253109" y="104011"/>
                </a:cubicBezTo>
                <a:cubicBezTo>
                  <a:pt x="223714" y="72033"/>
                  <a:pt x="183793" y="52388"/>
                  <a:pt x="139700" y="52388"/>
                </a:cubicBezTo>
                <a:close/>
                <a:moveTo>
                  <a:pt x="116417" y="235744"/>
                </a:moveTo>
                <a:cubicBezTo>
                  <a:pt x="116417" y="221287"/>
                  <a:pt x="126850" y="209550"/>
                  <a:pt x="139700" y="209550"/>
                </a:cubicBezTo>
                <a:cubicBezTo>
                  <a:pt x="152550" y="209550"/>
                  <a:pt x="162983" y="221287"/>
                  <a:pt x="162983" y="235744"/>
                </a:cubicBezTo>
                <a:cubicBezTo>
                  <a:pt x="162983" y="250200"/>
                  <a:pt x="152550" y="261938"/>
                  <a:pt x="139700" y="261938"/>
                </a:cubicBezTo>
                <a:cubicBezTo>
                  <a:pt x="126850" y="261938"/>
                  <a:pt x="116417" y="250200"/>
                  <a:pt x="116417" y="235744"/>
                </a:cubicBezTo>
                <a:close/>
                <a:moveTo>
                  <a:pt x="81492" y="178008"/>
                </a:moveTo>
                <a:cubicBezTo>
                  <a:pt x="75816" y="185266"/>
                  <a:pt x="66018" y="185921"/>
                  <a:pt x="59567" y="179536"/>
                </a:cubicBezTo>
                <a:cubicBezTo>
                  <a:pt x="53115" y="173152"/>
                  <a:pt x="52533" y="162128"/>
                  <a:pt x="58208" y="154871"/>
                </a:cubicBezTo>
                <a:cubicBezTo>
                  <a:pt x="78096" y="129550"/>
                  <a:pt x="107249" y="113506"/>
                  <a:pt x="139700" y="113506"/>
                </a:cubicBezTo>
                <a:cubicBezTo>
                  <a:pt x="172151" y="113506"/>
                  <a:pt x="201304" y="129550"/>
                  <a:pt x="221192" y="154871"/>
                </a:cubicBezTo>
                <a:cubicBezTo>
                  <a:pt x="226867" y="162128"/>
                  <a:pt x="226236" y="173152"/>
                  <a:pt x="219833" y="179536"/>
                </a:cubicBezTo>
                <a:cubicBezTo>
                  <a:pt x="213431" y="185921"/>
                  <a:pt x="203584" y="185212"/>
                  <a:pt x="197908" y="178008"/>
                </a:cubicBezTo>
                <a:cubicBezTo>
                  <a:pt x="183647" y="159836"/>
                  <a:pt x="162886" y="148431"/>
                  <a:pt x="139700" y="148431"/>
                </a:cubicBezTo>
                <a:cubicBezTo>
                  <a:pt x="116514" y="148431"/>
                  <a:pt x="95753" y="159836"/>
                  <a:pt x="81492" y="178008"/>
                </a:cubicBezTo>
                <a:close/>
              </a:path>
            </a:pathLst>
          </a:custGeom>
          <a:solidFill>
            <a:srgbClr val="A855F7"/>
          </a:solidFill>
          <a:ln/>
        </p:spPr>
        <p:txBody>
          <a:bodyPr/>
          <a:lstStyle/>
          <a:p>
            <a:endParaRPr lang="en-US"/>
          </a:p>
        </p:txBody>
      </p:sp>
      <p:sp>
        <p:nvSpPr>
          <p:cNvPr id="48" name="Text 45"/>
          <p:cNvSpPr/>
          <p:nvPr/>
        </p:nvSpPr>
        <p:spPr>
          <a:xfrm>
            <a:off x="11811000" y="33655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ESP32 &amp; IoT</a:t>
            </a:r>
            <a:endParaRPr lang="en-US" sz="1300" dirty="0"/>
          </a:p>
        </p:txBody>
      </p:sp>
      <p:sp>
        <p:nvSpPr>
          <p:cNvPr id="49" name="Shape 46"/>
          <p:cNvSpPr/>
          <p:nvPr/>
        </p:nvSpPr>
        <p:spPr>
          <a:xfrm>
            <a:off x="11811000" y="40386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50" name="Shape 47"/>
          <p:cNvSpPr/>
          <p:nvPr/>
        </p:nvSpPr>
        <p:spPr>
          <a:xfrm>
            <a:off x="12001500" y="4191000"/>
            <a:ext cx="279400" cy="279400"/>
          </a:xfrm>
          <a:custGeom>
            <a:avLst/>
            <a:gdLst/>
            <a:ahLst/>
            <a:cxnLst/>
            <a:rect l="l" t="t" r="r" b="b"/>
            <a:pathLst>
              <a:path w="279400" h="279400">
                <a:moveTo>
                  <a:pt x="227013" y="113506"/>
                </a:moveTo>
                <a:cubicBezTo>
                  <a:pt x="227013" y="138554"/>
                  <a:pt x="218882" y="161692"/>
                  <a:pt x="205184" y="180464"/>
                </a:cubicBezTo>
                <a:lnTo>
                  <a:pt x="274270" y="249605"/>
                </a:lnTo>
                <a:cubicBezTo>
                  <a:pt x="281092" y="256426"/>
                  <a:pt x="281092" y="267504"/>
                  <a:pt x="274270" y="274325"/>
                </a:cubicBezTo>
                <a:cubicBezTo>
                  <a:pt x="267449" y="281146"/>
                  <a:pt x="256371" y="281146"/>
                  <a:pt x="249550" y="274325"/>
                </a:cubicBezTo>
                <a:lnTo>
                  <a:pt x="180464" y="205184"/>
                </a:lnTo>
                <a:cubicBezTo>
                  <a:pt x="161692" y="218882"/>
                  <a:pt x="138554" y="227013"/>
                  <a:pt x="113506" y="227013"/>
                </a:cubicBezTo>
                <a:cubicBezTo>
                  <a:pt x="50805" y="227013"/>
                  <a:pt x="0" y="176208"/>
                  <a:pt x="0" y="113506"/>
                </a:cubicBezTo>
                <a:cubicBezTo>
                  <a:pt x="0" y="50805"/>
                  <a:pt x="50805" y="0"/>
                  <a:pt x="113506" y="0"/>
                </a:cubicBezTo>
                <a:cubicBezTo>
                  <a:pt x="176208" y="0"/>
                  <a:pt x="227013" y="50805"/>
                  <a:pt x="227013" y="113506"/>
                </a:cubicBezTo>
                <a:close/>
                <a:moveTo>
                  <a:pt x="56753" y="117872"/>
                </a:moveTo>
                <a:lnTo>
                  <a:pt x="56753" y="152797"/>
                </a:lnTo>
                <a:cubicBezTo>
                  <a:pt x="56753" y="160055"/>
                  <a:pt x="62592" y="165894"/>
                  <a:pt x="69850" y="165894"/>
                </a:cubicBezTo>
                <a:cubicBezTo>
                  <a:pt x="77108" y="165894"/>
                  <a:pt x="82947" y="160055"/>
                  <a:pt x="82947" y="152797"/>
                </a:cubicBezTo>
                <a:lnTo>
                  <a:pt x="82947" y="117872"/>
                </a:lnTo>
                <a:cubicBezTo>
                  <a:pt x="82947" y="110614"/>
                  <a:pt x="77108" y="104775"/>
                  <a:pt x="69850" y="104775"/>
                </a:cubicBezTo>
                <a:cubicBezTo>
                  <a:pt x="62592" y="104775"/>
                  <a:pt x="56753" y="110614"/>
                  <a:pt x="56753" y="117872"/>
                </a:cubicBezTo>
                <a:close/>
                <a:moveTo>
                  <a:pt x="100409" y="65484"/>
                </a:moveTo>
                <a:lnTo>
                  <a:pt x="100409" y="152797"/>
                </a:lnTo>
                <a:cubicBezTo>
                  <a:pt x="100409" y="160055"/>
                  <a:pt x="106248" y="165894"/>
                  <a:pt x="113506" y="165894"/>
                </a:cubicBezTo>
                <a:cubicBezTo>
                  <a:pt x="120764" y="165894"/>
                  <a:pt x="126603" y="160055"/>
                  <a:pt x="126603" y="152797"/>
                </a:cubicBezTo>
                <a:lnTo>
                  <a:pt x="126603" y="65484"/>
                </a:lnTo>
                <a:cubicBezTo>
                  <a:pt x="126603" y="58227"/>
                  <a:pt x="120764" y="52388"/>
                  <a:pt x="113506" y="52388"/>
                </a:cubicBezTo>
                <a:cubicBezTo>
                  <a:pt x="106248" y="52388"/>
                  <a:pt x="100409" y="58227"/>
                  <a:pt x="100409" y="65484"/>
                </a:cubicBezTo>
                <a:close/>
                <a:moveTo>
                  <a:pt x="144066" y="100409"/>
                </a:moveTo>
                <a:lnTo>
                  <a:pt x="144066" y="152797"/>
                </a:lnTo>
                <a:cubicBezTo>
                  <a:pt x="144066" y="160055"/>
                  <a:pt x="149905" y="165894"/>
                  <a:pt x="157163" y="165894"/>
                </a:cubicBezTo>
                <a:cubicBezTo>
                  <a:pt x="164420" y="165894"/>
                  <a:pt x="170259" y="160055"/>
                  <a:pt x="170259" y="152797"/>
                </a:cubicBezTo>
                <a:lnTo>
                  <a:pt x="170259" y="100409"/>
                </a:lnTo>
                <a:cubicBezTo>
                  <a:pt x="170259" y="93152"/>
                  <a:pt x="164420" y="87313"/>
                  <a:pt x="157163" y="87313"/>
                </a:cubicBezTo>
                <a:cubicBezTo>
                  <a:pt x="149905" y="87313"/>
                  <a:pt x="144066" y="93152"/>
                  <a:pt x="144066" y="100409"/>
                </a:cubicBezTo>
                <a:close/>
              </a:path>
            </a:pathLst>
          </a:custGeom>
          <a:solidFill>
            <a:srgbClr val="A855F7"/>
          </a:solidFill>
          <a:ln/>
        </p:spPr>
        <p:txBody>
          <a:bodyPr/>
          <a:lstStyle/>
          <a:p>
            <a:endParaRPr lang="en-US"/>
          </a:p>
        </p:txBody>
      </p:sp>
      <p:sp>
        <p:nvSpPr>
          <p:cNvPr id="51" name="Text 48"/>
          <p:cNvSpPr/>
          <p:nvPr/>
        </p:nvSpPr>
        <p:spPr>
          <a:xfrm>
            <a:off x="11811000" y="45466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Fault Detection</a:t>
            </a:r>
            <a:endParaRPr lang="en-US" sz="1300" dirty="0"/>
          </a:p>
        </p:txBody>
      </p:sp>
      <p:sp>
        <p:nvSpPr>
          <p:cNvPr id="52" name="Shape 49"/>
          <p:cNvSpPr/>
          <p:nvPr/>
        </p:nvSpPr>
        <p:spPr>
          <a:xfrm>
            <a:off x="11811000" y="5219700"/>
            <a:ext cx="2540000" cy="1016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53" name="Shape 50"/>
          <p:cNvSpPr/>
          <p:nvPr/>
        </p:nvSpPr>
        <p:spPr>
          <a:xfrm>
            <a:off x="12001500" y="5372100"/>
            <a:ext cx="279400" cy="279400"/>
          </a:xfrm>
          <a:custGeom>
            <a:avLst/>
            <a:gdLst/>
            <a:ahLst/>
            <a:cxnLst/>
            <a:rect l="l" t="t" r="r" b="b"/>
            <a:pathLst>
              <a:path w="279400" h="279400">
                <a:moveTo>
                  <a:pt x="93133" y="52388"/>
                </a:moveTo>
                <a:cubicBezTo>
                  <a:pt x="93133" y="23465"/>
                  <a:pt x="113991" y="0"/>
                  <a:pt x="139700" y="0"/>
                </a:cubicBezTo>
                <a:cubicBezTo>
                  <a:pt x="165409" y="0"/>
                  <a:pt x="186267" y="23465"/>
                  <a:pt x="186267" y="52388"/>
                </a:cubicBezTo>
                <a:lnTo>
                  <a:pt x="186267" y="54352"/>
                </a:lnTo>
                <a:cubicBezTo>
                  <a:pt x="186267" y="62920"/>
                  <a:pt x="180106" y="69850"/>
                  <a:pt x="172491" y="69850"/>
                </a:cubicBezTo>
                <a:lnTo>
                  <a:pt x="106958" y="69850"/>
                </a:lnTo>
                <a:cubicBezTo>
                  <a:pt x="99342" y="69850"/>
                  <a:pt x="93182" y="62920"/>
                  <a:pt x="93182" y="54352"/>
                </a:cubicBezTo>
                <a:lnTo>
                  <a:pt x="93182" y="52388"/>
                </a:lnTo>
                <a:close/>
                <a:moveTo>
                  <a:pt x="260773" y="59372"/>
                </a:moveTo>
                <a:cubicBezTo>
                  <a:pt x="265915" y="67067"/>
                  <a:pt x="264508" y="78036"/>
                  <a:pt x="257669" y="83820"/>
                </a:cubicBezTo>
                <a:lnTo>
                  <a:pt x="210229" y="123820"/>
                </a:lnTo>
                <a:cubicBezTo>
                  <a:pt x="212800" y="128677"/>
                  <a:pt x="214740" y="134025"/>
                  <a:pt x="215953" y="139700"/>
                </a:cubicBezTo>
                <a:lnTo>
                  <a:pt x="263878" y="139700"/>
                </a:lnTo>
                <a:cubicBezTo>
                  <a:pt x="272464" y="139700"/>
                  <a:pt x="279400" y="147504"/>
                  <a:pt x="279400" y="157163"/>
                </a:cubicBezTo>
                <a:cubicBezTo>
                  <a:pt x="279400" y="166821"/>
                  <a:pt x="272464" y="174625"/>
                  <a:pt x="263878" y="174625"/>
                </a:cubicBezTo>
                <a:lnTo>
                  <a:pt x="217311" y="174625"/>
                </a:lnTo>
                <a:lnTo>
                  <a:pt x="217311" y="192088"/>
                </a:lnTo>
                <a:cubicBezTo>
                  <a:pt x="217311" y="193506"/>
                  <a:pt x="217263" y="194980"/>
                  <a:pt x="217214" y="196399"/>
                </a:cubicBezTo>
                <a:lnTo>
                  <a:pt x="257669" y="230505"/>
                </a:lnTo>
                <a:cubicBezTo>
                  <a:pt x="264508" y="236289"/>
                  <a:pt x="265915" y="247258"/>
                  <a:pt x="260773" y="254953"/>
                </a:cubicBezTo>
                <a:cubicBezTo>
                  <a:pt x="255632" y="262647"/>
                  <a:pt x="245882" y="264229"/>
                  <a:pt x="239042" y="258445"/>
                </a:cubicBezTo>
                <a:lnTo>
                  <a:pt x="208434" y="232633"/>
                </a:lnTo>
                <a:cubicBezTo>
                  <a:pt x="197181" y="256753"/>
                  <a:pt x="176177" y="274216"/>
                  <a:pt x="151342" y="278418"/>
                </a:cubicBezTo>
                <a:lnTo>
                  <a:pt x="151342" y="152797"/>
                </a:lnTo>
                <a:cubicBezTo>
                  <a:pt x="151342" y="145539"/>
                  <a:pt x="146151" y="139700"/>
                  <a:pt x="139700" y="139700"/>
                </a:cubicBezTo>
                <a:cubicBezTo>
                  <a:pt x="133249" y="139700"/>
                  <a:pt x="128058" y="145539"/>
                  <a:pt x="128058" y="152797"/>
                </a:cubicBezTo>
                <a:lnTo>
                  <a:pt x="128058" y="278418"/>
                </a:lnTo>
                <a:cubicBezTo>
                  <a:pt x="103223" y="274216"/>
                  <a:pt x="82219" y="256753"/>
                  <a:pt x="70966" y="232633"/>
                </a:cubicBezTo>
                <a:lnTo>
                  <a:pt x="40358" y="258445"/>
                </a:lnTo>
                <a:cubicBezTo>
                  <a:pt x="33518" y="264229"/>
                  <a:pt x="23768" y="262647"/>
                  <a:pt x="18627" y="254953"/>
                </a:cubicBezTo>
                <a:cubicBezTo>
                  <a:pt x="13485" y="247258"/>
                  <a:pt x="14892" y="236289"/>
                  <a:pt x="21731" y="230505"/>
                </a:cubicBezTo>
                <a:lnTo>
                  <a:pt x="62186" y="196399"/>
                </a:lnTo>
                <a:cubicBezTo>
                  <a:pt x="62137" y="194980"/>
                  <a:pt x="62089" y="193561"/>
                  <a:pt x="62089" y="192088"/>
                </a:cubicBezTo>
                <a:lnTo>
                  <a:pt x="62089" y="174625"/>
                </a:lnTo>
                <a:lnTo>
                  <a:pt x="15522" y="174625"/>
                </a:lnTo>
                <a:cubicBezTo>
                  <a:pt x="6936" y="174625"/>
                  <a:pt x="0" y="166821"/>
                  <a:pt x="0" y="157163"/>
                </a:cubicBezTo>
                <a:cubicBezTo>
                  <a:pt x="0" y="147504"/>
                  <a:pt x="6936" y="139700"/>
                  <a:pt x="15522" y="139700"/>
                </a:cubicBezTo>
                <a:lnTo>
                  <a:pt x="63447" y="139700"/>
                </a:lnTo>
                <a:cubicBezTo>
                  <a:pt x="64660" y="134025"/>
                  <a:pt x="66600" y="128677"/>
                  <a:pt x="69171" y="123820"/>
                </a:cubicBezTo>
                <a:lnTo>
                  <a:pt x="21731" y="83820"/>
                </a:lnTo>
                <a:cubicBezTo>
                  <a:pt x="14892" y="78036"/>
                  <a:pt x="13485" y="67067"/>
                  <a:pt x="18627" y="59372"/>
                </a:cubicBezTo>
                <a:cubicBezTo>
                  <a:pt x="23768" y="51678"/>
                  <a:pt x="33518" y="50096"/>
                  <a:pt x="40358" y="55880"/>
                </a:cubicBezTo>
                <a:lnTo>
                  <a:pt x="93133" y="100409"/>
                </a:lnTo>
                <a:cubicBezTo>
                  <a:pt x="99100" y="97626"/>
                  <a:pt x="105648" y="96044"/>
                  <a:pt x="112536" y="96044"/>
                </a:cubicBezTo>
                <a:lnTo>
                  <a:pt x="166864" y="96044"/>
                </a:lnTo>
                <a:cubicBezTo>
                  <a:pt x="173752" y="96044"/>
                  <a:pt x="180300" y="97572"/>
                  <a:pt x="186267" y="100409"/>
                </a:cubicBezTo>
                <a:lnTo>
                  <a:pt x="239042" y="55880"/>
                </a:lnTo>
                <a:cubicBezTo>
                  <a:pt x="245882" y="50096"/>
                  <a:pt x="255632" y="51678"/>
                  <a:pt x="260773" y="59373"/>
                </a:cubicBezTo>
                <a:close/>
              </a:path>
            </a:pathLst>
          </a:custGeom>
          <a:solidFill>
            <a:srgbClr val="A855F7"/>
          </a:solidFill>
          <a:ln/>
        </p:spPr>
        <p:txBody>
          <a:bodyPr/>
          <a:lstStyle/>
          <a:p>
            <a:endParaRPr lang="en-US"/>
          </a:p>
        </p:txBody>
      </p:sp>
      <p:sp>
        <p:nvSpPr>
          <p:cNvPr id="54" name="Text 51"/>
          <p:cNvSpPr/>
          <p:nvPr/>
        </p:nvSpPr>
        <p:spPr>
          <a:xfrm>
            <a:off x="11811000" y="5727700"/>
            <a:ext cx="2540000" cy="381000"/>
          </a:xfrm>
          <a:prstGeom prst="rect">
            <a:avLst/>
          </a:prstGeom>
          <a:noFill/>
          <a:ln/>
        </p:spPr>
        <p:txBody>
          <a:bodyPr wrap="none" lIns="0" tIns="0" rIns="0" bIns="0" rtlCol="0" anchor="ctr"/>
          <a:lstStyle/>
          <a:p>
            <a:pPr algn="ctr">
              <a:lnSpc>
                <a:spcPct val="120000"/>
              </a:lnSpc>
            </a:pPr>
            <a:r>
              <a:rPr lang="en-US" sz="1300" dirty="0">
                <a:solidFill>
                  <a:srgbClr val="1E293B"/>
                </a:solidFill>
                <a:latin typeface="Quattrocento Sans" pitchFamily="34" charset="0"/>
                <a:ea typeface="Quattrocento Sans" pitchFamily="34" charset="-122"/>
                <a:cs typeface="Quattrocento Sans" pitchFamily="34" charset="-120"/>
              </a:rPr>
              <a:t>Auto-Debugging</a:t>
            </a:r>
            <a:endParaRPr lang="en-US" sz="1300" dirty="0"/>
          </a:p>
        </p:txBody>
      </p:sp>
      <p:sp>
        <p:nvSpPr>
          <p:cNvPr id="55" name="Shape 52"/>
          <p:cNvSpPr/>
          <p:nvPr/>
        </p:nvSpPr>
        <p:spPr>
          <a:xfrm>
            <a:off x="762000" y="6667500"/>
            <a:ext cx="14732000" cy="1016000"/>
          </a:xfrm>
          <a:prstGeom prst="roundRect">
            <a:avLst>
              <a:gd name="adj" fmla="val 6000"/>
            </a:avLst>
          </a:prstGeom>
          <a:gradFill flip="none" rotWithShape="1">
            <a:gsLst>
              <a:gs pos="0">
                <a:srgbClr val="2563EB">
                  <a:alpha val="7000"/>
                </a:srgbClr>
              </a:gs>
              <a:gs pos="100000">
                <a:srgbClr val="7C3AED">
                  <a:alpha val="7000"/>
                </a:srgbClr>
              </a:gs>
            </a:gsLst>
            <a:lin ang="0" scaled="1"/>
          </a:gradFill>
          <a:ln w="12700">
            <a:solidFill>
              <a:srgbClr val="E2E8F0"/>
            </a:solidFill>
            <a:prstDash val="solid"/>
          </a:ln>
        </p:spPr>
        <p:txBody>
          <a:bodyPr/>
          <a:lstStyle/>
          <a:p>
            <a:endParaRPr lang="en-US"/>
          </a:p>
        </p:txBody>
      </p:sp>
      <p:sp>
        <p:nvSpPr>
          <p:cNvPr id="56" name="Shape 53"/>
          <p:cNvSpPr/>
          <p:nvPr/>
        </p:nvSpPr>
        <p:spPr>
          <a:xfrm>
            <a:off x="1143000" y="6921500"/>
            <a:ext cx="457200" cy="457200"/>
          </a:xfrm>
          <a:custGeom>
            <a:avLst/>
            <a:gdLst/>
            <a:ahLst/>
            <a:cxnLst/>
            <a:rect l="l" t="t" r="r" b="b"/>
            <a:pathLst>
              <a:path w="457200" h="457200">
                <a:moveTo>
                  <a:pt x="400050" y="228600"/>
                </a:moveTo>
                <a:cubicBezTo>
                  <a:pt x="400050" y="133974"/>
                  <a:pt x="323226" y="57150"/>
                  <a:pt x="228600" y="57150"/>
                </a:cubicBezTo>
                <a:cubicBezTo>
                  <a:pt x="133974" y="57150"/>
                  <a:pt x="57150" y="133974"/>
                  <a:pt x="57150" y="228600"/>
                </a:cubicBezTo>
                <a:cubicBezTo>
                  <a:pt x="57150" y="323226"/>
                  <a:pt x="133974" y="400050"/>
                  <a:pt x="228600" y="400050"/>
                </a:cubicBezTo>
                <a:cubicBezTo>
                  <a:pt x="323226" y="400050"/>
                  <a:pt x="400050" y="323226"/>
                  <a:pt x="400050" y="228600"/>
                </a:cubicBezTo>
                <a:close/>
                <a:moveTo>
                  <a:pt x="0" y="228600"/>
                </a:moveTo>
                <a:cubicBezTo>
                  <a:pt x="0" y="102432"/>
                  <a:pt x="102432" y="0"/>
                  <a:pt x="228600" y="0"/>
                </a:cubicBezTo>
                <a:cubicBezTo>
                  <a:pt x="354768" y="0"/>
                  <a:pt x="457200" y="102432"/>
                  <a:pt x="457200" y="228600"/>
                </a:cubicBezTo>
                <a:cubicBezTo>
                  <a:pt x="457200" y="354768"/>
                  <a:pt x="354768" y="457200"/>
                  <a:pt x="228600" y="457200"/>
                </a:cubicBezTo>
                <a:cubicBezTo>
                  <a:pt x="102432" y="457200"/>
                  <a:pt x="0" y="354768"/>
                  <a:pt x="0" y="228600"/>
                </a:cubicBezTo>
                <a:close/>
                <a:moveTo>
                  <a:pt x="228600" y="300038"/>
                </a:moveTo>
                <a:cubicBezTo>
                  <a:pt x="268027" y="300038"/>
                  <a:pt x="300038" y="268027"/>
                  <a:pt x="300038" y="228600"/>
                </a:cubicBezTo>
                <a:cubicBezTo>
                  <a:pt x="300038" y="189173"/>
                  <a:pt x="268027" y="157163"/>
                  <a:pt x="228600" y="157163"/>
                </a:cubicBezTo>
                <a:cubicBezTo>
                  <a:pt x="189173" y="157163"/>
                  <a:pt x="157163" y="189173"/>
                  <a:pt x="157163" y="228600"/>
                </a:cubicBezTo>
                <a:cubicBezTo>
                  <a:pt x="157163" y="268027"/>
                  <a:pt x="189173" y="300038"/>
                  <a:pt x="228600" y="300038"/>
                </a:cubicBezTo>
                <a:close/>
                <a:moveTo>
                  <a:pt x="228600" y="100013"/>
                </a:moveTo>
                <a:cubicBezTo>
                  <a:pt x="299569" y="100013"/>
                  <a:pt x="357188" y="157631"/>
                  <a:pt x="357188" y="228600"/>
                </a:cubicBezTo>
                <a:cubicBezTo>
                  <a:pt x="357188" y="299569"/>
                  <a:pt x="299569" y="357188"/>
                  <a:pt x="228600" y="357188"/>
                </a:cubicBezTo>
                <a:cubicBezTo>
                  <a:pt x="157631" y="357188"/>
                  <a:pt x="100013" y="299569"/>
                  <a:pt x="100013" y="228600"/>
                </a:cubicBezTo>
                <a:cubicBezTo>
                  <a:pt x="100013" y="157631"/>
                  <a:pt x="157631" y="100013"/>
                  <a:pt x="228600" y="100013"/>
                </a:cubicBezTo>
                <a:close/>
                <a:moveTo>
                  <a:pt x="200025" y="228600"/>
                </a:moveTo>
                <a:cubicBezTo>
                  <a:pt x="200025" y="212829"/>
                  <a:pt x="212829" y="200025"/>
                  <a:pt x="228600" y="200025"/>
                </a:cubicBezTo>
                <a:cubicBezTo>
                  <a:pt x="244371" y="200025"/>
                  <a:pt x="257175" y="212829"/>
                  <a:pt x="257175" y="228600"/>
                </a:cubicBezTo>
                <a:cubicBezTo>
                  <a:pt x="257175" y="244371"/>
                  <a:pt x="244371" y="257175"/>
                  <a:pt x="228600" y="257175"/>
                </a:cubicBezTo>
                <a:cubicBezTo>
                  <a:pt x="212829" y="257175"/>
                  <a:pt x="200025" y="244371"/>
                  <a:pt x="200025" y="228600"/>
                </a:cubicBezTo>
                <a:close/>
              </a:path>
            </a:pathLst>
          </a:custGeom>
          <a:gradFill flip="none" rotWithShape="1">
            <a:gsLst>
              <a:gs pos="0">
                <a:srgbClr val="2563EB"/>
              </a:gs>
              <a:gs pos="100000">
                <a:srgbClr val="7C3AED"/>
              </a:gs>
            </a:gsLst>
            <a:lin ang="0" scaled="1"/>
          </a:gradFill>
          <a:ln/>
        </p:spPr>
        <p:txBody>
          <a:bodyPr/>
          <a:lstStyle/>
          <a:p>
            <a:endParaRPr lang="en-US"/>
          </a:p>
        </p:txBody>
      </p:sp>
      <p:sp>
        <p:nvSpPr>
          <p:cNvPr id="57" name="Text 54"/>
          <p:cNvSpPr/>
          <p:nvPr/>
        </p:nvSpPr>
        <p:spPr>
          <a:xfrm>
            <a:off x="1778000" y="6667500"/>
            <a:ext cx="13335000" cy="1016000"/>
          </a:xfrm>
          <a:prstGeom prst="rect">
            <a:avLst/>
          </a:prstGeom>
          <a:noFill/>
          <a:ln/>
        </p:spPr>
        <p:txBody>
          <a:bodyPr wrap="none" lIns="0" tIns="0" rIns="0" bIns="0" rtlCol="0" anchor="ctr"/>
          <a:lstStyle/>
          <a:p>
            <a:pPr algn="l">
              <a:lnSpc>
                <a:spcPct val="120000"/>
              </a:lnSpc>
            </a:pPr>
            <a:r>
              <a:rPr lang="en-US" sz="2000" i="1" dirty="0">
                <a:solidFill>
                  <a:srgbClr val="1E293B"/>
                </a:solidFill>
                <a:latin typeface="Liter" pitchFamily="34" charset="0"/>
                <a:ea typeface="Liter" pitchFamily="34" charset="-122"/>
                <a:cs typeface="Liter" pitchFamily="34" charset="-120"/>
              </a:rPr>
              <a:t>"From idea to manufactured PCB — fully AI-driven"</a:t>
            </a:r>
            <a:endParaRPr lang="en-US" sz="2000" dirty="0"/>
          </a:p>
        </p:txBody>
      </p:sp>
      <p:sp>
        <p:nvSpPr>
          <p:cNvPr id="58" name="Text 55"/>
          <p:cNvSpPr/>
          <p:nvPr/>
        </p:nvSpPr>
        <p:spPr>
          <a:xfrm>
            <a:off x="14478000" y="8636000"/>
            <a:ext cx="1143000" cy="279400"/>
          </a:xfrm>
          <a:prstGeom prst="rect">
            <a:avLst/>
          </a:prstGeom>
          <a:noFill/>
          <a:ln/>
        </p:spPr>
        <p:txBody>
          <a:bodyPr wrap="none" lIns="0" tIns="0" rIns="0" bIns="0" rtlCol="0" anchor="ctr"/>
          <a:lstStyle/>
          <a:p>
            <a:pPr algn="r">
              <a:lnSpc>
                <a:spcPct val="140000"/>
              </a:lnSpc>
            </a:pPr>
            <a:r>
              <a:rPr lang="en-US" sz="1400" dirty="0">
                <a:solidFill>
                  <a:srgbClr val="94A3B8"/>
                </a:solidFill>
                <a:latin typeface="Quattrocento Sans" pitchFamily="34" charset="0"/>
                <a:ea typeface="Quattrocento Sans" pitchFamily="34" charset="-122"/>
                <a:cs typeface="Quattrocento Sans" pitchFamily="34" charset="-120"/>
              </a:rPr>
              <a:t>08 / 09</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14224000" y="254000"/>
            <a:ext cx="2032000" cy="1270000"/>
          </a:xfrm>
          <a:prstGeom prst="ellipse">
            <a:avLst/>
          </a:prstGeom>
          <a:gradFill flip="none" rotWithShape="1">
            <a:gsLst>
              <a:gs pos="0">
                <a:srgbClr val="2563EB">
                  <a:alpha val="13000"/>
                </a:srgbClr>
              </a:gs>
              <a:gs pos="60000">
                <a:srgbClr val="7C3AED">
                  <a:alpha val="6000"/>
                </a:srgbClr>
              </a:gs>
              <a:gs pos="100000">
                <a:srgbClr val="7C3AED">
                  <a:alpha val="0"/>
                </a:srgbClr>
              </a:gs>
            </a:gsLst>
            <a:path path="circle"/>
          </a:gradFill>
          <a:ln/>
        </p:spPr>
        <p:txBody>
          <a:bodyPr/>
          <a:lstStyle/>
          <a:p>
            <a:endParaRPr lang="en-US"/>
          </a:p>
        </p:txBody>
      </p:sp>
      <p:sp>
        <p:nvSpPr>
          <p:cNvPr id="4" name="Shape 1"/>
          <p:cNvSpPr/>
          <p:nvPr/>
        </p:nvSpPr>
        <p:spPr>
          <a:xfrm>
            <a:off x="254000" y="7874000"/>
            <a:ext cx="2286000" cy="1270000"/>
          </a:xfrm>
          <a:prstGeom prst="ellipse">
            <a:avLst/>
          </a:prstGeom>
          <a:gradFill flip="none" rotWithShape="1">
            <a:gsLst>
              <a:gs pos="0">
                <a:srgbClr val="7C3AED">
                  <a:alpha val="7000"/>
                </a:srgbClr>
              </a:gs>
              <a:gs pos="70000">
                <a:srgbClr val="2563EB">
                  <a:alpha val="2000"/>
                </a:srgbClr>
              </a:gs>
              <a:gs pos="100000">
                <a:srgbClr val="2563EB">
                  <a:alpha val="0"/>
                </a:srgbClr>
              </a:gs>
            </a:gsLst>
            <a:path path="circle"/>
          </a:gradFill>
          <a:ln/>
        </p:spPr>
        <p:txBody>
          <a:bodyPr/>
          <a:lstStyle/>
          <a:p>
            <a:endParaRPr lang="en-US"/>
          </a:p>
        </p:txBody>
      </p:sp>
      <p:sp>
        <p:nvSpPr>
          <p:cNvPr id="5" name="Text 2"/>
          <p:cNvSpPr/>
          <p:nvPr/>
        </p:nvSpPr>
        <p:spPr>
          <a:xfrm>
            <a:off x="762000" y="571500"/>
            <a:ext cx="5080000" cy="571500"/>
          </a:xfrm>
          <a:prstGeom prst="rect">
            <a:avLst/>
          </a:prstGeom>
          <a:noFill/>
          <a:ln/>
        </p:spPr>
        <p:txBody>
          <a:bodyPr wrap="none" lIns="0" tIns="0" rIns="0" bIns="0" rtlCol="0" anchor="ctr"/>
          <a:lstStyle/>
          <a:p>
            <a:pPr algn="l">
              <a:lnSpc>
                <a:spcPct val="120000"/>
              </a:lnSpc>
            </a:pPr>
            <a:r>
              <a:rPr lang="en-US" sz="3200" dirty="0">
                <a:solidFill>
                  <a:srgbClr val="1E293B"/>
                </a:solidFill>
                <a:latin typeface="Liter" pitchFamily="34" charset="0"/>
                <a:ea typeface="Liter" pitchFamily="34" charset="-122"/>
                <a:cs typeface="Liter" pitchFamily="34" charset="-120"/>
              </a:rPr>
              <a:t>Conclusion</a:t>
            </a:r>
            <a:endParaRPr lang="en-US" sz="3200" dirty="0"/>
          </a:p>
        </p:txBody>
      </p:sp>
      <p:sp>
        <p:nvSpPr>
          <p:cNvPr id="6" name="Shape 3"/>
          <p:cNvSpPr/>
          <p:nvPr/>
        </p:nvSpPr>
        <p:spPr>
          <a:xfrm>
            <a:off x="762000" y="1206500"/>
            <a:ext cx="635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7" name="Shape 4"/>
          <p:cNvSpPr/>
          <p:nvPr/>
        </p:nvSpPr>
        <p:spPr>
          <a:xfrm>
            <a:off x="762000" y="1587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8" name="Shape 5"/>
          <p:cNvSpPr/>
          <p:nvPr/>
        </p:nvSpPr>
        <p:spPr>
          <a:xfrm>
            <a:off x="1016000" y="1841500"/>
            <a:ext cx="406400" cy="406400"/>
          </a:xfrm>
          <a:custGeom>
            <a:avLst/>
            <a:gdLst/>
            <a:ahLst/>
            <a:cxnLst/>
            <a:rect l="l" t="t" r="r" b="b"/>
            <a:pathLst>
              <a:path w="406400" h="406400">
                <a:moveTo>
                  <a:pt x="185843" y="-21431"/>
                </a:moveTo>
                <a:lnTo>
                  <a:pt x="196286" y="7779"/>
                </a:lnTo>
                <a:lnTo>
                  <a:pt x="222250" y="19526"/>
                </a:lnTo>
                <a:cubicBezTo>
                  <a:pt x="224367" y="20479"/>
                  <a:pt x="225778" y="22860"/>
                  <a:pt x="225778" y="25400"/>
                </a:cubicBezTo>
                <a:cubicBezTo>
                  <a:pt x="225778" y="27940"/>
                  <a:pt x="224367" y="30321"/>
                  <a:pt x="222250" y="31274"/>
                </a:cubicBezTo>
                <a:lnTo>
                  <a:pt x="196286" y="43021"/>
                </a:lnTo>
                <a:lnTo>
                  <a:pt x="185843" y="72231"/>
                </a:lnTo>
                <a:cubicBezTo>
                  <a:pt x="184997" y="74613"/>
                  <a:pt x="182880" y="76200"/>
                  <a:pt x="180622" y="76200"/>
                </a:cubicBezTo>
                <a:cubicBezTo>
                  <a:pt x="178364" y="76200"/>
                  <a:pt x="176248" y="74613"/>
                  <a:pt x="175401" y="72231"/>
                </a:cubicBezTo>
                <a:lnTo>
                  <a:pt x="164959" y="43021"/>
                </a:lnTo>
                <a:lnTo>
                  <a:pt x="138994" y="31274"/>
                </a:lnTo>
                <a:cubicBezTo>
                  <a:pt x="136878" y="30321"/>
                  <a:pt x="135467" y="27940"/>
                  <a:pt x="135467" y="25400"/>
                </a:cubicBezTo>
                <a:cubicBezTo>
                  <a:pt x="135467" y="22860"/>
                  <a:pt x="136878" y="20479"/>
                  <a:pt x="138994" y="19526"/>
                </a:cubicBezTo>
                <a:lnTo>
                  <a:pt x="164959" y="7779"/>
                </a:lnTo>
                <a:lnTo>
                  <a:pt x="175401" y="-21431"/>
                </a:lnTo>
                <a:cubicBezTo>
                  <a:pt x="176248" y="-23812"/>
                  <a:pt x="178364" y="-25400"/>
                  <a:pt x="180622" y="-25400"/>
                </a:cubicBezTo>
                <a:cubicBezTo>
                  <a:pt x="182880" y="-25400"/>
                  <a:pt x="184997" y="-23812"/>
                  <a:pt x="185843" y="-21431"/>
                </a:cubicBezTo>
                <a:close/>
                <a:moveTo>
                  <a:pt x="78105" y="33099"/>
                </a:moveTo>
                <a:lnTo>
                  <a:pt x="93274" y="72866"/>
                </a:lnTo>
                <a:lnTo>
                  <a:pt x="128623" y="89932"/>
                </a:lnTo>
                <a:cubicBezTo>
                  <a:pt x="132786" y="91916"/>
                  <a:pt x="135467" y="96520"/>
                  <a:pt x="135467" y="101600"/>
                </a:cubicBezTo>
                <a:cubicBezTo>
                  <a:pt x="135467" y="106680"/>
                  <a:pt x="132786" y="111284"/>
                  <a:pt x="128623" y="113268"/>
                </a:cubicBezTo>
                <a:lnTo>
                  <a:pt x="93274" y="130334"/>
                </a:lnTo>
                <a:lnTo>
                  <a:pt x="78105" y="170101"/>
                </a:lnTo>
                <a:cubicBezTo>
                  <a:pt x="76341" y="174784"/>
                  <a:pt x="72249" y="177800"/>
                  <a:pt x="67733" y="177800"/>
                </a:cubicBezTo>
                <a:cubicBezTo>
                  <a:pt x="63218" y="177800"/>
                  <a:pt x="59126" y="174784"/>
                  <a:pt x="57362" y="170101"/>
                </a:cubicBezTo>
                <a:lnTo>
                  <a:pt x="42192" y="130334"/>
                </a:lnTo>
                <a:lnTo>
                  <a:pt x="6844" y="113268"/>
                </a:lnTo>
                <a:cubicBezTo>
                  <a:pt x="2681" y="111284"/>
                  <a:pt x="0" y="106680"/>
                  <a:pt x="0" y="101600"/>
                </a:cubicBezTo>
                <a:cubicBezTo>
                  <a:pt x="0" y="96520"/>
                  <a:pt x="2681" y="91916"/>
                  <a:pt x="6844" y="89932"/>
                </a:cubicBezTo>
                <a:lnTo>
                  <a:pt x="42192" y="72866"/>
                </a:lnTo>
                <a:lnTo>
                  <a:pt x="57362" y="33099"/>
                </a:lnTo>
                <a:cubicBezTo>
                  <a:pt x="59126" y="28416"/>
                  <a:pt x="63218" y="25400"/>
                  <a:pt x="67733" y="25400"/>
                </a:cubicBezTo>
                <a:cubicBezTo>
                  <a:pt x="72249" y="25400"/>
                  <a:pt x="76341" y="28416"/>
                  <a:pt x="78105" y="33099"/>
                </a:cubicBezTo>
                <a:close/>
                <a:moveTo>
                  <a:pt x="327378" y="241300"/>
                </a:moveTo>
                <a:cubicBezTo>
                  <a:pt x="331893" y="241300"/>
                  <a:pt x="335986" y="244316"/>
                  <a:pt x="337749" y="248999"/>
                </a:cubicBezTo>
                <a:lnTo>
                  <a:pt x="352919" y="288766"/>
                </a:lnTo>
                <a:lnTo>
                  <a:pt x="388267" y="305832"/>
                </a:lnTo>
                <a:cubicBezTo>
                  <a:pt x="392430" y="307816"/>
                  <a:pt x="395111" y="312420"/>
                  <a:pt x="395111" y="317500"/>
                </a:cubicBezTo>
                <a:cubicBezTo>
                  <a:pt x="395111" y="322580"/>
                  <a:pt x="392430" y="327184"/>
                  <a:pt x="388267" y="329168"/>
                </a:cubicBezTo>
                <a:lnTo>
                  <a:pt x="352919" y="346234"/>
                </a:lnTo>
                <a:lnTo>
                  <a:pt x="337749" y="386001"/>
                </a:lnTo>
                <a:cubicBezTo>
                  <a:pt x="335986" y="390684"/>
                  <a:pt x="331893" y="393700"/>
                  <a:pt x="327378" y="393700"/>
                </a:cubicBezTo>
                <a:cubicBezTo>
                  <a:pt x="322862" y="393700"/>
                  <a:pt x="318770" y="390684"/>
                  <a:pt x="317006" y="386001"/>
                </a:cubicBezTo>
                <a:lnTo>
                  <a:pt x="301837" y="346234"/>
                </a:lnTo>
                <a:lnTo>
                  <a:pt x="266488" y="329168"/>
                </a:lnTo>
                <a:cubicBezTo>
                  <a:pt x="262326" y="327184"/>
                  <a:pt x="259644" y="322580"/>
                  <a:pt x="259644" y="317500"/>
                </a:cubicBezTo>
                <a:cubicBezTo>
                  <a:pt x="259644" y="312420"/>
                  <a:pt x="262326" y="307816"/>
                  <a:pt x="266488" y="305832"/>
                </a:cubicBezTo>
                <a:lnTo>
                  <a:pt x="301837" y="288766"/>
                </a:lnTo>
                <a:lnTo>
                  <a:pt x="317006" y="248999"/>
                </a:lnTo>
                <a:cubicBezTo>
                  <a:pt x="318770" y="244316"/>
                  <a:pt x="322862" y="241300"/>
                  <a:pt x="327378" y="241300"/>
                </a:cubicBezTo>
                <a:close/>
                <a:moveTo>
                  <a:pt x="324556" y="0"/>
                </a:moveTo>
                <a:cubicBezTo>
                  <a:pt x="332317" y="0"/>
                  <a:pt x="339796" y="3493"/>
                  <a:pt x="345369" y="9684"/>
                </a:cubicBezTo>
                <a:lnTo>
                  <a:pt x="375214" y="43259"/>
                </a:lnTo>
                <a:cubicBezTo>
                  <a:pt x="380718" y="49530"/>
                  <a:pt x="383822" y="57944"/>
                  <a:pt x="383822" y="66675"/>
                </a:cubicBezTo>
                <a:cubicBezTo>
                  <a:pt x="383822" y="75406"/>
                  <a:pt x="380718" y="83820"/>
                  <a:pt x="375214" y="90091"/>
                </a:cubicBezTo>
                <a:lnTo>
                  <a:pt x="312984" y="160099"/>
                </a:lnTo>
                <a:lnTo>
                  <a:pt x="241512" y="79693"/>
                </a:lnTo>
                <a:lnTo>
                  <a:pt x="303742" y="9684"/>
                </a:lnTo>
                <a:cubicBezTo>
                  <a:pt x="309316" y="3493"/>
                  <a:pt x="316794" y="0"/>
                  <a:pt x="324556" y="0"/>
                </a:cubicBezTo>
                <a:close/>
                <a:moveTo>
                  <a:pt x="31186" y="316309"/>
                </a:moveTo>
                <a:lnTo>
                  <a:pt x="217593" y="106601"/>
                </a:lnTo>
                <a:lnTo>
                  <a:pt x="289066" y="187008"/>
                </a:lnTo>
                <a:lnTo>
                  <a:pt x="102658" y="396716"/>
                </a:lnTo>
                <a:cubicBezTo>
                  <a:pt x="97084" y="402908"/>
                  <a:pt x="89606" y="406400"/>
                  <a:pt x="81844" y="406400"/>
                </a:cubicBezTo>
                <a:cubicBezTo>
                  <a:pt x="74083" y="406400"/>
                  <a:pt x="66604" y="402908"/>
                  <a:pt x="61031" y="396716"/>
                </a:cubicBezTo>
                <a:lnTo>
                  <a:pt x="31186" y="363141"/>
                </a:lnTo>
                <a:cubicBezTo>
                  <a:pt x="25682" y="356870"/>
                  <a:pt x="22578" y="348456"/>
                  <a:pt x="22578" y="339725"/>
                </a:cubicBezTo>
                <a:cubicBezTo>
                  <a:pt x="22578" y="330994"/>
                  <a:pt x="25682" y="322580"/>
                  <a:pt x="31186" y="316309"/>
                </a:cubicBezTo>
                <a:close/>
              </a:path>
            </a:pathLst>
          </a:custGeom>
          <a:solidFill>
            <a:srgbClr val="2563EB"/>
          </a:solidFill>
          <a:ln/>
        </p:spPr>
        <p:txBody>
          <a:bodyPr/>
          <a:lstStyle/>
          <a:p>
            <a:endParaRPr lang="en-US"/>
          </a:p>
        </p:txBody>
      </p:sp>
      <p:sp>
        <p:nvSpPr>
          <p:cNvPr id="9" name="Text 6"/>
          <p:cNvSpPr/>
          <p:nvPr/>
        </p:nvSpPr>
        <p:spPr>
          <a:xfrm>
            <a:off x="1549400" y="1816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AI Simplifies Design</a:t>
            </a:r>
            <a:endParaRPr lang="en-US" sz="1600" dirty="0"/>
          </a:p>
        </p:txBody>
      </p:sp>
      <p:sp>
        <p:nvSpPr>
          <p:cNvPr id="10" name="Text 7"/>
          <p:cNvSpPr/>
          <p:nvPr/>
        </p:nvSpPr>
        <p:spPr>
          <a:xfrm>
            <a:off x="1016000" y="2349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Natural language replaces complex CAD tools and manual processes</a:t>
            </a:r>
            <a:endParaRPr lang="en-US" sz="1400" dirty="0"/>
          </a:p>
        </p:txBody>
      </p:sp>
      <p:sp>
        <p:nvSpPr>
          <p:cNvPr id="11" name="Shape 8"/>
          <p:cNvSpPr/>
          <p:nvPr/>
        </p:nvSpPr>
        <p:spPr>
          <a:xfrm>
            <a:off x="5461000" y="1587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12" name="Shape 9"/>
          <p:cNvSpPr/>
          <p:nvPr/>
        </p:nvSpPr>
        <p:spPr>
          <a:xfrm>
            <a:off x="5715000" y="1841500"/>
            <a:ext cx="406400" cy="406400"/>
          </a:xfrm>
          <a:custGeom>
            <a:avLst/>
            <a:gdLst/>
            <a:ahLst/>
            <a:cxnLst/>
            <a:rect l="l" t="t" r="r" b="b"/>
            <a:pathLst>
              <a:path w="406400" h="406400">
                <a:moveTo>
                  <a:pt x="203200" y="0"/>
                </a:moveTo>
                <a:cubicBezTo>
                  <a:pt x="315349" y="0"/>
                  <a:pt x="406400" y="91051"/>
                  <a:pt x="406400" y="203200"/>
                </a:cubicBezTo>
                <a:cubicBezTo>
                  <a:pt x="406400" y="315349"/>
                  <a:pt x="315349" y="406400"/>
                  <a:pt x="203200" y="406400"/>
                </a:cubicBezTo>
                <a:cubicBezTo>
                  <a:pt x="91051" y="406400"/>
                  <a:pt x="0" y="315349"/>
                  <a:pt x="0" y="203200"/>
                </a:cubicBezTo>
                <a:cubicBezTo>
                  <a:pt x="0" y="91051"/>
                  <a:pt x="91051" y="0"/>
                  <a:pt x="203200" y="0"/>
                </a:cubicBezTo>
                <a:close/>
                <a:moveTo>
                  <a:pt x="184150" y="95250"/>
                </a:moveTo>
                <a:lnTo>
                  <a:pt x="184150" y="203200"/>
                </a:lnTo>
                <a:cubicBezTo>
                  <a:pt x="184150" y="209550"/>
                  <a:pt x="187325" y="215503"/>
                  <a:pt x="192643" y="219075"/>
                </a:cubicBezTo>
                <a:lnTo>
                  <a:pt x="268843" y="269875"/>
                </a:lnTo>
                <a:cubicBezTo>
                  <a:pt x="277574" y="275749"/>
                  <a:pt x="289401" y="273368"/>
                  <a:pt x="295275" y="264557"/>
                </a:cubicBezTo>
                <a:cubicBezTo>
                  <a:pt x="301149" y="255746"/>
                  <a:pt x="298768" y="243999"/>
                  <a:pt x="289957" y="238125"/>
                </a:cubicBezTo>
                <a:lnTo>
                  <a:pt x="222250" y="193040"/>
                </a:lnTo>
                <a:lnTo>
                  <a:pt x="222250" y="95250"/>
                </a:lnTo>
                <a:cubicBezTo>
                  <a:pt x="222250" y="84693"/>
                  <a:pt x="213757" y="76200"/>
                  <a:pt x="203200" y="76200"/>
                </a:cubicBezTo>
                <a:cubicBezTo>
                  <a:pt x="192643" y="76200"/>
                  <a:pt x="184150" y="84693"/>
                  <a:pt x="184150" y="95250"/>
                </a:cubicBezTo>
                <a:close/>
              </a:path>
            </a:pathLst>
          </a:custGeom>
          <a:solidFill>
            <a:srgbClr val="7C3AED"/>
          </a:solidFill>
          <a:ln/>
        </p:spPr>
        <p:txBody>
          <a:bodyPr/>
          <a:lstStyle/>
          <a:p>
            <a:endParaRPr lang="en-US"/>
          </a:p>
        </p:txBody>
      </p:sp>
      <p:sp>
        <p:nvSpPr>
          <p:cNvPr id="13" name="Text 10"/>
          <p:cNvSpPr/>
          <p:nvPr/>
        </p:nvSpPr>
        <p:spPr>
          <a:xfrm>
            <a:off x="6248400" y="1816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Reduces Engineering Time</a:t>
            </a:r>
            <a:endParaRPr lang="en-US" sz="1600" dirty="0"/>
          </a:p>
        </p:txBody>
      </p:sp>
      <p:sp>
        <p:nvSpPr>
          <p:cNvPr id="14" name="Text 11"/>
          <p:cNvSpPr/>
          <p:nvPr/>
        </p:nvSpPr>
        <p:spPr>
          <a:xfrm>
            <a:off x="5715000" y="2349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From hours of manual work to seconds of automated generation</a:t>
            </a:r>
            <a:endParaRPr lang="en-US" sz="1400" dirty="0"/>
          </a:p>
        </p:txBody>
      </p:sp>
      <p:sp>
        <p:nvSpPr>
          <p:cNvPr id="15" name="Shape 12"/>
          <p:cNvSpPr/>
          <p:nvPr/>
        </p:nvSpPr>
        <p:spPr>
          <a:xfrm>
            <a:off x="10160000" y="1587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16" name="Shape 13"/>
          <p:cNvSpPr/>
          <p:nvPr/>
        </p:nvSpPr>
        <p:spPr>
          <a:xfrm>
            <a:off x="10414000" y="1841500"/>
            <a:ext cx="406400" cy="406400"/>
          </a:xfrm>
          <a:custGeom>
            <a:avLst/>
            <a:gdLst/>
            <a:ahLst/>
            <a:cxnLst/>
            <a:rect l="l" t="t" r="r" b="b"/>
            <a:pathLst>
              <a:path w="406400" h="406400">
                <a:moveTo>
                  <a:pt x="33867" y="155416"/>
                </a:moveTo>
                <a:lnTo>
                  <a:pt x="181469" y="223758"/>
                </a:lnTo>
                <a:cubicBezTo>
                  <a:pt x="188383" y="226933"/>
                  <a:pt x="195721" y="228600"/>
                  <a:pt x="203200" y="228600"/>
                </a:cubicBezTo>
                <a:cubicBezTo>
                  <a:pt x="210679" y="228600"/>
                  <a:pt x="218017" y="226933"/>
                  <a:pt x="224931" y="223758"/>
                </a:cubicBezTo>
                <a:lnTo>
                  <a:pt x="395958" y="144542"/>
                </a:lnTo>
                <a:cubicBezTo>
                  <a:pt x="402308" y="141605"/>
                  <a:pt x="406400" y="134699"/>
                  <a:pt x="406400" y="127000"/>
                </a:cubicBezTo>
                <a:cubicBezTo>
                  <a:pt x="406400" y="119301"/>
                  <a:pt x="402308" y="112395"/>
                  <a:pt x="395958" y="109458"/>
                </a:cubicBezTo>
                <a:lnTo>
                  <a:pt x="224931" y="30242"/>
                </a:lnTo>
                <a:cubicBezTo>
                  <a:pt x="218017" y="27067"/>
                  <a:pt x="210679" y="25400"/>
                  <a:pt x="203200" y="25400"/>
                </a:cubicBezTo>
                <a:cubicBezTo>
                  <a:pt x="195721" y="25400"/>
                  <a:pt x="188383" y="27067"/>
                  <a:pt x="181469" y="30242"/>
                </a:cubicBezTo>
                <a:lnTo>
                  <a:pt x="10442" y="109458"/>
                </a:lnTo>
                <a:cubicBezTo>
                  <a:pt x="4092" y="112395"/>
                  <a:pt x="0" y="119301"/>
                  <a:pt x="0" y="127000"/>
                </a:cubicBezTo>
                <a:lnTo>
                  <a:pt x="0" y="361950"/>
                </a:lnTo>
                <a:cubicBezTo>
                  <a:pt x="0" y="372507"/>
                  <a:pt x="7549" y="381000"/>
                  <a:pt x="16933" y="381000"/>
                </a:cubicBezTo>
                <a:cubicBezTo>
                  <a:pt x="26317" y="381000"/>
                  <a:pt x="33867" y="372507"/>
                  <a:pt x="33867" y="361950"/>
                </a:cubicBezTo>
                <a:lnTo>
                  <a:pt x="33867" y="155416"/>
                </a:lnTo>
                <a:close/>
                <a:moveTo>
                  <a:pt x="67733" y="212328"/>
                </a:moveTo>
                <a:lnTo>
                  <a:pt x="67733" y="304800"/>
                </a:lnTo>
                <a:cubicBezTo>
                  <a:pt x="67733" y="346869"/>
                  <a:pt x="128411" y="381000"/>
                  <a:pt x="203200" y="381000"/>
                </a:cubicBezTo>
                <a:cubicBezTo>
                  <a:pt x="277989" y="381000"/>
                  <a:pt x="338667" y="346869"/>
                  <a:pt x="338667" y="304800"/>
                </a:cubicBezTo>
                <a:lnTo>
                  <a:pt x="338667" y="212249"/>
                </a:lnTo>
                <a:lnTo>
                  <a:pt x="237843" y="259001"/>
                </a:lnTo>
                <a:cubicBezTo>
                  <a:pt x="226836" y="264081"/>
                  <a:pt x="215124" y="266700"/>
                  <a:pt x="203200" y="266700"/>
                </a:cubicBezTo>
                <a:cubicBezTo>
                  <a:pt x="191276" y="266700"/>
                  <a:pt x="179564" y="264081"/>
                  <a:pt x="168557" y="259001"/>
                </a:cubicBezTo>
                <a:lnTo>
                  <a:pt x="67733" y="212249"/>
                </a:lnTo>
                <a:close/>
              </a:path>
            </a:pathLst>
          </a:custGeom>
          <a:solidFill>
            <a:srgbClr val="2563EB"/>
          </a:solidFill>
          <a:ln/>
        </p:spPr>
        <p:txBody>
          <a:bodyPr/>
          <a:lstStyle/>
          <a:p>
            <a:endParaRPr lang="en-US"/>
          </a:p>
        </p:txBody>
      </p:sp>
      <p:sp>
        <p:nvSpPr>
          <p:cNvPr id="17" name="Text 14"/>
          <p:cNvSpPr/>
          <p:nvPr/>
        </p:nvSpPr>
        <p:spPr>
          <a:xfrm>
            <a:off x="10947400" y="1816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Helps Beginners Learn</a:t>
            </a:r>
            <a:endParaRPr lang="en-US" sz="1600" dirty="0"/>
          </a:p>
        </p:txBody>
      </p:sp>
      <p:sp>
        <p:nvSpPr>
          <p:cNvPr id="18" name="Text 15"/>
          <p:cNvSpPr/>
          <p:nvPr/>
        </p:nvSpPr>
        <p:spPr>
          <a:xfrm>
            <a:off x="10414000" y="2349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Interactive, immediate feedback accelerates the learning curve</a:t>
            </a:r>
            <a:endParaRPr lang="en-US" sz="1400" dirty="0"/>
          </a:p>
        </p:txBody>
      </p:sp>
      <p:sp>
        <p:nvSpPr>
          <p:cNvPr id="19" name="Shape 16"/>
          <p:cNvSpPr/>
          <p:nvPr/>
        </p:nvSpPr>
        <p:spPr>
          <a:xfrm>
            <a:off x="762000" y="3746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20" name="Shape 17"/>
          <p:cNvSpPr/>
          <p:nvPr/>
        </p:nvSpPr>
        <p:spPr>
          <a:xfrm>
            <a:off x="1016000" y="40005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10B981"/>
          </a:solidFill>
          <a:ln/>
        </p:spPr>
        <p:txBody>
          <a:bodyPr/>
          <a:lstStyle/>
          <a:p>
            <a:endParaRPr lang="en-US"/>
          </a:p>
        </p:txBody>
      </p:sp>
      <p:sp>
        <p:nvSpPr>
          <p:cNvPr id="21" name="Text 18"/>
          <p:cNvSpPr/>
          <p:nvPr/>
        </p:nvSpPr>
        <p:spPr>
          <a:xfrm>
            <a:off x="1549400" y="3975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Improves Accuracy</a:t>
            </a:r>
            <a:endParaRPr lang="en-US" sz="1600" dirty="0"/>
          </a:p>
        </p:txBody>
      </p:sp>
      <p:sp>
        <p:nvSpPr>
          <p:cNvPr id="22" name="Text 19"/>
          <p:cNvSpPr/>
          <p:nvPr/>
        </p:nvSpPr>
        <p:spPr>
          <a:xfrm>
            <a:off x="1016000" y="4508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AI-validated component selection eliminates costly mistakes</a:t>
            </a:r>
            <a:endParaRPr lang="en-US" sz="1400" dirty="0"/>
          </a:p>
        </p:txBody>
      </p:sp>
      <p:sp>
        <p:nvSpPr>
          <p:cNvPr id="23" name="Shape 20"/>
          <p:cNvSpPr/>
          <p:nvPr/>
        </p:nvSpPr>
        <p:spPr>
          <a:xfrm>
            <a:off x="5461000" y="3746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24" name="Shape 21"/>
          <p:cNvSpPr/>
          <p:nvPr/>
        </p:nvSpPr>
        <p:spPr>
          <a:xfrm>
            <a:off x="5715000" y="4000500"/>
            <a:ext cx="406400" cy="406400"/>
          </a:xfrm>
          <a:custGeom>
            <a:avLst/>
            <a:gdLst/>
            <a:ahLst/>
            <a:cxnLst/>
            <a:rect l="l" t="t" r="r" b="b"/>
            <a:pathLst>
              <a:path w="406400" h="406400">
                <a:moveTo>
                  <a:pt x="0" y="50800"/>
                </a:moveTo>
                <a:cubicBezTo>
                  <a:pt x="0" y="22781"/>
                  <a:pt x="30374" y="0"/>
                  <a:pt x="67733" y="0"/>
                </a:cubicBezTo>
                <a:lnTo>
                  <a:pt x="225954" y="0"/>
                </a:lnTo>
                <a:cubicBezTo>
                  <a:pt x="243946" y="0"/>
                  <a:pt x="261197" y="5318"/>
                  <a:pt x="273897" y="14843"/>
                </a:cubicBezTo>
                <a:lnTo>
                  <a:pt x="386609" y="99457"/>
                </a:lnTo>
                <a:cubicBezTo>
                  <a:pt x="399309" y="108982"/>
                  <a:pt x="406400" y="121920"/>
                  <a:pt x="406400" y="135414"/>
                </a:cubicBezTo>
                <a:lnTo>
                  <a:pt x="406400" y="355600"/>
                </a:lnTo>
                <a:cubicBezTo>
                  <a:pt x="406400" y="383619"/>
                  <a:pt x="376026" y="406400"/>
                  <a:pt x="338667" y="406400"/>
                </a:cubicBezTo>
                <a:lnTo>
                  <a:pt x="67733" y="406400"/>
                </a:lnTo>
                <a:cubicBezTo>
                  <a:pt x="30374" y="406400"/>
                  <a:pt x="0" y="383619"/>
                  <a:pt x="0" y="355600"/>
                </a:cubicBezTo>
                <a:lnTo>
                  <a:pt x="0" y="50800"/>
                </a:lnTo>
                <a:close/>
                <a:moveTo>
                  <a:pt x="220133" y="46434"/>
                </a:moveTo>
                <a:lnTo>
                  <a:pt x="220133" y="120650"/>
                </a:lnTo>
                <a:cubicBezTo>
                  <a:pt x="220133" y="131207"/>
                  <a:pt x="231457" y="139700"/>
                  <a:pt x="245533" y="139700"/>
                </a:cubicBezTo>
                <a:lnTo>
                  <a:pt x="344487" y="139700"/>
                </a:lnTo>
                <a:lnTo>
                  <a:pt x="220133" y="46434"/>
                </a:lnTo>
                <a:close/>
                <a:moveTo>
                  <a:pt x="127000" y="203200"/>
                </a:moveTo>
                <a:cubicBezTo>
                  <a:pt x="112924" y="203200"/>
                  <a:pt x="101600" y="211693"/>
                  <a:pt x="101600" y="222250"/>
                </a:cubicBezTo>
                <a:cubicBezTo>
                  <a:pt x="101600" y="232807"/>
                  <a:pt x="112924" y="241300"/>
                  <a:pt x="127000" y="241300"/>
                </a:cubicBezTo>
                <a:lnTo>
                  <a:pt x="279400" y="241300"/>
                </a:lnTo>
                <a:cubicBezTo>
                  <a:pt x="293476" y="241300"/>
                  <a:pt x="304800" y="232807"/>
                  <a:pt x="304800" y="222250"/>
                </a:cubicBezTo>
                <a:cubicBezTo>
                  <a:pt x="304800" y="211693"/>
                  <a:pt x="293476" y="203200"/>
                  <a:pt x="279400" y="203200"/>
                </a:cubicBezTo>
                <a:lnTo>
                  <a:pt x="127000" y="203200"/>
                </a:lnTo>
                <a:close/>
                <a:moveTo>
                  <a:pt x="127000" y="279400"/>
                </a:moveTo>
                <a:cubicBezTo>
                  <a:pt x="112924" y="279400"/>
                  <a:pt x="101600" y="287893"/>
                  <a:pt x="101600" y="298450"/>
                </a:cubicBezTo>
                <a:cubicBezTo>
                  <a:pt x="101600" y="309007"/>
                  <a:pt x="112924" y="317500"/>
                  <a:pt x="127000" y="317500"/>
                </a:cubicBezTo>
                <a:lnTo>
                  <a:pt x="279400" y="317500"/>
                </a:lnTo>
                <a:cubicBezTo>
                  <a:pt x="293476" y="317500"/>
                  <a:pt x="304800" y="309007"/>
                  <a:pt x="304800" y="298450"/>
                </a:cubicBezTo>
                <a:cubicBezTo>
                  <a:pt x="304800" y="287893"/>
                  <a:pt x="293476" y="279400"/>
                  <a:pt x="279400" y="279400"/>
                </a:cubicBezTo>
                <a:lnTo>
                  <a:pt x="127000" y="279400"/>
                </a:lnTo>
                <a:close/>
              </a:path>
            </a:pathLst>
          </a:custGeom>
          <a:solidFill>
            <a:srgbClr val="7C3AED"/>
          </a:solidFill>
          <a:ln/>
        </p:spPr>
        <p:txBody>
          <a:bodyPr/>
          <a:lstStyle/>
          <a:p>
            <a:endParaRPr lang="en-US"/>
          </a:p>
        </p:txBody>
      </p:sp>
      <p:sp>
        <p:nvSpPr>
          <p:cNvPr id="25" name="Text 22"/>
          <p:cNvSpPr/>
          <p:nvPr/>
        </p:nvSpPr>
        <p:spPr>
          <a:xfrm>
            <a:off x="6248400" y="3975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Automates Documentation</a:t>
            </a:r>
            <a:endParaRPr lang="en-US" sz="1600" dirty="0"/>
          </a:p>
        </p:txBody>
      </p:sp>
      <p:sp>
        <p:nvSpPr>
          <p:cNvPr id="26" name="Text 23"/>
          <p:cNvSpPr/>
          <p:nvPr/>
        </p:nvSpPr>
        <p:spPr>
          <a:xfrm>
            <a:off x="5715000" y="4508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Auto-generated explanations, component lists, and schematics</a:t>
            </a:r>
            <a:endParaRPr lang="en-US" sz="1400" dirty="0"/>
          </a:p>
        </p:txBody>
      </p:sp>
      <p:sp>
        <p:nvSpPr>
          <p:cNvPr id="27" name="Shape 24"/>
          <p:cNvSpPr/>
          <p:nvPr/>
        </p:nvSpPr>
        <p:spPr>
          <a:xfrm>
            <a:off x="10160000" y="3746500"/>
            <a:ext cx="4445000" cy="1905000"/>
          </a:xfrm>
          <a:prstGeom prst="roundRect">
            <a:avLst>
              <a:gd name="adj" fmla="val 8000"/>
            </a:avLst>
          </a:prstGeom>
          <a:solidFill>
            <a:srgbClr val="F8FAFC"/>
          </a:solidFill>
          <a:ln w="12700">
            <a:solidFill>
              <a:srgbClr val="E2E8F0"/>
            </a:solidFill>
            <a:prstDash val="solid"/>
          </a:ln>
          <a:effectLst>
            <a:outerShdw blurRad="127000" dist="38100" dir="5400000" algn="bl" rotWithShape="0">
              <a:srgbClr val="000000">
                <a:alpha val="3137"/>
              </a:srgbClr>
            </a:outerShdw>
          </a:effectLst>
        </p:spPr>
        <p:txBody>
          <a:bodyPr/>
          <a:lstStyle/>
          <a:p>
            <a:endParaRPr lang="en-US"/>
          </a:p>
        </p:txBody>
      </p:sp>
      <p:sp>
        <p:nvSpPr>
          <p:cNvPr id="28" name="Shape 25"/>
          <p:cNvSpPr/>
          <p:nvPr/>
        </p:nvSpPr>
        <p:spPr>
          <a:xfrm>
            <a:off x="10414000" y="4000500"/>
            <a:ext cx="406400" cy="406400"/>
          </a:xfrm>
          <a:custGeom>
            <a:avLst/>
            <a:gdLst/>
            <a:ahLst/>
            <a:cxnLst/>
            <a:rect l="l" t="t" r="r" b="b"/>
            <a:pathLst>
              <a:path w="406400" h="406400">
                <a:moveTo>
                  <a:pt x="78819" y="203279"/>
                </a:moveTo>
                <a:lnTo>
                  <a:pt x="133906" y="108109"/>
                </a:lnTo>
                <a:cubicBezTo>
                  <a:pt x="129461" y="98425"/>
                  <a:pt x="126921" y="87630"/>
                  <a:pt x="126921" y="76200"/>
                </a:cubicBezTo>
                <a:cubicBezTo>
                  <a:pt x="126921" y="34131"/>
                  <a:pt x="161052" y="0"/>
                  <a:pt x="203121" y="0"/>
                </a:cubicBezTo>
                <a:cubicBezTo>
                  <a:pt x="245189" y="0"/>
                  <a:pt x="279321" y="34131"/>
                  <a:pt x="279321" y="76200"/>
                </a:cubicBezTo>
                <a:cubicBezTo>
                  <a:pt x="279321" y="87551"/>
                  <a:pt x="276860" y="98346"/>
                  <a:pt x="272336" y="108109"/>
                </a:cubicBezTo>
                <a:lnTo>
                  <a:pt x="307578" y="168989"/>
                </a:lnTo>
                <a:cubicBezTo>
                  <a:pt x="289242" y="189627"/>
                  <a:pt x="264954" y="204788"/>
                  <a:pt x="237411" y="211693"/>
                </a:cubicBezTo>
                <a:lnTo>
                  <a:pt x="203200" y="152321"/>
                </a:lnTo>
                <a:lnTo>
                  <a:pt x="149146" y="245666"/>
                </a:lnTo>
                <a:cubicBezTo>
                  <a:pt x="166211" y="251063"/>
                  <a:pt x="184309" y="254000"/>
                  <a:pt x="203200" y="254000"/>
                </a:cubicBezTo>
                <a:cubicBezTo>
                  <a:pt x="259318" y="254000"/>
                  <a:pt x="309404" y="228044"/>
                  <a:pt x="342027" y="187325"/>
                </a:cubicBezTo>
                <a:cubicBezTo>
                  <a:pt x="350838" y="176371"/>
                  <a:pt x="366792" y="174625"/>
                  <a:pt x="377746" y="183356"/>
                </a:cubicBezTo>
                <a:cubicBezTo>
                  <a:pt x="388699" y="192088"/>
                  <a:pt x="390446" y="208121"/>
                  <a:pt x="381714" y="219075"/>
                </a:cubicBezTo>
                <a:cubicBezTo>
                  <a:pt x="339884" y="271304"/>
                  <a:pt x="275431" y="304800"/>
                  <a:pt x="203279" y="304800"/>
                </a:cubicBezTo>
                <a:cubicBezTo>
                  <a:pt x="175181" y="304800"/>
                  <a:pt x="148193" y="299720"/>
                  <a:pt x="123349" y="290433"/>
                </a:cubicBezTo>
                <a:lnTo>
                  <a:pt x="78343" y="368062"/>
                </a:lnTo>
                <a:cubicBezTo>
                  <a:pt x="74613" y="374491"/>
                  <a:pt x="69056" y="379730"/>
                  <a:pt x="62389" y="383064"/>
                </a:cubicBezTo>
                <a:lnTo>
                  <a:pt x="18415" y="405051"/>
                </a:lnTo>
                <a:cubicBezTo>
                  <a:pt x="14446" y="407035"/>
                  <a:pt x="9763" y="406797"/>
                  <a:pt x="6033" y="404495"/>
                </a:cubicBezTo>
                <a:cubicBezTo>
                  <a:pt x="2302" y="402193"/>
                  <a:pt x="0" y="398066"/>
                  <a:pt x="0" y="393700"/>
                </a:cubicBezTo>
                <a:lnTo>
                  <a:pt x="0" y="349726"/>
                </a:lnTo>
                <a:cubicBezTo>
                  <a:pt x="0" y="343059"/>
                  <a:pt x="1746" y="336471"/>
                  <a:pt x="5159" y="330597"/>
                </a:cubicBezTo>
                <a:lnTo>
                  <a:pt x="52784" y="248285"/>
                </a:lnTo>
                <a:cubicBezTo>
                  <a:pt x="42624" y="239395"/>
                  <a:pt x="33258" y="229632"/>
                  <a:pt x="24765" y="219075"/>
                </a:cubicBezTo>
                <a:cubicBezTo>
                  <a:pt x="15954" y="208121"/>
                  <a:pt x="17780" y="192167"/>
                  <a:pt x="28734" y="183356"/>
                </a:cubicBezTo>
                <a:cubicBezTo>
                  <a:pt x="39688" y="174546"/>
                  <a:pt x="55642" y="176371"/>
                  <a:pt x="64453" y="187325"/>
                </a:cubicBezTo>
                <a:cubicBezTo>
                  <a:pt x="68977" y="192961"/>
                  <a:pt x="73819" y="198279"/>
                  <a:pt x="78899" y="203279"/>
                </a:cubicBezTo>
                <a:close/>
                <a:moveTo>
                  <a:pt x="302498" y="323771"/>
                </a:moveTo>
                <a:cubicBezTo>
                  <a:pt x="328295" y="313452"/>
                  <a:pt x="352028" y="299164"/>
                  <a:pt x="373063" y="281781"/>
                </a:cubicBezTo>
                <a:lnTo>
                  <a:pt x="401320" y="330597"/>
                </a:lnTo>
                <a:cubicBezTo>
                  <a:pt x="404654" y="336391"/>
                  <a:pt x="406479" y="342979"/>
                  <a:pt x="406479" y="349726"/>
                </a:cubicBezTo>
                <a:lnTo>
                  <a:pt x="406479" y="393700"/>
                </a:lnTo>
                <a:cubicBezTo>
                  <a:pt x="406479" y="398066"/>
                  <a:pt x="404178" y="402193"/>
                  <a:pt x="400447" y="404495"/>
                </a:cubicBezTo>
                <a:cubicBezTo>
                  <a:pt x="396716" y="406797"/>
                  <a:pt x="392033" y="407035"/>
                  <a:pt x="388064" y="405051"/>
                </a:cubicBezTo>
                <a:lnTo>
                  <a:pt x="344091" y="383064"/>
                </a:lnTo>
                <a:cubicBezTo>
                  <a:pt x="337423" y="379730"/>
                  <a:pt x="331867" y="374491"/>
                  <a:pt x="328136" y="368062"/>
                </a:cubicBezTo>
                <a:lnTo>
                  <a:pt x="302498" y="323771"/>
                </a:lnTo>
                <a:close/>
                <a:moveTo>
                  <a:pt x="203200" y="101600"/>
                </a:moveTo>
                <a:cubicBezTo>
                  <a:pt x="217219" y="101600"/>
                  <a:pt x="228600" y="90219"/>
                  <a:pt x="228600" y="76200"/>
                </a:cubicBezTo>
                <a:cubicBezTo>
                  <a:pt x="228600" y="62181"/>
                  <a:pt x="217219" y="50800"/>
                  <a:pt x="203200" y="50800"/>
                </a:cubicBezTo>
                <a:cubicBezTo>
                  <a:pt x="189181" y="50800"/>
                  <a:pt x="177800" y="62181"/>
                  <a:pt x="177800" y="76200"/>
                </a:cubicBezTo>
                <a:cubicBezTo>
                  <a:pt x="177800" y="90219"/>
                  <a:pt x="189181" y="101600"/>
                  <a:pt x="203200" y="101600"/>
                </a:cubicBezTo>
                <a:close/>
              </a:path>
            </a:pathLst>
          </a:custGeom>
          <a:solidFill>
            <a:srgbClr val="2563EB"/>
          </a:solidFill>
          <a:ln/>
        </p:spPr>
        <p:txBody>
          <a:bodyPr/>
          <a:lstStyle/>
          <a:p>
            <a:endParaRPr lang="en-US"/>
          </a:p>
        </p:txBody>
      </p:sp>
      <p:sp>
        <p:nvSpPr>
          <p:cNvPr id="29" name="Text 26"/>
          <p:cNvSpPr/>
          <p:nvPr/>
        </p:nvSpPr>
        <p:spPr>
          <a:xfrm>
            <a:off x="10947400" y="3975100"/>
            <a:ext cx="3403600" cy="279400"/>
          </a:xfrm>
          <a:prstGeom prst="rect">
            <a:avLst/>
          </a:prstGeom>
          <a:noFill/>
          <a:ln/>
        </p:spPr>
        <p:txBody>
          <a:bodyPr wrap="none" lIns="0" tIns="0" rIns="0" bIns="0" rtlCol="0" anchor="ctr"/>
          <a:lstStyle/>
          <a:p>
            <a:pPr algn="l">
              <a:lnSpc>
                <a:spcPct val="130000"/>
              </a:lnSpc>
            </a:pPr>
            <a:r>
              <a:rPr lang="en-US" sz="1600" dirty="0">
                <a:solidFill>
                  <a:srgbClr val="1E293B"/>
                </a:solidFill>
                <a:latin typeface="Liter" pitchFamily="34" charset="0"/>
                <a:ea typeface="Liter" pitchFamily="34" charset="-122"/>
                <a:cs typeface="Liter" pitchFamily="34" charset="-120"/>
              </a:rPr>
              <a:t>Professional Schematics</a:t>
            </a:r>
            <a:endParaRPr lang="en-US" sz="1600" dirty="0"/>
          </a:p>
        </p:txBody>
      </p:sp>
      <p:sp>
        <p:nvSpPr>
          <p:cNvPr id="30" name="Text 27"/>
          <p:cNvSpPr/>
          <p:nvPr/>
        </p:nvSpPr>
        <p:spPr>
          <a:xfrm>
            <a:off x="10414000" y="4508500"/>
            <a:ext cx="3937000" cy="952500"/>
          </a:xfrm>
          <a:prstGeom prst="rect">
            <a:avLst/>
          </a:prstGeom>
          <a:noFill/>
          <a:ln/>
        </p:spPr>
        <p:txBody>
          <a:bodyPr wrap="square" lIns="0" tIns="0" rIns="0" bIns="0" rtlCol="0" anchor="t"/>
          <a:lstStyle/>
          <a:p>
            <a:pPr algn="l">
              <a:lnSpc>
                <a:spcPct val="150000"/>
              </a:lnSpc>
            </a:pPr>
            <a:r>
              <a:rPr lang="en-US" sz="1400" dirty="0">
                <a:solidFill>
                  <a:srgbClr val="64748B"/>
                </a:solidFill>
                <a:latin typeface="Quattrocento Sans" pitchFamily="34" charset="0"/>
                <a:ea typeface="Quattrocento Sans" pitchFamily="34" charset="-122"/>
                <a:cs typeface="Quattrocento Sans" pitchFamily="34" charset="-120"/>
              </a:rPr>
              <a:t>Publication-ready diagrams generated instantly in multiple formats</a:t>
            </a:r>
            <a:endParaRPr lang="en-US" sz="1400" dirty="0"/>
          </a:p>
        </p:txBody>
      </p:sp>
      <p:sp>
        <p:nvSpPr>
          <p:cNvPr id="31" name="Shape 28"/>
          <p:cNvSpPr/>
          <p:nvPr/>
        </p:nvSpPr>
        <p:spPr>
          <a:xfrm>
            <a:off x="4318000" y="6223000"/>
            <a:ext cx="7620000" cy="38100"/>
          </a:xfrm>
          <a:prstGeom prst="rect">
            <a:avLst/>
          </a:prstGeom>
          <a:gradFill flip="none" rotWithShape="1">
            <a:gsLst>
              <a:gs pos="0">
                <a:srgbClr val="2563EB"/>
              </a:gs>
              <a:gs pos="100000">
                <a:srgbClr val="7C3AED"/>
              </a:gs>
            </a:gsLst>
            <a:lin ang="0" scaled="1"/>
          </a:gradFill>
          <a:ln/>
        </p:spPr>
        <p:txBody>
          <a:bodyPr/>
          <a:lstStyle/>
          <a:p>
            <a:endParaRPr lang="en-US"/>
          </a:p>
        </p:txBody>
      </p:sp>
      <p:sp>
        <p:nvSpPr>
          <p:cNvPr id="35" name="Shape 32"/>
          <p:cNvSpPr/>
          <p:nvPr/>
        </p:nvSpPr>
        <p:spPr>
          <a:xfrm>
            <a:off x="762000" y="6604000"/>
            <a:ext cx="304800" cy="304800"/>
          </a:xfrm>
          <a:custGeom>
            <a:avLst/>
            <a:gdLst/>
            <a:ahLst/>
            <a:cxnLst/>
            <a:rect l="l" t="t" r="r" b="b"/>
            <a:pathLst>
              <a:path w="304800" h="304800">
                <a:moveTo>
                  <a:pt x="104775" y="14288"/>
                </a:moveTo>
                <a:cubicBezTo>
                  <a:pt x="104775" y="6370"/>
                  <a:pt x="98405" y="0"/>
                  <a:pt x="90488" y="0"/>
                </a:cubicBezTo>
                <a:cubicBezTo>
                  <a:pt x="82570" y="0"/>
                  <a:pt x="76200" y="6370"/>
                  <a:pt x="76200" y="14288"/>
                </a:cubicBezTo>
                <a:lnTo>
                  <a:pt x="76200" y="38100"/>
                </a:lnTo>
                <a:cubicBezTo>
                  <a:pt x="55185" y="38100"/>
                  <a:pt x="38100" y="55185"/>
                  <a:pt x="38100" y="76200"/>
                </a:cubicBezTo>
                <a:lnTo>
                  <a:pt x="14288" y="76200"/>
                </a:lnTo>
                <a:cubicBezTo>
                  <a:pt x="6370" y="76200"/>
                  <a:pt x="0" y="82570"/>
                  <a:pt x="0" y="90488"/>
                </a:cubicBezTo>
                <a:cubicBezTo>
                  <a:pt x="0" y="98405"/>
                  <a:pt x="6370" y="104775"/>
                  <a:pt x="14288" y="104775"/>
                </a:cubicBezTo>
                <a:lnTo>
                  <a:pt x="38100" y="104775"/>
                </a:lnTo>
                <a:lnTo>
                  <a:pt x="38100" y="138113"/>
                </a:lnTo>
                <a:lnTo>
                  <a:pt x="14288" y="138113"/>
                </a:lnTo>
                <a:cubicBezTo>
                  <a:pt x="6370" y="138113"/>
                  <a:pt x="0" y="144482"/>
                  <a:pt x="0" y="152400"/>
                </a:cubicBezTo>
                <a:cubicBezTo>
                  <a:pt x="0" y="160318"/>
                  <a:pt x="6370" y="166688"/>
                  <a:pt x="14288" y="166688"/>
                </a:cubicBezTo>
                <a:lnTo>
                  <a:pt x="38100" y="166688"/>
                </a:lnTo>
                <a:lnTo>
                  <a:pt x="38100" y="200025"/>
                </a:lnTo>
                <a:lnTo>
                  <a:pt x="14288" y="200025"/>
                </a:lnTo>
                <a:cubicBezTo>
                  <a:pt x="6370" y="200025"/>
                  <a:pt x="0" y="206395"/>
                  <a:pt x="0" y="214313"/>
                </a:cubicBezTo>
                <a:cubicBezTo>
                  <a:pt x="0" y="222230"/>
                  <a:pt x="6370" y="228600"/>
                  <a:pt x="14288" y="228600"/>
                </a:cubicBezTo>
                <a:lnTo>
                  <a:pt x="38100" y="228600"/>
                </a:lnTo>
                <a:cubicBezTo>
                  <a:pt x="38100" y="249615"/>
                  <a:pt x="55185" y="266700"/>
                  <a:pt x="76200" y="266700"/>
                </a:cubicBezTo>
                <a:lnTo>
                  <a:pt x="76200" y="290513"/>
                </a:lnTo>
                <a:cubicBezTo>
                  <a:pt x="76200" y="298430"/>
                  <a:pt x="82570" y="304800"/>
                  <a:pt x="90488" y="304800"/>
                </a:cubicBezTo>
                <a:cubicBezTo>
                  <a:pt x="98405" y="304800"/>
                  <a:pt x="104775" y="298430"/>
                  <a:pt x="104775" y="290513"/>
                </a:cubicBezTo>
                <a:lnTo>
                  <a:pt x="104775" y="266700"/>
                </a:lnTo>
                <a:lnTo>
                  <a:pt x="138113" y="266700"/>
                </a:lnTo>
                <a:lnTo>
                  <a:pt x="138113" y="290513"/>
                </a:lnTo>
                <a:cubicBezTo>
                  <a:pt x="138113" y="298430"/>
                  <a:pt x="144482" y="304800"/>
                  <a:pt x="152400" y="304800"/>
                </a:cubicBezTo>
                <a:cubicBezTo>
                  <a:pt x="160318" y="304800"/>
                  <a:pt x="166688" y="298430"/>
                  <a:pt x="166688" y="290513"/>
                </a:cubicBezTo>
                <a:lnTo>
                  <a:pt x="166688" y="266700"/>
                </a:lnTo>
                <a:lnTo>
                  <a:pt x="200025" y="266700"/>
                </a:lnTo>
                <a:lnTo>
                  <a:pt x="200025" y="290513"/>
                </a:lnTo>
                <a:cubicBezTo>
                  <a:pt x="200025" y="298430"/>
                  <a:pt x="206395" y="304800"/>
                  <a:pt x="214313" y="304800"/>
                </a:cubicBezTo>
                <a:cubicBezTo>
                  <a:pt x="222230" y="304800"/>
                  <a:pt x="228600" y="298430"/>
                  <a:pt x="228600" y="290513"/>
                </a:cubicBezTo>
                <a:lnTo>
                  <a:pt x="228600" y="266700"/>
                </a:lnTo>
                <a:cubicBezTo>
                  <a:pt x="249615" y="266700"/>
                  <a:pt x="266700" y="249615"/>
                  <a:pt x="266700" y="228600"/>
                </a:cubicBezTo>
                <a:lnTo>
                  <a:pt x="290513" y="228600"/>
                </a:lnTo>
                <a:cubicBezTo>
                  <a:pt x="298430" y="228600"/>
                  <a:pt x="304800" y="222230"/>
                  <a:pt x="304800" y="214313"/>
                </a:cubicBezTo>
                <a:cubicBezTo>
                  <a:pt x="304800" y="206395"/>
                  <a:pt x="298430" y="200025"/>
                  <a:pt x="290513" y="200025"/>
                </a:cubicBezTo>
                <a:lnTo>
                  <a:pt x="266700" y="200025"/>
                </a:lnTo>
                <a:lnTo>
                  <a:pt x="266700" y="166688"/>
                </a:lnTo>
                <a:lnTo>
                  <a:pt x="290513" y="166688"/>
                </a:lnTo>
                <a:cubicBezTo>
                  <a:pt x="298430" y="166688"/>
                  <a:pt x="304800" y="160318"/>
                  <a:pt x="304800" y="152400"/>
                </a:cubicBezTo>
                <a:cubicBezTo>
                  <a:pt x="304800" y="144482"/>
                  <a:pt x="298430" y="138113"/>
                  <a:pt x="290513" y="138113"/>
                </a:cubicBezTo>
                <a:lnTo>
                  <a:pt x="266700" y="138113"/>
                </a:lnTo>
                <a:lnTo>
                  <a:pt x="266700" y="104775"/>
                </a:lnTo>
                <a:lnTo>
                  <a:pt x="290513" y="104775"/>
                </a:lnTo>
                <a:cubicBezTo>
                  <a:pt x="298430" y="104775"/>
                  <a:pt x="304800" y="98405"/>
                  <a:pt x="304800" y="90488"/>
                </a:cubicBezTo>
                <a:cubicBezTo>
                  <a:pt x="304800" y="82570"/>
                  <a:pt x="298430" y="76200"/>
                  <a:pt x="290513" y="76200"/>
                </a:cubicBezTo>
                <a:lnTo>
                  <a:pt x="266700" y="76200"/>
                </a:lnTo>
                <a:cubicBezTo>
                  <a:pt x="266700" y="55185"/>
                  <a:pt x="249615" y="38100"/>
                  <a:pt x="228600" y="38100"/>
                </a:cubicBezTo>
                <a:lnTo>
                  <a:pt x="228600" y="14288"/>
                </a:lnTo>
                <a:cubicBezTo>
                  <a:pt x="228600" y="6370"/>
                  <a:pt x="222230" y="0"/>
                  <a:pt x="214313" y="0"/>
                </a:cubicBezTo>
                <a:cubicBezTo>
                  <a:pt x="206395" y="0"/>
                  <a:pt x="200025" y="6370"/>
                  <a:pt x="200025" y="14288"/>
                </a:cubicBezTo>
                <a:lnTo>
                  <a:pt x="200025" y="38100"/>
                </a:lnTo>
                <a:lnTo>
                  <a:pt x="166688" y="38100"/>
                </a:lnTo>
                <a:lnTo>
                  <a:pt x="166688" y="14288"/>
                </a:lnTo>
                <a:cubicBezTo>
                  <a:pt x="166688" y="6370"/>
                  <a:pt x="160318" y="0"/>
                  <a:pt x="152400" y="0"/>
                </a:cubicBezTo>
                <a:cubicBezTo>
                  <a:pt x="144482" y="0"/>
                  <a:pt x="138113" y="6370"/>
                  <a:pt x="138113" y="14288"/>
                </a:cubicBezTo>
                <a:lnTo>
                  <a:pt x="138113" y="38100"/>
                </a:lnTo>
                <a:lnTo>
                  <a:pt x="104775" y="38100"/>
                </a:lnTo>
                <a:lnTo>
                  <a:pt x="104775" y="14288"/>
                </a:lnTo>
                <a:close/>
                <a:moveTo>
                  <a:pt x="95250" y="76200"/>
                </a:moveTo>
                <a:lnTo>
                  <a:pt x="209550" y="76200"/>
                </a:lnTo>
                <a:cubicBezTo>
                  <a:pt x="220087" y="76200"/>
                  <a:pt x="228600" y="84713"/>
                  <a:pt x="228600" y="95250"/>
                </a:cubicBezTo>
                <a:lnTo>
                  <a:pt x="228600" y="209550"/>
                </a:lnTo>
                <a:cubicBezTo>
                  <a:pt x="228600" y="220087"/>
                  <a:pt x="220087" y="228600"/>
                  <a:pt x="209550" y="228600"/>
                </a:cubicBezTo>
                <a:lnTo>
                  <a:pt x="95250" y="228600"/>
                </a:lnTo>
                <a:cubicBezTo>
                  <a:pt x="84713" y="228600"/>
                  <a:pt x="76200" y="220087"/>
                  <a:pt x="76200" y="209550"/>
                </a:cubicBezTo>
                <a:lnTo>
                  <a:pt x="76200" y="95250"/>
                </a:lnTo>
                <a:cubicBezTo>
                  <a:pt x="76200" y="84713"/>
                  <a:pt x="84713" y="76200"/>
                  <a:pt x="95250" y="76200"/>
                </a:cubicBezTo>
                <a:close/>
                <a:moveTo>
                  <a:pt x="104775" y="104775"/>
                </a:moveTo>
                <a:lnTo>
                  <a:pt x="104775" y="200025"/>
                </a:lnTo>
                <a:lnTo>
                  <a:pt x="200025" y="200025"/>
                </a:lnTo>
                <a:lnTo>
                  <a:pt x="200025" y="104775"/>
                </a:lnTo>
                <a:lnTo>
                  <a:pt x="104775" y="104775"/>
                </a:lnTo>
                <a:close/>
              </a:path>
            </a:pathLst>
          </a:custGeom>
          <a:solidFill>
            <a:srgbClr val="2563EB">
              <a:alpha val="15000"/>
            </a:srgbClr>
          </a:solidFill>
          <a:ln/>
        </p:spPr>
        <p:txBody>
          <a:bodyPr/>
          <a:lstStyle/>
          <a:p>
            <a:endParaRPr lang="en-US"/>
          </a:p>
        </p:txBody>
      </p:sp>
      <p:sp>
        <p:nvSpPr>
          <p:cNvPr id="36" name="Shape 33"/>
          <p:cNvSpPr/>
          <p:nvPr/>
        </p:nvSpPr>
        <p:spPr>
          <a:xfrm>
            <a:off x="15189200" y="6604000"/>
            <a:ext cx="304800" cy="304800"/>
          </a:xfrm>
          <a:custGeom>
            <a:avLst/>
            <a:gdLst/>
            <a:ahLst/>
            <a:cxnLst/>
            <a:rect l="l" t="t" r="r" b="b"/>
            <a:pathLst>
              <a:path w="304800" h="304800">
                <a:moveTo>
                  <a:pt x="71438" y="33338"/>
                </a:moveTo>
                <a:cubicBezTo>
                  <a:pt x="71438" y="14942"/>
                  <a:pt x="86380" y="0"/>
                  <a:pt x="104775" y="0"/>
                </a:cubicBezTo>
                <a:lnTo>
                  <a:pt x="119062" y="0"/>
                </a:lnTo>
                <a:cubicBezTo>
                  <a:pt x="129600" y="0"/>
                  <a:pt x="138113" y="8513"/>
                  <a:pt x="138113" y="19050"/>
                </a:cubicBezTo>
                <a:lnTo>
                  <a:pt x="138113" y="285750"/>
                </a:lnTo>
                <a:cubicBezTo>
                  <a:pt x="138113" y="296287"/>
                  <a:pt x="129600" y="304800"/>
                  <a:pt x="119062" y="304800"/>
                </a:cubicBezTo>
                <a:lnTo>
                  <a:pt x="100013" y="304800"/>
                </a:lnTo>
                <a:cubicBezTo>
                  <a:pt x="82272" y="304800"/>
                  <a:pt x="67330" y="292656"/>
                  <a:pt x="63103" y="276225"/>
                </a:cubicBezTo>
                <a:cubicBezTo>
                  <a:pt x="62686" y="276225"/>
                  <a:pt x="62329" y="276225"/>
                  <a:pt x="61912" y="276225"/>
                </a:cubicBezTo>
                <a:cubicBezTo>
                  <a:pt x="35600" y="276225"/>
                  <a:pt x="14288" y="254913"/>
                  <a:pt x="14288" y="228600"/>
                </a:cubicBezTo>
                <a:cubicBezTo>
                  <a:pt x="14288" y="217884"/>
                  <a:pt x="17859" y="208002"/>
                  <a:pt x="23813" y="200025"/>
                </a:cubicBezTo>
                <a:cubicBezTo>
                  <a:pt x="12263" y="191333"/>
                  <a:pt x="4763" y="177522"/>
                  <a:pt x="4763" y="161925"/>
                </a:cubicBezTo>
                <a:cubicBezTo>
                  <a:pt x="4763" y="143530"/>
                  <a:pt x="15240" y="127516"/>
                  <a:pt x="30480" y="119598"/>
                </a:cubicBezTo>
                <a:cubicBezTo>
                  <a:pt x="26253" y="112455"/>
                  <a:pt x="23813" y="104120"/>
                  <a:pt x="23813" y="95250"/>
                </a:cubicBezTo>
                <a:cubicBezTo>
                  <a:pt x="23813" y="68937"/>
                  <a:pt x="45125" y="47625"/>
                  <a:pt x="71438" y="47625"/>
                </a:cubicBezTo>
                <a:lnTo>
                  <a:pt x="71438" y="33338"/>
                </a:lnTo>
                <a:close/>
                <a:moveTo>
                  <a:pt x="233363" y="33338"/>
                </a:moveTo>
                <a:lnTo>
                  <a:pt x="233363" y="47625"/>
                </a:lnTo>
                <a:cubicBezTo>
                  <a:pt x="259675" y="47625"/>
                  <a:pt x="280987" y="68937"/>
                  <a:pt x="280987" y="95250"/>
                </a:cubicBezTo>
                <a:cubicBezTo>
                  <a:pt x="280987" y="104180"/>
                  <a:pt x="278547" y="112514"/>
                  <a:pt x="274320" y="119598"/>
                </a:cubicBezTo>
                <a:cubicBezTo>
                  <a:pt x="289620" y="127516"/>
                  <a:pt x="300038" y="143470"/>
                  <a:pt x="300038" y="161925"/>
                </a:cubicBezTo>
                <a:cubicBezTo>
                  <a:pt x="300038" y="177522"/>
                  <a:pt x="292537" y="191333"/>
                  <a:pt x="280987" y="200025"/>
                </a:cubicBezTo>
                <a:cubicBezTo>
                  <a:pt x="286941" y="208002"/>
                  <a:pt x="290513" y="217884"/>
                  <a:pt x="290513" y="228600"/>
                </a:cubicBezTo>
                <a:cubicBezTo>
                  <a:pt x="290513" y="254913"/>
                  <a:pt x="269200" y="276225"/>
                  <a:pt x="242888" y="276225"/>
                </a:cubicBezTo>
                <a:cubicBezTo>
                  <a:pt x="242471" y="276225"/>
                  <a:pt x="242114" y="276225"/>
                  <a:pt x="241697" y="276225"/>
                </a:cubicBezTo>
                <a:cubicBezTo>
                  <a:pt x="237470" y="292656"/>
                  <a:pt x="222528" y="304800"/>
                  <a:pt x="204787" y="304800"/>
                </a:cubicBezTo>
                <a:lnTo>
                  <a:pt x="185738" y="304800"/>
                </a:lnTo>
                <a:cubicBezTo>
                  <a:pt x="175200" y="304800"/>
                  <a:pt x="166688" y="296287"/>
                  <a:pt x="166688" y="285750"/>
                </a:cubicBezTo>
                <a:lnTo>
                  <a:pt x="166688" y="19050"/>
                </a:lnTo>
                <a:cubicBezTo>
                  <a:pt x="166688" y="8513"/>
                  <a:pt x="175200" y="0"/>
                  <a:pt x="185738" y="0"/>
                </a:cubicBezTo>
                <a:lnTo>
                  <a:pt x="200025" y="0"/>
                </a:lnTo>
                <a:cubicBezTo>
                  <a:pt x="218420" y="0"/>
                  <a:pt x="233363" y="14942"/>
                  <a:pt x="233363" y="33338"/>
                </a:cubicBezTo>
                <a:close/>
              </a:path>
            </a:pathLst>
          </a:custGeom>
          <a:solidFill>
            <a:srgbClr val="7C3AED">
              <a:alpha val="15000"/>
            </a:srgbClr>
          </a:solidFill>
          <a:ln/>
        </p:spPr>
        <p:txBody>
          <a:bodyPr/>
          <a:lstStyle/>
          <a:p>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1013EF-1E3A-7987-DEB8-9E0264E2C045}"/>
              </a:ext>
            </a:extLst>
          </p:cNvPr>
          <p:cNvPicPr>
            <a:picLocks noChangeAspect="1"/>
          </p:cNvPicPr>
          <p:nvPr/>
        </p:nvPicPr>
        <p:blipFill>
          <a:blip r:embed="rId3"/>
          <a:stretch>
            <a:fillRect/>
          </a:stretch>
        </p:blipFill>
        <p:spPr>
          <a:xfrm>
            <a:off x="1778465" y="508283"/>
            <a:ext cx="12699069" cy="695004"/>
          </a:xfrm>
          <a:prstGeom prst="rect">
            <a:avLst/>
          </a:prstGeom>
        </p:spPr>
      </p:pic>
      <p:pic>
        <p:nvPicPr>
          <p:cNvPr id="5" name="Picture 4">
            <a:extLst>
              <a:ext uri="{FF2B5EF4-FFF2-40B4-BE49-F238E27FC236}">
                <a16:creationId xmlns:a16="http://schemas.microsoft.com/office/drawing/2014/main" id="{30BCD31B-41FF-F7EA-DCB4-41D6D7E37C48}"/>
              </a:ext>
            </a:extLst>
          </p:cNvPr>
          <p:cNvPicPr>
            <a:picLocks noChangeAspect="1"/>
          </p:cNvPicPr>
          <p:nvPr/>
        </p:nvPicPr>
        <p:blipFill>
          <a:blip r:embed="rId4"/>
          <a:stretch>
            <a:fillRect/>
          </a:stretch>
        </p:blipFill>
        <p:spPr>
          <a:xfrm>
            <a:off x="3046543" y="1203287"/>
            <a:ext cx="10162913" cy="634039"/>
          </a:xfrm>
          <a:prstGeom prst="rect">
            <a:avLst/>
          </a:prstGeom>
        </p:spPr>
      </p:pic>
      <p:pic>
        <p:nvPicPr>
          <p:cNvPr id="7" name="Picture 6">
            <a:extLst>
              <a:ext uri="{FF2B5EF4-FFF2-40B4-BE49-F238E27FC236}">
                <a16:creationId xmlns:a16="http://schemas.microsoft.com/office/drawing/2014/main" id="{AB29923A-0EED-EB04-ADDA-30BD1B040E02}"/>
              </a:ext>
            </a:extLst>
          </p:cNvPr>
          <p:cNvPicPr>
            <a:picLocks noChangeAspect="1"/>
          </p:cNvPicPr>
          <p:nvPr/>
        </p:nvPicPr>
        <p:blipFill>
          <a:blip r:embed="rId5"/>
          <a:stretch>
            <a:fillRect/>
          </a:stretch>
        </p:blipFill>
        <p:spPr>
          <a:xfrm>
            <a:off x="-1104094" y="2532330"/>
            <a:ext cx="18464188" cy="960137"/>
          </a:xfrm>
          <a:prstGeom prst="rect">
            <a:avLst/>
          </a:prstGeom>
        </p:spPr>
      </p:pic>
      <p:pic>
        <p:nvPicPr>
          <p:cNvPr id="9" name="Picture 8">
            <a:extLst>
              <a:ext uri="{FF2B5EF4-FFF2-40B4-BE49-F238E27FC236}">
                <a16:creationId xmlns:a16="http://schemas.microsoft.com/office/drawing/2014/main" id="{3BA1FCE0-0190-3244-3DBA-FD22968F8514}"/>
              </a:ext>
            </a:extLst>
          </p:cNvPr>
          <p:cNvPicPr>
            <a:picLocks noChangeAspect="1"/>
          </p:cNvPicPr>
          <p:nvPr/>
        </p:nvPicPr>
        <p:blipFill>
          <a:blip r:embed="rId6"/>
          <a:stretch>
            <a:fillRect/>
          </a:stretch>
        </p:blipFill>
        <p:spPr>
          <a:xfrm>
            <a:off x="348829" y="124202"/>
            <a:ext cx="4127350" cy="1463167"/>
          </a:xfrm>
          <a:prstGeom prst="rect">
            <a:avLst/>
          </a:prstGeom>
        </p:spPr>
      </p:pic>
      <p:pic>
        <p:nvPicPr>
          <p:cNvPr id="8" name="Picture 7">
            <a:extLst>
              <a:ext uri="{FF2B5EF4-FFF2-40B4-BE49-F238E27FC236}">
                <a16:creationId xmlns:a16="http://schemas.microsoft.com/office/drawing/2014/main" id="{F708E7CB-F54A-1BDC-6692-B4B5150FA5CB}"/>
              </a:ext>
            </a:extLst>
          </p:cNvPr>
          <p:cNvPicPr>
            <a:picLocks noChangeAspect="1"/>
          </p:cNvPicPr>
          <p:nvPr/>
        </p:nvPicPr>
        <p:blipFill>
          <a:blip r:embed="rId7"/>
          <a:stretch>
            <a:fillRect/>
          </a:stretch>
        </p:blipFill>
        <p:spPr>
          <a:xfrm>
            <a:off x="10391140" y="7156531"/>
            <a:ext cx="5864860" cy="2292295"/>
          </a:xfrm>
          <a:prstGeom prst="rect">
            <a:avLst/>
          </a:prstGeom>
        </p:spPr>
      </p:pic>
      <p:sp>
        <p:nvSpPr>
          <p:cNvPr id="10" name="TextBox 9">
            <a:extLst>
              <a:ext uri="{FF2B5EF4-FFF2-40B4-BE49-F238E27FC236}">
                <a16:creationId xmlns:a16="http://schemas.microsoft.com/office/drawing/2014/main" id="{A346D1E2-3A88-9CC1-1625-82669D62DED3}"/>
              </a:ext>
            </a:extLst>
          </p:cNvPr>
          <p:cNvSpPr txBox="1"/>
          <p:nvPr/>
        </p:nvSpPr>
        <p:spPr>
          <a:xfrm>
            <a:off x="245084" y="6820780"/>
            <a:ext cx="4334840" cy="1938992"/>
          </a:xfrm>
          <a:prstGeom prst="rect">
            <a:avLst/>
          </a:prstGeom>
          <a:noFill/>
        </p:spPr>
        <p:txBody>
          <a:bodyPr wrap="none" rtlCol="0">
            <a:spAutoFit/>
          </a:bodyPr>
          <a:lstStyle/>
          <a:p>
            <a:pPr algn="ctr"/>
            <a:r>
              <a:rPr lang="en-US" sz="4000" dirty="0"/>
              <a:t>Instructor By</a:t>
            </a:r>
            <a:br>
              <a:rPr lang="ar-EG" sz="4000" dirty="0"/>
            </a:br>
            <a:r>
              <a:rPr lang="en-US" sz="4000" dirty="0"/>
              <a:t>Eng</a:t>
            </a:r>
            <a:br>
              <a:rPr lang="en-US" sz="4000" dirty="0"/>
            </a:br>
            <a:r>
              <a:rPr lang="en-US" sz="4000" dirty="0"/>
              <a:t>Nourhan </a:t>
            </a:r>
            <a:r>
              <a:rPr lang="en-US" sz="4000" dirty="0" err="1"/>
              <a:t>Moumoud</a:t>
            </a:r>
            <a:endParaRPr lang="en-US" sz="400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1334</Words>
  <Application>Microsoft Office PowerPoint</Application>
  <PresentationFormat>Custom</PresentationFormat>
  <Paragraphs>201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Liter</vt:lpstr>
      <vt:lpstr>Arial</vt:lpstr>
      <vt:lpstr>Quattrocento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Electronics Blueprint Generator</dc:title>
  <dc:subject>AI Electronics Blueprint Generator</dc:subject>
  <dc:creator>Kimi</dc:creator>
  <cp:lastModifiedBy>Mark Medhat</cp:lastModifiedBy>
  <cp:revision>4</cp:revision>
  <dcterms:created xsi:type="dcterms:W3CDTF">2026-07-01T22:48:03Z</dcterms:created>
  <dcterms:modified xsi:type="dcterms:W3CDTF">2026-07-05T00:11:17Z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 Electronics Blueprint Generator","ContentProducer":"001191110108MACG2KBH8F10000","ProduceID":"19f1fc5b-f7c2-85c1-8000-0000741732db","ReservedCode1":"","ContentPropagator":"001191110108MACG2KBH8F20000","PropagateID":"19f1fc17-d362-825f-8000-09cb898f5d15","ReservedCode2":""}</vt:lpwstr>
  </property>
</Properties>
</file>